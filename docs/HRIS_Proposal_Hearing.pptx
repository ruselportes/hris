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1.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Rate multiplier</c:v>
                </c:pt>
              </c:strCache>
            </c:strRef>
          </c:tx>
          <c:spPr>
            <a:solidFill>
              <a:srgbClr val="F2A413"/>
            </a:solidFill>
            <a:effectLst/>
          </c:spPr>
          <c:invertIfNegative val="0"/>
          <c:dLbls>
            <c:numFmt formatCode="0.00&quot;x&quot;" sourceLinked="0"/>
            <c:txPr>
              <a:bodyPr/>
              <a:lstStyle/>
              <a:p>
                <a:pPr>
                  <a:defRPr b="0" i="0" strike="noStrike" sz="1000" u="none">
                    <a:solidFill>
                      <a:srgbClr val="16191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Regular</c:v>
                  </c:pt>
                  <c:pt idx="1">
                    <c:v>Night diff.</c:v>
                  </c:pt>
                  <c:pt idx="2">
                    <c:v>Overtime</c:v>
                  </c:pt>
                  <c:pt idx="3">
                    <c:v>Rest day</c:v>
                  </c:pt>
                  <c:pt idx="4">
                    <c:v>Holiday</c:v>
                  </c:pt>
                </c:lvl>
              </c:multiLvlStrCache>
            </c:multiLvlStrRef>
          </c:cat>
          <c:val>
            <c:numRef>
              <c:f>Sheet1!$B$2:$B$6</c:f>
              <c:numCache>
                <c:formatCode>General</c:formatCode>
                <c:ptCount val="5"/>
                <c:pt idx="0">
                  <c:v>1</c:v>
                </c:pt>
                <c:pt idx="1">
                  <c:v>1.1</c:v>
                </c:pt>
                <c:pt idx="2">
                  <c:v>1.25</c:v>
                </c:pt>
                <c:pt idx="3">
                  <c:v>1.3</c:v>
                </c:pt>
                <c:pt idx="4">
                  <c:v>2</c:v>
                </c:pt>
              </c:numCache>
            </c:numRef>
          </c:val>
        </c:ser>
        <c:dLbls>
          <c:numFmt formatCode="0.00&quot;x&quot;" sourceLinked="0"/>
          <c:txPr>
            <a:bodyPr/>
            <a:lstStyle/>
            <a:p>
              <a:pPr>
                <a:defRPr b="0" i="0" strike="noStrike" sz="1000" u="none">
                  <a:solidFill>
                    <a:srgbClr val="16191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A656F"/>
                </a:solidFill>
                <a:latin typeface="Calibri"/>
              </a:defRPr>
            </a:pPr>
            <a:endParaRPr lang="en-US"/>
          </a:p>
        </c:txPr>
        <c:crossAx val="2094734552"/>
        <c:crosses val="autoZero"/>
        <c:auto val="1"/>
        <c:lblAlgn val="ctr"/>
        <c:noMultiLvlLbl val="1"/>
      </c:catAx>
      <c:valAx>
        <c:axId val="2094734552"/>
        <c:scaling>
          <c:orientation val="minMax"/>
          <c:max val="2.4"/>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the Human Resource Information System for Arcenas Development Corporation, a construction company. In the next hour we will cover the problem, our objectives, the proposed solution, our methodology, the core features, and our timeline.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here. Title, client, users, type. Note the two-part delivery: a web portal for the office and a mobile app for the field. The mobile app is the part that has to work with no internet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left to right. The key point is the gap between step 1 and step 3: days can pass, and during that gap the record is a piece of paper nobody can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for the whole problem section, so keep this to about two. Do not read all six. Highlight 01, 02 and 06, which are the ones the rest of the system is built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on the last two points: no evidence in a dispute, and it gets worse as the company takes on more sites. That is the argument for doing this now rather than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Read the general objective once, slowly. Then name the six specific objectives without reading their descriptions.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right-hand stack while you talk. Stress that the arrow from the mobile app to the API only fires after signing, and that the API rejects anything whose chain or signature does not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important contrast is row 1 against the rest: the foreman's entire interaction is tapping a list on a phone. Everyone else works in a browser, on data the foreman produced.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modules. Do not read them all. Group them: one and two are the office setup, three through six are the field, seven through nine are what management gets out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the whole path with your finger: office, site, phone, back to server, payroll. Then say the line on the dark card. That is the sentence the workflow exists to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closes the problem loop. If the panel challenges any single problem later, come back here. Every row on the right becomes a core feature in section six.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a question on why not pure Agile. Answer: the capstone requires approved documents in sequence, but the crypto and payroll work genuinely needs iteration, so we split the model by phase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plainly that nothing here is exotic or paid. The only unusual item is the hardware security chip, and every Android phone from version 10 onward already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budget line usually draws a question. The honest answer is that the cryptography runs on hardware the phones already have, so there is no security vendor to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Sixteen minutes for ten features is roughly ninety seconds each, with the prototype walkthrough taking the remaining nine. Announce that split here so the panel knows you are pacing deliberately, then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panel is most likely to probe. The one-line version: layer one proves when, layer two proves what. Neither can be undone by editing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three proves which device. Layer four is the gate: nothing becomes payable attendance until the server has re-derived it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stacking, for example overtime worked on a holiday: the engine applies the premiums in the order the Labor Code specifies, and the payroll detail line shows the derivation for each worker.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minutes for the prototype walkthrough. Say up front that these are real HTML prototypes you can click through, then move to the screens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on the left screen is RBAC: one sign-in, five different portals behind it. On the right, that certification expiry is a filter rather than a note buried in a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Core Feature 01 in interface form. The warning about an already-assigned foreman is worth pointing at: it is where crew assignment and the absent-foreman feature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on the middle screen. That three-button row is the entire data-entry surface of the system for a foreman. Everything cryptographic happens behind it with no UI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 binding is the screen that makes layer 3 of the crypto engine real. Note that the foreman never sees the word key, certificate or signature anywhere in the app. On the acting-foreman screen: it is an early draft that still lists certified crew workers as candidates. The rule the backend actually enforces is Site Foremen only, because only a foreman has the app and a bound device. If the panel reads the screen closely and asks, say that directly and say the screen will be revised to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blocked rows on the payroll screen are the whole argument of this project in one detail: payroll will not release over attendance that did not 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screens quantify the exposure rather than just listing records. That framing is deliberate: it is what turns an audit log into something management will actually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two overlaps rather than reading eighteen weeks aloud. If asked what happens if crypto slips: testing in weeks 14 to 16 absorbs a one-week slip, beyond that documentation week 15 to 17 is the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milestones, one per phase. The two the panel will care about are week 14, the crypto engine, and week 16, the test cases, because those are where the claims in this proposal get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This is the slide you leave on screen while the panel deliberates on questions. Say the ask out loud at the end; do not let it sit only on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here for questions. If a question needs a diagram, the workflow slide and the two integrity-layer slides are the ones to jump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1.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2960" y="960120"/>
            <a:ext cx="7498080" cy="274320"/>
          </a:xfrm>
          <a:prstGeom prst="rect">
            <a:avLst/>
          </a:prstGeom>
          <a:noFill/>
          <a:ln/>
        </p:spPr>
        <p:txBody>
          <a:bodyPr wrap="square" lIns="0" tIns="0" rIns="0" bIns="0" rtlCol="0" anchor="ctr"/>
          <a:lstStyle/>
          <a:p>
            <a:pPr indent="0" marL="0">
              <a:buNone/>
            </a:pPr>
            <a:r>
              <a:rPr lang="en-US" sz="1150" b="1" spc="150" kern="0" dirty="0">
                <a:solidFill>
                  <a:srgbClr val="F2A413"/>
                </a:solidFill>
                <a:latin typeface="Calibri" pitchFamily="34" charset="0"/>
                <a:ea typeface="Calibri" pitchFamily="34" charset="-122"/>
                <a:cs typeface="Calibri" pitchFamily="34" charset="-120"/>
              </a:rPr>
              <a:t>CAPSTONE PROJECT PROPOSAL  ·  PROPOSAL HEARING</a:t>
            </a:r>
            <a:endParaRPr lang="en-US" sz="1150" dirty="0"/>
          </a:p>
        </p:txBody>
      </p:sp>
      <p:sp>
        <p:nvSpPr>
          <p:cNvPr id="3" name="Text 1"/>
          <p:cNvSpPr txBox="1"/>
          <p:nvPr/>
        </p:nvSpPr>
        <p:spPr>
          <a:xfrm>
            <a:off x="822960" y="1371600"/>
            <a:ext cx="7498080" cy="1691640"/>
          </a:xfrm>
          <a:prstGeom prst="rect">
            <a:avLst/>
          </a:prstGeom>
          <a:noFill/>
          <a:ln/>
        </p:spPr>
        <p:txBody>
          <a:bodyPr wrap="square" lIns="0" tIns="0" rIns="0" bIns="0" rtlCol="0" anchor="ctr"/>
          <a:lstStyle/>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Human Resource</a:t>
            </a:r>
            <a:endParaRPr lang="en-US" sz="4200" dirty="0"/>
          </a:p>
          <a:p>
            <a:pPr indent="0" marL="0">
              <a:lnSpc>
                <a:spcPct val="95000"/>
              </a:lnSpc>
              <a:buNone/>
            </a:pPr>
            <a:r>
              <a:rPr lang="en-US" sz="4200" b="1" dirty="0">
                <a:solidFill>
                  <a:srgbClr val="FFFFFF"/>
                </a:solidFill>
                <a:latin typeface="Cambria" pitchFamily="34" charset="0"/>
                <a:ea typeface="Cambria" pitchFamily="34" charset="-122"/>
                <a:cs typeface="Cambria" pitchFamily="34" charset="-120"/>
              </a:rPr>
              <a:t>Information System</a:t>
            </a:r>
            <a:endParaRPr lang="en-US" sz="4200" dirty="0"/>
          </a:p>
        </p:txBody>
      </p:sp>
      <p:sp>
        <p:nvSpPr>
          <p:cNvPr id="4" name="Text 2"/>
          <p:cNvSpPr txBox="1"/>
          <p:nvPr/>
        </p:nvSpPr>
        <p:spPr>
          <a:xfrm>
            <a:off x="822960" y="3154680"/>
            <a:ext cx="7223760" cy="658368"/>
          </a:xfrm>
          <a:prstGeom prst="rect">
            <a:avLst/>
          </a:prstGeom>
          <a:noFill/>
          <a:ln/>
        </p:spPr>
        <p:txBody>
          <a:bodyPr wrap="square" lIns="0" tIns="0" rIns="0" bIns="0" rtlCol="0" anchor="ctr"/>
          <a:lstStyle/>
          <a:p>
            <a:pPr indent="0" marL="0">
              <a:lnSpc>
                <a:spcPct val="110000"/>
              </a:lnSpc>
              <a:buNone/>
            </a:pPr>
            <a:r>
              <a:rPr lang="en-US" sz="1550" dirty="0">
                <a:solidFill>
                  <a:srgbClr val="8A949D"/>
                </a:solidFill>
                <a:latin typeface="Calibri" pitchFamily="34" charset="0"/>
                <a:ea typeface="Calibri" pitchFamily="34" charset="-122"/>
                <a:cs typeface="Calibri" pitchFamily="34" charset="-120"/>
              </a:rPr>
              <a:t>An offline-capable, tamper-evident attendance and payroll system for construction field operations</a:t>
            </a:r>
            <a:endParaRPr lang="en-US" sz="1550" dirty="0"/>
          </a:p>
        </p:txBody>
      </p:sp>
      <p:sp>
        <p:nvSpPr>
          <p:cNvPr id="5" name="Text 3"/>
          <p:cNvSpPr txBox="1"/>
          <p:nvPr/>
        </p:nvSpPr>
        <p:spPr>
          <a:xfrm>
            <a:off x="822960" y="3931920"/>
            <a:ext cx="7223760" cy="329184"/>
          </a:xfrm>
          <a:prstGeom prst="rect">
            <a:avLst/>
          </a:prstGeom>
          <a:noFill/>
          <a:ln/>
        </p:spPr>
        <p:txBody>
          <a:bodyPr wrap="square" lIns="0" tIns="0" rIns="0" bIns="0" rtlCol="0" anchor="ctr"/>
          <a:lstStyle/>
          <a:p>
            <a:pPr indent="0" marL="0">
              <a:buNone/>
            </a:pPr>
            <a:r>
              <a:rPr lang="en-US" sz="1500" b="1" dirty="0">
                <a:solidFill>
                  <a:srgbClr val="F2A413"/>
                </a:solidFill>
                <a:latin typeface="Calibri" pitchFamily="34" charset="0"/>
                <a:ea typeface="Calibri" pitchFamily="34" charset="-122"/>
                <a:cs typeface="Calibri" pitchFamily="34" charset="-120"/>
              </a:rPr>
              <a:t>for Arcenas Development Corporation</a:t>
            </a:r>
            <a:endParaRPr lang="en-US" sz="1500" dirty="0"/>
          </a:p>
        </p:txBody>
      </p:sp>
      <p:sp>
        <p:nvSpPr>
          <p:cNvPr id="6" name="Text 4"/>
          <p:cNvSpPr txBox="1"/>
          <p:nvPr/>
        </p:nvSpPr>
        <p:spPr>
          <a:xfrm>
            <a:off x="822960" y="4800600"/>
            <a:ext cx="3657600" cy="219456"/>
          </a:xfrm>
          <a:prstGeom prst="rect">
            <a:avLst/>
          </a:prstGeom>
          <a:noFill/>
          <a:ln/>
        </p:spPr>
        <p:txBody>
          <a:bodyPr wrap="square" lIns="0" tIns="0" rIns="0" bIns="0" rtlCol="0" anchor="ctr"/>
          <a:lstStyle/>
          <a:p>
            <a:pPr indent="0" marL="0">
              <a:buNone/>
            </a:pPr>
            <a:r>
              <a:rPr lang="en-US" sz="1050" b="1" spc="120" kern="0" dirty="0">
                <a:solidFill>
                  <a:srgbClr val="8A949D"/>
                </a:solidFill>
                <a:latin typeface="Calibri" pitchFamily="34" charset="0"/>
                <a:ea typeface="Calibri" pitchFamily="34" charset="-122"/>
                <a:cs typeface="Calibri" pitchFamily="34" charset="-120"/>
              </a:rPr>
              <a:t>PRESENTED BY</a:t>
            </a:r>
            <a:endParaRPr lang="en-US" sz="1050" dirty="0"/>
          </a:p>
        </p:txBody>
      </p:sp>
      <p:sp>
        <p:nvSpPr>
          <p:cNvPr id="7" name="Text 5"/>
          <p:cNvSpPr txBox="1"/>
          <p:nvPr/>
        </p:nvSpPr>
        <p:spPr>
          <a:xfrm>
            <a:off x="822960" y="5074920"/>
            <a:ext cx="7223760" cy="640080"/>
          </a:xfrm>
          <a:prstGeom prst="rect">
            <a:avLst/>
          </a:prstGeom>
          <a:noFill/>
          <a:ln/>
        </p:spPr>
        <p:txBody>
          <a:bodyPr wrap="square" lIns="0" tIns="0" rIns="0" bIns="0" rtlCol="0" anchor="ctr"/>
          <a:lstStyle/>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Jay Mark A. Reños  ·  Liza Mae C. Sugala  ·  Rusel R. Portes</a:t>
            </a:r>
            <a:endParaRPr lang="en-US" sz="1250" dirty="0"/>
          </a:p>
          <a:p>
            <a:pPr indent="0" marL="0">
              <a:lnSpc>
                <a:spcPct val="120000"/>
              </a:lnSpc>
              <a:buNone/>
            </a:pPr>
            <a:r>
              <a:rPr lang="en-US" sz="1250" dirty="0">
                <a:solidFill>
                  <a:srgbClr val="FFFFFF"/>
                </a:solidFill>
                <a:latin typeface="Calibri" pitchFamily="34" charset="0"/>
                <a:ea typeface="Calibri" pitchFamily="34" charset="-122"/>
                <a:cs typeface="Calibri" pitchFamily="34" charset="-120"/>
              </a:rPr>
              <a:t>Efren S. Cabudbud Jr.  ·  CarlVey Sente  ·  Rayla G. Lanaza</a:t>
            </a:r>
            <a:endParaRPr lang="en-US" sz="1250" dirty="0"/>
          </a:p>
        </p:txBody>
      </p:sp>
      <p:sp>
        <p:nvSpPr>
          <p:cNvPr id="8" name="Text 6"/>
          <p:cNvSpPr txBox="1"/>
          <p:nvPr/>
        </p:nvSpPr>
        <p:spPr>
          <a:xfrm>
            <a:off x="822960" y="5806440"/>
            <a:ext cx="7223760" cy="274320"/>
          </a:xfrm>
          <a:prstGeom prst="rect">
            <a:avLst/>
          </a:prstGeom>
          <a:noFill/>
          <a:ln/>
        </p:spPr>
        <p:txBody>
          <a:bodyPr wrap="square" lIns="0" tIns="0" rIns="0" bIns="0" rtlCol="0" anchor="ctr"/>
          <a:lstStyle/>
          <a:p>
            <a:pPr indent="0" marL="0">
              <a:buNone/>
            </a:pPr>
            <a:r>
              <a:rPr lang="en-US" sz="1100" dirty="0">
                <a:solidFill>
                  <a:srgbClr val="8A949D"/>
                </a:solidFill>
                <a:latin typeface="Calibri" pitchFamily="34" charset="0"/>
                <a:ea typeface="Calibri" pitchFamily="34" charset="-122"/>
                <a:cs typeface="Calibri" pitchFamily="34" charset="-120"/>
              </a:rPr>
              <a:t>Title Reviewer / Adviser:  Engr. Clark Kevin V. Villamor</a:t>
            </a:r>
            <a:endParaRPr lang="en-US" sz="1100" dirty="0"/>
          </a:p>
        </p:txBody>
      </p:sp>
      <p:sp>
        <p:nvSpPr>
          <p:cNvPr id="9" name="Shape 7"/>
          <p:cNvSpPr/>
          <p:nvPr/>
        </p:nvSpPr>
        <p:spPr>
          <a:xfrm>
            <a:off x="8503920" y="1783080"/>
            <a:ext cx="2697480" cy="914400"/>
          </a:xfrm>
          <a:prstGeom prst="roundRect">
            <a:avLst>
              <a:gd name="adj" fmla="val 7000"/>
            </a:avLst>
          </a:prstGeom>
          <a:solidFill>
            <a:srgbClr val="2A3138"/>
          </a:solidFill>
          <a:ln/>
        </p:spPr>
      </p:sp>
      <p:sp>
        <p:nvSpPr>
          <p:cNvPr id="10" name="Text 8"/>
          <p:cNvSpPr txBox="1"/>
          <p:nvPr/>
        </p:nvSpPr>
        <p:spPr>
          <a:xfrm>
            <a:off x="8705088" y="1929384"/>
            <a:ext cx="2286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WEB PORTAL</a:t>
            </a:r>
            <a:endParaRPr lang="en-US" sz="1300" dirty="0"/>
          </a:p>
        </p:txBody>
      </p:sp>
      <p:sp>
        <p:nvSpPr>
          <p:cNvPr id="11" name="Text 9"/>
          <p:cNvSpPr txBox="1"/>
          <p:nvPr/>
        </p:nvSpPr>
        <p:spPr>
          <a:xfrm>
            <a:off x="8705088" y="2240280"/>
            <a:ext cx="2331720" cy="365760"/>
          </a:xfrm>
          <a:prstGeom prst="rect">
            <a:avLst/>
          </a:prstGeom>
          <a:noFill/>
          <a:ln/>
        </p:spPr>
        <p:txBody>
          <a:bodyPr wrap="square" lIns="0" tIns="0" rIns="0" bIns="0" rtlCol="0" anchor="ctr"/>
          <a:lstStyle/>
          <a:p>
            <a:pPr indent="0" marL="0">
              <a:buNone/>
            </a:pPr>
            <a:r>
              <a:rPr lang="en-US" sz="950" dirty="0">
                <a:solidFill>
                  <a:srgbClr val="8A949D"/>
                </a:solidFill>
                <a:latin typeface="Calibri" pitchFamily="34" charset="0"/>
                <a:ea typeface="Calibri" pitchFamily="34" charset="-122"/>
                <a:cs typeface="Calibri" pitchFamily="34" charset="-120"/>
              </a:rPr>
              <a:t>React.js · HR, Engineers, Executives</a:t>
            </a:r>
            <a:endParaRPr lang="en-US" sz="950" dirty="0"/>
          </a:p>
        </p:txBody>
      </p:sp>
      <p:sp>
        <p:nvSpPr>
          <p:cNvPr id="12" name="Shape 10"/>
          <p:cNvSpPr/>
          <p:nvPr/>
        </p:nvSpPr>
        <p:spPr>
          <a:xfrm>
            <a:off x="8686800" y="2880360"/>
            <a:ext cx="2697480" cy="914400"/>
          </a:xfrm>
          <a:prstGeom prst="roundRect">
            <a:avLst>
              <a:gd name="adj" fmla="val 7000"/>
            </a:avLst>
          </a:prstGeom>
          <a:solidFill>
            <a:srgbClr val="F2A413"/>
          </a:solidFill>
          <a:ln/>
        </p:spPr>
      </p:sp>
      <p:sp>
        <p:nvSpPr>
          <p:cNvPr id="13" name="Text 11"/>
          <p:cNvSpPr txBox="1"/>
          <p:nvPr/>
        </p:nvSpPr>
        <p:spPr>
          <a:xfrm>
            <a:off x="8887968" y="3026664"/>
            <a:ext cx="2286000" cy="274320"/>
          </a:xfrm>
          <a:prstGeom prst="rect">
            <a:avLst/>
          </a:prstGeom>
          <a:noFill/>
          <a:ln/>
        </p:spPr>
        <p:txBody>
          <a:bodyPr wrap="square" lIns="0" tIns="0" rIns="0" bIns="0" rtlCol="0" anchor="ctr"/>
          <a:lstStyle/>
          <a:p>
            <a:pPr indent="0" marL="0">
              <a:buNone/>
            </a:pPr>
            <a:r>
              <a:rPr lang="en-US" sz="1300" b="1" dirty="0">
                <a:solidFill>
                  <a:srgbClr val="16191D"/>
                </a:solidFill>
                <a:latin typeface="Calibri" pitchFamily="34" charset="0"/>
                <a:ea typeface="Calibri" pitchFamily="34" charset="-122"/>
                <a:cs typeface="Calibri" pitchFamily="34" charset="-120"/>
              </a:rPr>
              <a:t>MOBILE APP</a:t>
            </a:r>
            <a:endParaRPr lang="en-US" sz="1300" dirty="0"/>
          </a:p>
        </p:txBody>
      </p:sp>
      <p:sp>
        <p:nvSpPr>
          <p:cNvPr id="14" name="Text 12"/>
          <p:cNvSpPr txBox="1"/>
          <p:nvPr/>
        </p:nvSpPr>
        <p:spPr>
          <a:xfrm>
            <a:off x="8887968" y="3337560"/>
            <a:ext cx="2331720" cy="365760"/>
          </a:xfrm>
          <a:prstGeom prst="rect">
            <a:avLst/>
          </a:prstGeom>
          <a:noFill/>
          <a:ln/>
        </p:spPr>
        <p:txBody>
          <a:bodyPr wrap="square" lIns="0" tIns="0" rIns="0" bIns="0" rtlCol="0" anchor="ctr"/>
          <a:lstStyle/>
          <a:p>
            <a:pPr indent="0" marL="0">
              <a:buNone/>
            </a:pPr>
            <a:r>
              <a:rPr lang="en-US" sz="950" dirty="0">
                <a:solidFill>
                  <a:srgbClr val="9C6A08"/>
                </a:solidFill>
                <a:latin typeface="Calibri" pitchFamily="34" charset="0"/>
                <a:ea typeface="Calibri" pitchFamily="34" charset="-122"/>
                <a:cs typeface="Calibri" pitchFamily="34" charset="-120"/>
              </a:rPr>
              <a:t>React Native · Foremen, offline</a:t>
            </a:r>
            <a:endParaRPr lang="en-US" sz="950" dirty="0"/>
          </a:p>
        </p:txBody>
      </p:sp>
      <p:sp>
        <p:nvSpPr>
          <p:cNvPr id="15" name="Shape 13"/>
          <p:cNvSpPr/>
          <p:nvPr/>
        </p:nvSpPr>
        <p:spPr>
          <a:xfrm>
            <a:off x="8869680" y="3977640"/>
            <a:ext cx="2697480" cy="914400"/>
          </a:xfrm>
          <a:prstGeom prst="roundRect">
            <a:avLst>
              <a:gd name="adj" fmla="val 7000"/>
            </a:avLst>
          </a:prstGeom>
          <a:solidFill>
            <a:srgbClr val="2A3138"/>
          </a:solidFill>
          <a:ln/>
        </p:spPr>
      </p:sp>
      <p:sp>
        <p:nvSpPr>
          <p:cNvPr id="16" name="Text 14"/>
          <p:cNvSpPr txBox="1"/>
          <p:nvPr/>
        </p:nvSpPr>
        <p:spPr>
          <a:xfrm>
            <a:off x="9070848" y="4123944"/>
            <a:ext cx="2286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CRYPTO ENGINE</a:t>
            </a:r>
            <a:endParaRPr lang="en-US" sz="1300" dirty="0"/>
          </a:p>
        </p:txBody>
      </p:sp>
      <p:sp>
        <p:nvSpPr>
          <p:cNvPr id="17" name="Text 15"/>
          <p:cNvSpPr txBox="1"/>
          <p:nvPr/>
        </p:nvSpPr>
        <p:spPr>
          <a:xfrm>
            <a:off x="9070848" y="4434840"/>
            <a:ext cx="2331720" cy="365760"/>
          </a:xfrm>
          <a:prstGeom prst="rect">
            <a:avLst/>
          </a:prstGeom>
          <a:noFill/>
          <a:ln/>
        </p:spPr>
        <p:txBody>
          <a:bodyPr wrap="square" lIns="0" tIns="0" rIns="0" bIns="0" rtlCol="0" anchor="ctr"/>
          <a:lstStyle/>
          <a:p>
            <a:pPr indent="0" marL="0">
              <a:buNone/>
            </a:pPr>
            <a:r>
              <a:rPr lang="en-US" sz="950" dirty="0">
                <a:solidFill>
                  <a:srgbClr val="8A949D"/>
                </a:solidFill>
                <a:latin typeface="Calibri" pitchFamily="34" charset="0"/>
                <a:ea typeface="Calibri" pitchFamily="34" charset="-122"/>
                <a:cs typeface="Calibri" pitchFamily="34" charset="-120"/>
              </a:rPr>
              <a:t>HMAC chain · TEE signing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SECTION 1 · PROJECT TITLE</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Project at a Glance</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02</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Jay Mark A. Reños  ·  Project Manager</a:t>
            </a:r>
            <a:endParaRPr lang="en-US" sz="900" dirty="0"/>
          </a:p>
        </p:txBody>
      </p:sp>
      <p:sp>
        <p:nvSpPr>
          <p:cNvPr id="6" name="Shape 4"/>
          <p:cNvSpPr/>
          <p:nvPr/>
        </p:nvSpPr>
        <p:spPr>
          <a:xfrm>
            <a:off x="548640" y="1417320"/>
            <a:ext cx="5364328" cy="2148840"/>
          </a:xfrm>
          <a:prstGeom prst="roundRect">
            <a:avLst>
              <a:gd name="adj" fmla="val 2553"/>
            </a:avLst>
          </a:prstGeom>
          <a:solidFill>
            <a:srgbClr val="FFFFFF"/>
          </a:solidFill>
          <a:ln w="12700">
            <a:solidFill>
              <a:srgbClr val="DCD7D0"/>
            </a:solidFill>
            <a:prstDash val="solid"/>
          </a:ln>
        </p:spPr>
      </p:sp>
      <p:sp>
        <p:nvSpPr>
          <p:cNvPr id="7" name="Shape 5"/>
          <p:cNvSpPr/>
          <p:nvPr/>
        </p:nvSpPr>
        <p:spPr>
          <a:xfrm>
            <a:off x="822960" y="1709928"/>
            <a:ext cx="420624" cy="420624"/>
          </a:xfrm>
          <a:prstGeom prst="ellipse">
            <a:avLst/>
          </a:prstGeom>
          <a:solidFill>
            <a:srgbClr val="F2A413"/>
          </a:solidFill>
          <a:ln/>
        </p:spPr>
      </p:sp>
      <p:sp>
        <p:nvSpPr>
          <p:cNvPr id="8" name="Text 6"/>
          <p:cNvSpPr txBox="1"/>
          <p:nvPr/>
        </p:nvSpPr>
        <p:spPr>
          <a:xfrm>
            <a:off x="822960" y="1709928"/>
            <a:ext cx="420624" cy="420624"/>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01</a:t>
            </a:r>
            <a:endParaRPr lang="en-US" sz="1200" dirty="0"/>
          </a:p>
        </p:txBody>
      </p:sp>
      <p:sp>
        <p:nvSpPr>
          <p:cNvPr id="9" name="Text 7"/>
          <p:cNvSpPr txBox="1"/>
          <p:nvPr/>
        </p:nvSpPr>
        <p:spPr>
          <a:xfrm>
            <a:off x="1417320" y="1746504"/>
            <a:ext cx="422132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PROJECT TITLE</a:t>
            </a:r>
            <a:endParaRPr lang="en-US" sz="1050" dirty="0"/>
          </a:p>
        </p:txBody>
      </p:sp>
      <p:sp>
        <p:nvSpPr>
          <p:cNvPr id="10" name="Text 8"/>
          <p:cNvSpPr txBox="1"/>
          <p:nvPr/>
        </p:nvSpPr>
        <p:spPr>
          <a:xfrm>
            <a:off x="1417320" y="2020824"/>
            <a:ext cx="4221328" cy="566928"/>
          </a:xfrm>
          <a:prstGeom prst="rect">
            <a:avLst/>
          </a:prstGeom>
          <a:noFill/>
          <a:ln/>
        </p:spPr>
        <p:txBody>
          <a:bodyPr wrap="square" lIns="0" tIns="0" rIns="0" bIns="0" rtlCol="0" anchor="t"/>
          <a:lstStyle/>
          <a:p>
            <a:pPr indent="0" marL="0">
              <a:buNone/>
            </a:pPr>
            <a:r>
              <a:rPr lang="en-US" sz="1500" b="1" dirty="0">
                <a:solidFill>
                  <a:srgbClr val="16191D"/>
                </a:solidFill>
                <a:latin typeface="Calibri" pitchFamily="34" charset="0"/>
                <a:ea typeface="Calibri" pitchFamily="34" charset="-122"/>
                <a:cs typeface="Calibri" pitchFamily="34" charset="-120"/>
              </a:rPr>
              <a:t>Human Resource Information System (HRIS) for Arcenas Development Corporation</a:t>
            </a:r>
            <a:endParaRPr lang="en-US" sz="1500" dirty="0"/>
          </a:p>
        </p:txBody>
      </p:sp>
      <p:sp>
        <p:nvSpPr>
          <p:cNvPr id="11" name="Text 9"/>
          <p:cNvSpPr txBox="1"/>
          <p:nvPr/>
        </p:nvSpPr>
        <p:spPr>
          <a:xfrm>
            <a:off x="822960" y="2743200"/>
            <a:ext cx="4815688" cy="685800"/>
          </a:xfrm>
          <a:prstGeom prst="rect">
            <a:avLst/>
          </a:prstGeom>
          <a:noFill/>
          <a:ln/>
        </p:spPr>
        <p:txBody>
          <a:bodyPr wrap="square" lIns="0" tIns="0" rIns="0" bIns="0" rtlCol="0" anchor="t"/>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A centralized HR and payroll platform built around offline, tamper-evident construction site attendance.</a:t>
            </a:r>
            <a:endParaRPr lang="en-US" sz="1150" dirty="0"/>
          </a:p>
        </p:txBody>
      </p:sp>
      <p:sp>
        <p:nvSpPr>
          <p:cNvPr id="12" name="Shape 10"/>
          <p:cNvSpPr/>
          <p:nvPr/>
        </p:nvSpPr>
        <p:spPr>
          <a:xfrm>
            <a:off x="6278728" y="1417320"/>
            <a:ext cx="5364328" cy="2148840"/>
          </a:xfrm>
          <a:prstGeom prst="roundRect">
            <a:avLst>
              <a:gd name="adj" fmla="val 2553"/>
            </a:avLst>
          </a:prstGeom>
          <a:solidFill>
            <a:srgbClr val="FFFFFF"/>
          </a:solidFill>
          <a:ln w="12700">
            <a:solidFill>
              <a:srgbClr val="DCD7D0"/>
            </a:solidFill>
            <a:prstDash val="solid"/>
          </a:ln>
        </p:spPr>
      </p:sp>
      <p:sp>
        <p:nvSpPr>
          <p:cNvPr id="13" name="Shape 11"/>
          <p:cNvSpPr/>
          <p:nvPr/>
        </p:nvSpPr>
        <p:spPr>
          <a:xfrm>
            <a:off x="6553048" y="1709928"/>
            <a:ext cx="420624" cy="420624"/>
          </a:xfrm>
          <a:prstGeom prst="ellipse">
            <a:avLst/>
          </a:prstGeom>
          <a:solidFill>
            <a:srgbClr val="F2A413"/>
          </a:solidFill>
          <a:ln/>
        </p:spPr>
      </p:sp>
      <p:sp>
        <p:nvSpPr>
          <p:cNvPr id="14" name="Text 12"/>
          <p:cNvSpPr txBox="1"/>
          <p:nvPr/>
        </p:nvSpPr>
        <p:spPr>
          <a:xfrm>
            <a:off x="6553048" y="1709928"/>
            <a:ext cx="420624" cy="420624"/>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02</a:t>
            </a:r>
            <a:endParaRPr lang="en-US" sz="1200" dirty="0"/>
          </a:p>
        </p:txBody>
      </p:sp>
      <p:sp>
        <p:nvSpPr>
          <p:cNvPr id="15" name="Text 13"/>
          <p:cNvSpPr txBox="1"/>
          <p:nvPr/>
        </p:nvSpPr>
        <p:spPr>
          <a:xfrm>
            <a:off x="7147408" y="1746504"/>
            <a:ext cx="422132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CLIENT</a:t>
            </a:r>
            <a:endParaRPr lang="en-US" sz="1050" dirty="0"/>
          </a:p>
        </p:txBody>
      </p:sp>
      <p:sp>
        <p:nvSpPr>
          <p:cNvPr id="16" name="Text 14"/>
          <p:cNvSpPr txBox="1"/>
          <p:nvPr/>
        </p:nvSpPr>
        <p:spPr>
          <a:xfrm>
            <a:off x="7147408" y="2020824"/>
            <a:ext cx="4221328" cy="566928"/>
          </a:xfrm>
          <a:prstGeom prst="rect">
            <a:avLst/>
          </a:prstGeom>
          <a:noFill/>
          <a:ln/>
        </p:spPr>
        <p:txBody>
          <a:bodyPr wrap="square" lIns="0" tIns="0" rIns="0" bIns="0" rtlCol="0" anchor="t"/>
          <a:lstStyle/>
          <a:p>
            <a:pPr indent="0" marL="0">
              <a:buNone/>
            </a:pPr>
            <a:r>
              <a:rPr lang="en-US" sz="1500" b="1" dirty="0">
                <a:solidFill>
                  <a:srgbClr val="16191D"/>
                </a:solidFill>
                <a:latin typeface="Calibri" pitchFamily="34" charset="0"/>
                <a:ea typeface="Calibri" pitchFamily="34" charset="-122"/>
                <a:cs typeface="Calibri" pitchFamily="34" charset="-120"/>
              </a:rPr>
              <a:t>Arcenas Development Corporation</a:t>
            </a:r>
            <a:endParaRPr lang="en-US" sz="1500" dirty="0"/>
          </a:p>
        </p:txBody>
      </p:sp>
      <p:sp>
        <p:nvSpPr>
          <p:cNvPr id="17" name="Text 15"/>
          <p:cNvSpPr txBox="1"/>
          <p:nvPr/>
        </p:nvSpPr>
        <p:spPr>
          <a:xfrm>
            <a:off x="6553048" y="2743200"/>
            <a:ext cx="4815688" cy="685800"/>
          </a:xfrm>
          <a:prstGeom prst="rect">
            <a:avLst/>
          </a:prstGeom>
          <a:noFill/>
          <a:ln/>
        </p:spPr>
        <p:txBody>
          <a:bodyPr wrap="square" lIns="0" tIns="0" rIns="0" bIns="0" rtlCol="0" anchor="t"/>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A construction firm running multiple active project sites, several of them outside cellular coverage.</a:t>
            </a:r>
            <a:endParaRPr lang="en-US" sz="1150" dirty="0"/>
          </a:p>
        </p:txBody>
      </p:sp>
      <p:sp>
        <p:nvSpPr>
          <p:cNvPr id="18" name="Shape 16"/>
          <p:cNvSpPr/>
          <p:nvPr/>
        </p:nvSpPr>
        <p:spPr>
          <a:xfrm>
            <a:off x="548640" y="3886200"/>
            <a:ext cx="5364328" cy="2148840"/>
          </a:xfrm>
          <a:prstGeom prst="roundRect">
            <a:avLst>
              <a:gd name="adj" fmla="val 2553"/>
            </a:avLst>
          </a:prstGeom>
          <a:solidFill>
            <a:srgbClr val="FFFFFF"/>
          </a:solidFill>
          <a:ln w="12700">
            <a:solidFill>
              <a:srgbClr val="DCD7D0"/>
            </a:solidFill>
            <a:prstDash val="solid"/>
          </a:ln>
        </p:spPr>
      </p:sp>
      <p:sp>
        <p:nvSpPr>
          <p:cNvPr id="19" name="Shape 17"/>
          <p:cNvSpPr/>
          <p:nvPr/>
        </p:nvSpPr>
        <p:spPr>
          <a:xfrm>
            <a:off x="822960" y="4178808"/>
            <a:ext cx="420624" cy="420624"/>
          </a:xfrm>
          <a:prstGeom prst="ellipse">
            <a:avLst/>
          </a:prstGeom>
          <a:solidFill>
            <a:srgbClr val="F2A413"/>
          </a:solidFill>
          <a:ln/>
        </p:spPr>
      </p:sp>
      <p:sp>
        <p:nvSpPr>
          <p:cNvPr id="20" name="Text 18"/>
          <p:cNvSpPr txBox="1"/>
          <p:nvPr/>
        </p:nvSpPr>
        <p:spPr>
          <a:xfrm>
            <a:off x="822960" y="4178808"/>
            <a:ext cx="420624" cy="420624"/>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03</a:t>
            </a:r>
            <a:endParaRPr lang="en-US" sz="1200" dirty="0"/>
          </a:p>
        </p:txBody>
      </p:sp>
      <p:sp>
        <p:nvSpPr>
          <p:cNvPr id="21" name="Text 19"/>
          <p:cNvSpPr txBox="1"/>
          <p:nvPr/>
        </p:nvSpPr>
        <p:spPr>
          <a:xfrm>
            <a:off x="1417320" y="4215384"/>
            <a:ext cx="422132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TARGET USERS</a:t>
            </a:r>
            <a:endParaRPr lang="en-US" sz="1050" dirty="0"/>
          </a:p>
        </p:txBody>
      </p:sp>
      <p:sp>
        <p:nvSpPr>
          <p:cNvPr id="22" name="Text 20"/>
          <p:cNvSpPr txBox="1"/>
          <p:nvPr/>
        </p:nvSpPr>
        <p:spPr>
          <a:xfrm>
            <a:off x="1417320" y="4489704"/>
            <a:ext cx="4221328" cy="566928"/>
          </a:xfrm>
          <a:prstGeom prst="rect">
            <a:avLst/>
          </a:prstGeom>
          <a:noFill/>
          <a:ln/>
        </p:spPr>
        <p:txBody>
          <a:bodyPr wrap="square" lIns="0" tIns="0" rIns="0" bIns="0" rtlCol="0" anchor="t"/>
          <a:lstStyle/>
          <a:p>
            <a:pPr indent="0" marL="0">
              <a:buNone/>
            </a:pPr>
            <a:r>
              <a:rPr lang="en-US" sz="1500" b="1" dirty="0">
                <a:solidFill>
                  <a:srgbClr val="16191D"/>
                </a:solidFill>
                <a:latin typeface="Calibri" pitchFamily="34" charset="0"/>
                <a:ea typeface="Calibri" pitchFamily="34" charset="-122"/>
                <a:cs typeface="Calibri" pitchFamily="34" charset="-120"/>
              </a:rPr>
              <a:t>Seven defined roles, five with system access</a:t>
            </a:r>
            <a:endParaRPr lang="en-US" sz="1500" dirty="0"/>
          </a:p>
        </p:txBody>
      </p:sp>
      <p:sp>
        <p:nvSpPr>
          <p:cNvPr id="23" name="Text 21"/>
          <p:cNvSpPr txBox="1"/>
          <p:nvPr/>
        </p:nvSpPr>
        <p:spPr>
          <a:xfrm>
            <a:off x="822960" y="5212080"/>
            <a:ext cx="4815688" cy="685800"/>
          </a:xfrm>
          <a:prstGeom prst="rect">
            <a:avLst/>
          </a:prstGeom>
          <a:noFill/>
          <a:ln/>
        </p:spPr>
        <p:txBody>
          <a:bodyPr wrap="square" lIns="0" tIns="0" rIns="0" bIns="0" rtlCol="0" anchor="t"/>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HR Personnel, Site Foremen, Site Engineers / Construction Managers, System Administrator and Executives. Workers and Operators are record-only classifications.</a:t>
            </a:r>
            <a:endParaRPr lang="en-US" sz="1150" dirty="0"/>
          </a:p>
        </p:txBody>
      </p:sp>
      <p:sp>
        <p:nvSpPr>
          <p:cNvPr id="24" name="Shape 22"/>
          <p:cNvSpPr/>
          <p:nvPr/>
        </p:nvSpPr>
        <p:spPr>
          <a:xfrm>
            <a:off x="6278728" y="3886200"/>
            <a:ext cx="5364328" cy="2148840"/>
          </a:xfrm>
          <a:prstGeom prst="roundRect">
            <a:avLst>
              <a:gd name="adj" fmla="val 2553"/>
            </a:avLst>
          </a:prstGeom>
          <a:solidFill>
            <a:srgbClr val="FFFFFF"/>
          </a:solidFill>
          <a:ln w="12700">
            <a:solidFill>
              <a:srgbClr val="DCD7D0"/>
            </a:solidFill>
            <a:prstDash val="solid"/>
          </a:ln>
        </p:spPr>
      </p:sp>
      <p:sp>
        <p:nvSpPr>
          <p:cNvPr id="25" name="Shape 23"/>
          <p:cNvSpPr/>
          <p:nvPr/>
        </p:nvSpPr>
        <p:spPr>
          <a:xfrm>
            <a:off x="6553048" y="4178808"/>
            <a:ext cx="420624" cy="420624"/>
          </a:xfrm>
          <a:prstGeom prst="ellipse">
            <a:avLst/>
          </a:prstGeom>
          <a:solidFill>
            <a:srgbClr val="F2A413"/>
          </a:solidFill>
          <a:ln/>
        </p:spPr>
      </p:sp>
      <p:sp>
        <p:nvSpPr>
          <p:cNvPr id="26" name="Text 24"/>
          <p:cNvSpPr txBox="1"/>
          <p:nvPr/>
        </p:nvSpPr>
        <p:spPr>
          <a:xfrm>
            <a:off x="6553048" y="4178808"/>
            <a:ext cx="420624" cy="420624"/>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04</a:t>
            </a:r>
            <a:endParaRPr lang="en-US" sz="1200" dirty="0"/>
          </a:p>
        </p:txBody>
      </p:sp>
      <p:sp>
        <p:nvSpPr>
          <p:cNvPr id="27" name="Text 25"/>
          <p:cNvSpPr txBox="1"/>
          <p:nvPr/>
        </p:nvSpPr>
        <p:spPr>
          <a:xfrm>
            <a:off x="7147408" y="4215384"/>
            <a:ext cx="422132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PROJECT TYPE</a:t>
            </a:r>
            <a:endParaRPr lang="en-US" sz="1050" dirty="0"/>
          </a:p>
        </p:txBody>
      </p:sp>
      <p:sp>
        <p:nvSpPr>
          <p:cNvPr id="28" name="Text 26"/>
          <p:cNvSpPr txBox="1"/>
          <p:nvPr/>
        </p:nvSpPr>
        <p:spPr>
          <a:xfrm>
            <a:off x="7147408" y="4489704"/>
            <a:ext cx="4221328" cy="566928"/>
          </a:xfrm>
          <a:prstGeom prst="rect">
            <a:avLst/>
          </a:prstGeom>
          <a:noFill/>
          <a:ln/>
        </p:spPr>
        <p:txBody>
          <a:bodyPr wrap="square" lIns="0" tIns="0" rIns="0" bIns="0" rtlCol="0" anchor="t"/>
          <a:lstStyle/>
          <a:p>
            <a:pPr indent="0" marL="0">
              <a:buNone/>
            </a:pPr>
            <a:r>
              <a:rPr lang="en-US" sz="1500" b="1" dirty="0">
                <a:solidFill>
                  <a:srgbClr val="16191D"/>
                </a:solidFill>
                <a:latin typeface="Calibri" pitchFamily="34" charset="0"/>
                <a:ea typeface="Calibri" pitchFamily="34" charset="-122"/>
                <a:cs typeface="Calibri" pitchFamily="34" charset="-120"/>
              </a:rPr>
              <a:t>Web-based Information System with a companion mobile application</a:t>
            </a:r>
            <a:endParaRPr lang="en-US" sz="1500" dirty="0"/>
          </a:p>
        </p:txBody>
      </p:sp>
      <p:sp>
        <p:nvSpPr>
          <p:cNvPr id="29" name="Text 27"/>
          <p:cNvSpPr txBox="1"/>
          <p:nvPr/>
        </p:nvSpPr>
        <p:spPr>
          <a:xfrm>
            <a:off x="6553048" y="5212080"/>
            <a:ext cx="4815688" cy="685800"/>
          </a:xfrm>
          <a:prstGeom prst="rect">
            <a:avLst/>
          </a:prstGeom>
          <a:noFill/>
          <a:ln/>
        </p:spPr>
        <p:txBody>
          <a:bodyPr wrap="square" lIns="0" tIns="0" rIns="0" bIns="0" rtlCol="0" anchor="t"/>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A React.js web portal on a Laravel API, paired with an offline-capable Android app (iOS secondary) for field use.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59775" y="914400"/>
            <a:ext cx="3383280" cy="3108960"/>
          </a:xfrm>
          <a:prstGeom prst="rect">
            <a:avLst/>
          </a:prstGeom>
          <a:noFill/>
          <a:ln/>
        </p:spPr>
        <p:txBody>
          <a:bodyPr wrap="square" lIns="0" tIns="0" rIns="0" bIns="0" rtlCol="0" anchor="ctr"/>
          <a:lstStyle/>
          <a:p>
            <a:pPr algn="r" indent="0" marL="0">
              <a:buNone/>
            </a:pPr>
            <a:r>
              <a:rPr lang="en-US" sz="16000" b="1" dirty="0">
                <a:solidFill>
                  <a:srgbClr val="2A3138"/>
                </a:solidFill>
                <a:latin typeface="Cambria" pitchFamily="34" charset="0"/>
                <a:ea typeface="Cambria" pitchFamily="34" charset="-122"/>
                <a:cs typeface="Cambria" pitchFamily="34" charset="-120"/>
              </a:rPr>
              <a:t>02</a:t>
            </a:r>
            <a:endParaRPr lang="en-US" sz="16000" dirty="0"/>
          </a:p>
        </p:txBody>
      </p:sp>
      <p:sp>
        <p:nvSpPr>
          <p:cNvPr id="3" name="Text 1"/>
          <p:cNvSpPr txBox="1"/>
          <p:nvPr/>
        </p:nvSpPr>
        <p:spPr>
          <a:xfrm>
            <a:off x="822960" y="2240280"/>
            <a:ext cx="6949440" cy="274320"/>
          </a:xfrm>
          <a:prstGeom prst="rect">
            <a:avLst/>
          </a:prstGeom>
          <a:noFill/>
          <a:ln/>
        </p:spPr>
        <p:txBody>
          <a:bodyPr wrap="square" lIns="0" tIns="0" rIns="0" bIns="0" rtlCol="0" anchor="ctr"/>
          <a:lstStyle/>
          <a:p>
            <a:pPr indent="0" marL="0">
              <a:buNone/>
            </a:pPr>
            <a:r>
              <a:rPr lang="en-US" sz="1200" b="1" spc="160" kern="0" dirty="0">
                <a:solidFill>
                  <a:srgbClr val="F2A413"/>
                </a:solidFill>
                <a:latin typeface="Calibri" pitchFamily="34" charset="0"/>
                <a:ea typeface="Calibri" pitchFamily="34" charset="-122"/>
                <a:cs typeface="Calibri" pitchFamily="34" charset="-120"/>
              </a:rPr>
              <a:t>SECTION 2</a:t>
            </a:r>
            <a:endParaRPr lang="en-US" sz="1200" dirty="0"/>
          </a:p>
        </p:txBody>
      </p:sp>
      <p:sp>
        <p:nvSpPr>
          <p:cNvPr id="4" name="Text 2"/>
          <p:cNvSpPr txBox="1"/>
          <p:nvPr/>
        </p:nvSpPr>
        <p:spPr>
          <a:xfrm>
            <a:off x="822960" y="2487168"/>
            <a:ext cx="7315200" cy="138988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Statement of the Problem</a:t>
            </a:r>
            <a:endParaRPr lang="en-US" sz="4000" dirty="0"/>
          </a:p>
        </p:txBody>
      </p:sp>
      <p:sp>
        <p:nvSpPr>
          <p:cNvPr id="5" name="Text 3"/>
          <p:cNvSpPr txBox="1"/>
          <p:nvPr/>
        </p:nvSpPr>
        <p:spPr>
          <a:xfrm>
            <a:off x="822960" y="3968496"/>
            <a:ext cx="6766560" cy="777240"/>
          </a:xfrm>
          <a:prstGeom prst="rect">
            <a:avLst/>
          </a:prstGeom>
          <a:noFill/>
          <a:ln/>
        </p:spPr>
        <p:txBody>
          <a:bodyPr wrap="square" lIns="0" tIns="0" rIns="0" bIns="0" rtlCol="0" anchor="ctr"/>
          <a:lstStyle/>
          <a:p>
            <a:pPr indent="0" marL="0">
              <a:buNone/>
            </a:pPr>
            <a:r>
              <a:rPr lang="en-US" sz="1500" dirty="0">
                <a:solidFill>
                  <a:srgbClr val="8A949D"/>
                </a:solidFill>
                <a:latin typeface="Calibri" pitchFamily="34" charset="0"/>
                <a:ea typeface="Calibri" pitchFamily="34" charset="-122"/>
                <a:cs typeface="Calibri" pitchFamily="34" charset="-120"/>
              </a:rPr>
              <a:t>What attendance and payroll look like today at Arcenas Development Corporation, and why the current process does not hold up.</a:t>
            </a:r>
            <a:endParaRPr lang="en-US" sz="1500" dirty="0"/>
          </a:p>
        </p:txBody>
      </p:sp>
      <p:sp>
        <p:nvSpPr>
          <p:cNvPr id="6" name="Shape 4"/>
          <p:cNvSpPr/>
          <p:nvPr/>
        </p:nvSpPr>
        <p:spPr>
          <a:xfrm>
            <a:off x="822960" y="4956048"/>
            <a:ext cx="310896" cy="310896"/>
          </a:xfrm>
          <a:prstGeom prst="ellipse">
            <a:avLst/>
          </a:prstGeom>
          <a:solidFill>
            <a:srgbClr val="F2A413"/>
          </a:solidFill>
          <a:ln/>
        </p:spPr>
      </p:sp>
      <p:sp>
        <p:nvSpPr>
          <p:cNvPr id="7" name="Text 5"/>
          <p:cNvSpPr txBox="1"/>
          <p:nvPr/>
        </p:nvSpPr>
        <p:spPr>
          <a:xfrm>
            <a:off x="1261872" y="4965192"/>
            <a:ext cx="6400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minutes</a:t>
            </a:r>
            <a:endParaRPr lang="en-US" sz="1300" dirty="0"/>
          </a:p>
        </p:txBody>
      </p:sp>
      <p:sp>
        <p:nvSpPr>
          <p:cNvPr id="8" name="Text 6"/>
          <p:cNvSpPr txBox="1"/>
          <p:nvPr/>
        </p:nvSpPr>
        <p:spPr>
          <a:xfrm>
            <a:off x="822960" y="5486400"/>
            <a:ext cx="1828800" cy="237744"/>
          </a:xfrm>
          <a:prstGeom prst="rect">
            <a:avLst/>
          </a:prstGeom>
          <a:noFill/>
          <a:ln/>
        </p:spPr>
        <p:txBody>
          <a:bodyPr wrap="square" lIns="0" tIns="0" rIns="0" bIns="0" rtlCol="0" anchor="ctr"/>
          <a:lstStyle/>
          <a:p>
            <a:pPr indent="0" marL="0">
              <a:buNone/>
            </a:pPr>
            <a:r>
              <a:rPr lang="en-US" sz="1000" b="1" spc="120" kern="0" dirty="0">
                <a:solidFill>
                  <a:srgbClr val="8A949D"/>
                </a:solidFill>
                <a:latin typeface="Calibri" pitchFamily="34" charset="0"/>
                <a:ea typeface="Calibri" pitchFamily="34" charset="-122"/>
                <a:cs typeface="Calibri" pitchFamily="34" charset="-120"/>
              </a:rPr>
              <a:t>Presented by</a:t>
            </a:r>
            <a:endParaRPr lang="en-US" sz="1000" dirty="0"/>
          </a:p>
        </p:txBody>
      </p:sp>
      <p:sp>
        <p:nvSpPr>
          <p:cNvPr id="9" name="Text 7"/>
          <p:cNvSpPr txBox="1"/>
          <p:nvPr/>
        </p:nvSpPr>
        <p:spPr>
          <a:xfrm>
            <a:off x="822960" y="5742432"/>
            <a:ext cx="6766560" cy="292608"/>
          </a:xfrm>
          <a:prstGeom prst="rect">
            <a:avLst/>
          </a:prstGeom>
          <a:noFill/>
          <a:ln/>
        </p:spPr>
        <p:txBody>
          <a:bodyPr wrap="square" lIns="0" tIns="0" rIns="0" bIns="0" rtlCol="0" anchor="ctr"/>
          <a:lstStyle/>
          <a:p>
            <a:pPr indent="0" marL="0">
              <a:buNone/>
            </a:pPr>
            <a:r>
              <a:rPr lang="en-US" sz="1400" b="1" dirty="0">
                <a:solidFill>
                  <a:srgbClr val="F2A413"/>
                </a:solidFill>
                <a:latin typeface="Calibri" pitchFamily="34" charset="0"/>
                <a:ea typeface="Calibri" pitchFamily="34" charset="-122"/>
                <a:cs typeface="Calibri" pitchFamily="34" charset="-120"/>
              </a:rPr>
              <a:t>Liza Mae C. Sugala  —  Systems Analyst</a:t>
            </a:r>
            <a:endParaRPr lang="en-US" sz="1400" dirty="0"/>
          </a:p>
        </p:txBody>
      </p:sp>
      <p:sp>
        <p:nvSpPr>
          <p:cNvPr id="10" name="Text 8"/>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03</a:t>
            </a:r>
            <a:endParaRPr lang="en-US" sz="900" dirty="0"/>
          </a:p>
        </p:txBody>
      </p:sp>
      <p:sp>
        <p:nvSpPr>
          <p:cNvPr id="11" name="Text 9"/>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STATEMENT OF THE PROBLEM</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The Current Process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04</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Text 4"/>
          <p:cNvSpPr txBox="1"/>
          <p:nvPr/>
        </p:nvSpPr>
        <p:spPr>
          <a:xfrm>
            <a:off x="548640" y="1280160"/>
            <a:ext cx="11094415" cy="310896"/>
          </a:xfrm>
          <a:prstGeom prst="rect">
            <a:avLst/>
          </a:prstGeom>
          <a:noFill/>
          <a:ln/>
        </p:spPr>
        <p:txBody>
          <a:bodyPr wrap="square" lIns="0" tIns="0" rIns="0" bIns="0" rtlCol="0" anchor="t"/>
          <a:lstStyle/>
          <a:p>
            <a:pPr algn="l" indent="0" marL="0">
              <a:lnSpc>
                <a:spcPct val="108000"/>
              </a:lnSpc>
              <a:buNone/>
            </a:pPr>
            <a:r>
              <a:rPr lang="en-US" sz="1350" dirty="0">
                <a:solidFill>
                  <a:srgbClr val="2A3138"/>
                </a:solidFill>
                <a:latin typeface="Calibri" pitchFamily="34" charset="0"/>
                <a:ea typeface="Calibri" pitchFamily="34" charset="-122"/>
                <a:cs typeface="Calibri" pitchFamily="34" charset="-120"/>
              </a:rPr>
              <a:t>Attendance today is captured on paper at the site and re-encoded in the office days later.</a:t>
            </a:r>
            <a:endParaRPr lang="en-US" sz="1350" dirty="0"/>
          </a:p>
        </p:txBody>
      </p:sp>
      <p:sp>
        <p:nvSpPr>
          <p:cNvPr id="7" name="Shape 5"/>
          <p:cNvSpPr/>
          <p:nvPr/>
        </p:nvSpPr>
        <p:spPr>
          <a:xfrm>
            <a:off x="548640" y="1828800"/>
            <a:ext cx="2057400" cy="1737360"/>
          </a:xfrm>
          <a:prstGeom prst="roundRect">
            <a:avLst>
              <a:gd name="adj" fmla="val 3158"/>
            </a:avLst>
          </a:prstGeom>
          <a:solidFill>
            <a:srgbClr val="FFFFFF"/>
          </a:solidFill>
          <a:ln w="12700">
            <a:solidFill>
              <a:srgbClr val="DCD7D0"/>
            </a:solidFill>
            <a:prstDash val="solid"/>
          </a:ln>
        </p:spPr>
      </p:sp>
      <p:sp>
        <p:nvSpPr>
          <p:cNvPr id="8" name="Shape 6"/>
          <p:cNvSpPr/>
          <p:nvPr/>
        </p:nvSpPr>
        <p:spPr>
          <a:xfrm>
            <a:off x="749808" y="2029968"/>
            <a:ext cx="365760" cy="365760"/>
          </a:xfrm>
          <a:prstGeom prst="ellipse">
            <a:avLst/>
          </a:prstGeom>
          <a:solidFill>
            <a:srgbClr val="F2A413"/>
          </a:solidFill>
          <a:ln/>
        </p:spPr>
      </p:sp>
      <p:sp>
        <p:nvSpPr>
          <p:cNvPr id="9" name="Text 7"/>
          <p:cNvSpPr txBox="1"/>
          <p:nvPr/>
        </p:nvSpPr>
        <p:spPr>
          <a:xfrm>
            <a:off x="749808" y="202996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749808" y="2505456"/>
            <a:ext cx="1655064"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Paper roll call</a:t>
            </a:r>
            <a:endParaRPr lang="en-US" sz="1300" dirty="0"/>
          </a:p>
        </p:txBody>
      </p:sp>
      <p:sp>
        <p:nvSpPr>
          <p:cNvPr id="11" name="Text 9"/>
          <p:cNvSpPr txBox="1"/>
          <p:nvPr/>
        </p:nvSpPr>
        <p:spPr>
          <a:xfrm>
            <a:off x="749808" y="2816352"/>
            <a:ext cx="1655064" cy="640080"/>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The foreman writes crew attendance on a sheet at the site.</a:t>
            </a:r>
            <a:endParaRPr lang="en-US" sz="1000" dirty="0"/>
          </a:p>
        </p:txBody>
      </p:sp>
      <p:sp>
        <p:nvSpPr>
          <p:cNvPr id="12" name="Shape 10"/>
          <p:cNvSpPr/>
          <p:nvPr/>
        </p:nvSpPr>
        <p:spPr>
          <a:xfrm>
            <a:off x="2642616" y="2697480"/>
            <a:ext cx="128016" cy="0"/>
          </a:xfrm>
          <a:prstGeom prst="line">
            <a:avLst/>
          </a:prstGeom>
          <a:noFill/>
          <a:ln w="25400">
            <a:solidFill>
              <a:srgbClr val="F2A413"/>
            </a:solidFill>
            <a:prstDash val="solid"/>
            <a:tailEnd type="triangle"/>
          </a:ln>
        </p:spPr>
      </p:sp>
      <p:sp>
        <p:nvSpPr>
          <p:cNvPr id="13" name="Shape 11"/>
          <p:cNvSpPr/>
          <p:nvPr/>
        </p:nvSpPr>
        <p:spPr>
          <a:xfrm>
            <a:off x="2807208" y="1828800"/>
            <a:ext cx="2057400" cy="1737360"/>
          </a:xfrm>
          <a:prstGeom prst="roundRect">
            <a:avLst>
              <a:gd name="adj" fmla="val 3158"/>
            </a:avLst>
          </a:prstGeom>
          <a:solidFill>
            <a:srgbClr val="FFFFFF"/>
          </a:solidFill>
          <a:ln w="12700">
            <a:solidFill>
              <a:srgbClr val="DCD7D0"/>
            </a:solidFill>
            <a:prstDash val="solid"/>
          </a:ln>
        </p:spPr>
      </p:sp>
      <p:sp>
        <p:nvSpPr>
          <p:cNvPr id="14" name="Shape 12"/>
          <p:cNvSpPr/>
          <p:nvPr/>
        </p:nvSpPr>
        <p:spPr>
          <a:xfrm>
            <a:off x="3008376" y="2029968"/>
            <a:ext cx="365760" cy="365760"/>
          </a:xfrm>
          <a:prstGeom prst="ellipse">
            <a:avLst/>
          </a:prstGeom>
          <a:solidFill>
            <a:srgbClr val="F2A413"/>
          </a:solidFill>
          <a:ln/>
        </p:spPr>
      </p:sp>
      <p:sp>
        <p:nvSpPr>
          <p:cNvPr id="15" name="Text 13"/>
          <p:cNvSpPr txBox="1"/>
          <p:nvPr/>
        </p:nvSpPr>
        <p:spPr>
          <a:xfrm>
            <a:off x="3008376" y="202996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3008376" y="2505456"/>
            <a:ext cx="1655064"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Sheet travels</a:t>
            </a:r>
            <a:endParaRPr lang="en-US" sz="1300" dirty="0"/>
          </a:p>
        </p:txBody>
      </p:sp>
      <p:sp>
        <p:nvSpPr>
          <p:cNvPr id="17" name="Text 15"/>
          <p:cNvSpPr txBox="1"/>
          <p:nvPr/>
        </p:nvSpPr>
        <p:spPr>
          <a:xfrm>
            <a:off x="3008376" y="2816352"/>
            <a:ext cx="1655064" cy="640080"/>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Sheets are hand-carried to the office at end of day or end of week.</a:t>
            </a:r>
            <a:endParaRPr lang="en-US" sz="1000" dirty="0"/>
          </a:p>
        </p:txBody>
      </p:sp>
      <p:sp>
        <p:nvSpPr>
          <p:cNvPr id="18" name="Shape 16"/>
          <p:cNvSpPr/>
          <p:nvPr/>
        </p:nvSpPr>
        <p:spPr>
          <a:xfrm>
            <a:off x="4901184" y="2697480"/>
            <a:ext cx="128016" cy="0"/>
          </a:xfrm>
          <a:prstGeom prst="line">
            <a:avLst/>
          </a:prstGeom>
          <a:noFill/>
          <a:ln w="25400">
            <a:solidFill>
              <a:srgbClr val="F2A413"/>
            </a:solidFill>
            <a:prstDash val="solid"/>
            <a:tailEnd type="triangle"/>
          </a:ln>
        </p:spPr>
      </p:sp>
      <p:sp>
        <p:nvSpPr>
          <p:cNvPr id="19" name="Shape 17"/>
          <p:cNvSpPr/>
          <p:nvPr/>
        </p:nvSpPr>
        <p:spPr>
          <a:xfrm>
            <a:off x="5065776" y="1828800"/>
            <a:ext cx="2057400" cy="1737360"/>
          </a:xfrm>
          <a:prstGeom prst="roundRect">
            <a:avLst>
              <a:gd name="adj" fmla="val 3158"/>
            </a:avLst>
          </a:prstGeom>
          <a:solidFill>
            <a:srgbClr val="FFFFFF"/>
          </a:solidFill>
          <a:ln w="12700">
            <a:solidFill>
              <a:srgbClr val="DCD7D0"/>
            </a:solidFill>
            <a:prstDash val="solid"/>
          </a:ln>
        </p:spPr>
      </p:sp>
      <p:sp>
        <p:nvSpPr>
          <p:cNvPr id="20" name="Shape 18"/>
          <p:cNvSpPr/>
          <p:nvPr/>
        </p:nvSpPr>
        <p:spPr>
          <a:xfrm>
            <a:off x="5266944" y="2029968"/>
            <a:ext cx="365760" cy="365760"/>
          </a:xfrm>
          <a:prstGeom prst="ellipse">
            <a:avLst/>
          </a:prstGeom>
          <a:solidFill>
            <a:srgbClr val="F2A413"/>
          </a:solidFill>
          <a:ln/>
        </p:spPr>
      </p:sp>
      <p:sp>
        <p:nvSpPr>
          <p:cNvPr id="21" name="Text 19"/>
          <p:cNvSpPr txBox="1"/>
          <p:nvPr/>
        </p:nvSpPr>
        <p:spPr>
          <a:xfrm>
            <a:off x="5266944" y="202996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3</a:t>
            </a:r>
            <a:endParaRPr lang="en-US" sz="1200" dirty="0"/>
          </a:p>
        </p:txBody>
      </p:sp>
      <p:sp>
        <p:nvSpPr>
          <p:cNvPr id="22" name="Text 20"/>
          <p:cNvSpPr txBox="1"/>
          <p:nvPr/>
        </p:nvSpPr>
        <p:spPr>
          <a:xfrm>
            <a:off x="5266944" y="2505456"/>
            <a:ext cx="1655064"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Re-encoding</a:t>
            </a:r>
            <a:endParaRPr lang="en-US" sz="1300" dirty="0"/>
          </a:p>
        </p:txBody>
      </p:sp>
      <p:sp>
        <p:nvSpPr>
          <p:cNvPr id="23" name="Text 21"/>
          <p:cNvSpPr txBox="1"/>
          <p:nvPr/>
        </p:nvSpPr>
        <p:spPr>
          <a:xfrm>
            <a:off x="5266944" y="2816352"/>
            <a:ext cx="1655064" cy="640080"/>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HR keys the same records a second time into a spreadsheet.</a:t>
            </a:r>
            <a:endParaRPr lang="en-US" sz="1000" dirty="0"/>
          </a:p>
        </p:txBody>
      </p:sp>
      <p:sp>
        <p:nvSpPr>
          <p:cNvPr id="24" name="Shape 22"/>
          <p:cNvSpPr/>
          <p:nvPr/>
        </p:nvSpPr>
        <p:spPr>
          <a:xfrm>
            <a:off x="7159752" y="2697480"/>
            <a:ext cx="128016" cy="0"/>
          </a:xfrm>
          <a:prstGeom prst="line">
            <a:avLst/>
          </a:prstGeom>
          <a:noFill/>
          <a:ln w="25400">
            <a:solidFill>
              <a:srgbClr val="F2A413"/>
            </a:solidFill>
            <a:prstDash val="solid"/>
            <a:tailEnd type="triangle"/>
          </a:ln>
        </p:spPr>
      </p:sp>
      <p:sp>
        <p:nvSpPr>
          <p:cNvPr id="25" name="Shape 23"/>
          <p:cNvSpPr/>
          <p:nvPr/>
        </p:nvSpPr>
        <p:spPr>
          <a:xfrm>
            <a:off x="7324344" y="1828800"/>
            <a:ext cx="2057400" cy="1737360"/>
          </a:xfrm>
          <a:prstGeom prst="roundRect">
            <a:avLst>
              <a:gd name="adj" fmla="val 3158"/>
            </a:avLst>
          </a:prstGeom>
          <a:solidFill>
            <a:srgbClr val="FFFFFF"/>
          </a:solidFill>
          <a:ln w="12700">
            <a:solidFill>
              <a:srgbClr val="DCD7D0"/>
            </a:solidFill>
            <a:prstDash val="solid"/>
          </a:ln>
        </p:spPr>
      </p:sp>
      <p:sp>
        <p:nvSpPr>
          <p:cNvPr id="26" name="Shape 24"/>
          <p:cNvSpPr/>
          <p:nvPr/>
        </p:nvSpPr>
        <p:spPr>
          <a:xfrm>
            <a:off x="7525512" y="2029968"/>
            <a:ext cx="365760" cy="365760"/>
          </a:xfrm>
          <a:prstGeom prst="ellipse">
            <a:avLst/>
          </a:prstGeom>
          <a:solidFill>
            <a:srgbClr val="F2A413"/>
          </a:solidFill>
          <a:ln/>
        </p:spPr>
      </p:sp>
      <p:sp>
        <p:nvSpPr>
          <p:cNvPr id="27" name="Text 25"/>
          <p:cNvSpPr txBox="1"/>
          <p:nvPr/>
        </p:nvSpPr>
        <p:spPr>
          <a:xfrm>
            <a:off x="7525512" y="202996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4</a:t>
            </a:r>
            <a:endParaRPr lang="en-US" sz="1200" dirty="0"/>
          </a:p>
        </p:txBody>
      </p:sp>
      <p:sp>
        <p:nvSpPr>
          <p:cNvPr id="28" name="Text 26"/>
          <p:cNvSpPr txBox="1"/>
          <p:nvPr/>
        </p:nvSpPr>
        <p:spPr>
          <a:xfrm>
            <a:off x="7525512" y="2505456"/>
            <a:ext cx="1655064"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Manual payroll</a:t>
            </a:r>
            <a:endParaRPr lang="en-US" sz="1300" dirty="0"/>
          </a:p>
        </p:txBody>
      </p:sp>
      <p:sp>
        <p:nvSpPr>
          <p:cNvPr id="29" name="Text 27"/>
          <p:cNvSpPr txBox="1"/>
          <p:nvPr/>
        </p:nvSpPr>
        <p:spPr>
          <a:xfrm>
            <a:off x="7525512" y="2816352"/>
            <a:ext cx="1655064" cy="640080"/>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Overtime, night, rest day and holiday pay computed by hand.</a:t>
            </a:r>
            <a:endParaRPr lang="en-US" sz="1000" dirty="0"/>
          </a:p>
        </p:txBody>
      </p:sp>
      <p:sp>
        <p:nvSpPr>
          <p:cNvPr id="30" name="Shape 28"/>
          <p:cNvSpPr/>
          <p:nvPr/>
        </p:nvSpPr>
        <p:spPr>
          <a:xfrm>
            <a:off x="9418320" y="2697480"/>
            <a:ext cx="128016" cy="0"/>
          </a:xfrm>
          <a:prstGeom prst="line">
            <a:avLst/>
          </a:prstGeom>
          <a:noFill/>
          <a:ln w="25400">
            <a:solidFill>
              <a:srgbClr val="F2A413"/>
            </a:solidFill>
            <a:prstDash val="solid"/>
            <a:tailEnd type="triangle"/>
          </a:ln>
        </p:spPr>
      </p:sp>
      <p:sp>
        <p:nvSpPr>
          <p:cNvPr id="31" name="Shape 29"/>
          <p:cNvSpPr/>
          <p:nvPr/>
        </p:nvSpPr>
        <p:spPr>
          <a:xfrm>
            <a:off x="9582912" y="1828800"/>
            <a:ext cx="2057400" cy="1737360"/>
          </a:xfrm>
          <a:prstGeom prst="roundRect">
            <a:avLst>
              <a:gd name="adj" fmla="val 3158"/>
            </a:avLst>
          </a:prstGeom>
          <a:solidFill>
            <a:srgbClr val="FFFFFF"/>
          </a:solidFill>
          <a:ln w="12700">
            <a:solidFill>
              <a:srgbClr val="DCD7D0"/>
            </a:solidFill>
            <a:prstDash val="solid"/>
          </a:ln>
        </p:spPr>
      </p:sp>
      <p:sp>
        <p:nvSpPr>
          <p:cNvPr id="32" name="Shape 30"/>
          <p:cNvSpPr/>
          <p:nvPr/>
        </p:nvSpPr>
        <p:spPr>
          <a:xfrm>
            <a:off x="9784080" y="2029968"/>
            <a:ext cx="365760" cy="365760"/>
          </a:xfrm>
          <a:prstGeom prst="ellipse">
            <a:avLst/>
          </a:prstGeom>
          <a:solidFill>
            <a:srgbClr val="F2A413"/>
          </a:solidFill>
          <a:ln/>
        </p:spPr>
      </p:sp>
      <p:sp>
        <p:nvSpPr>
          <p:cNvPr id="33" name="Text 31"/>
          <p:cNvSpPr txBox="1"/>
          <p:nvPr/>
        </p:nvSpPr>
        <p:spPr>
          <a:xfrm>
            <a:off x="9784080" y="202996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5</a:t>
            </a:r>
            <a:endParaRPr lang="en-US" sz="1200" dirty="0"/>
          </a:p>
        </p:txBody>
      </p:sp>
      <p:sp>
        <p:nvSpPr>
          <p:cNvPr id="34" name="Text 32"/>
          <p:cNvSpPr txBox="1"/>
          <p:nvPr/>
        </p:nvSpPr>
        <p:spPr>
          <a:xfrm>
            <a:off x="9784080" y="2505456"/>
            <a:ext cx="1655064"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Payslip release</a:t>
            </a:r>
            <a:endParaRPr lang="en-US" sz="1300" dirty="0"/>
          </a:p>
        </p:txBody>
      </p:sp>
      <p:sp>
        <p:nvSpPr>
          <p:cNvPr id="35" name="Text 33"/>
          <p:cNvSpPr txBox="1"/>
          <p:nvPr/>
        </p:nvSpPr>
        <p:spPr>
          <a:xfrm>
            <a:off x="9784080" y="2816352"/>
            <a:ext cx="1655064" cy="640080"/>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Corrections and disputes are settled after the fact, from memory.</a:t>
            </a:r>
            <a:endParaRPr lang="en-US" sz="1000" dirty="0"/>
          </a:p>
        </p:txBody>
      </p:sp>
      <p:sp>
        <p:nvSpPr>
          <p:cNvPr id="36" name="Shape 34"/>
          <p:cNvSpPr/>
          <p:nvPr/>
        </p:nvSpPr>
        <p:spPr>
          <a:xfrm>
            <a:off x="548640" y="3950208"/>
            <a:ext cx="11094415" cy="2029968"/>
          </a:xfrm>
          <a:prstGeom prst="roundRect">
            <a:avLst>
              <a:gd name="adj" fmla="val 2703"/>
            </a:avLst>
          </a:prstGeom>
          <a:solidFill>
            <a:srgbClr val="FFFFFF"/>
          </a:solidFill>
          <a:ln w="12700">
            <a:solidFill>
              <a:srgbClr val="DCD7D0"/>
            </a:solidFill>
            <a:prstDash val="solid"/>
          </a:ln>
        </p:spPr>
      </p:sp>
      <p:sp>
        <p:nvSpPr>
          <p:cNvPr id="37" name="Text 35"/>
          <p:cNvSpPr txBox="1"/>
          <p:nvPr/>
        </p:nvSpPr>
        <p:spPr>
          <a:xfrm>
            <a:off x="868680" y="4187952"/>
            <a:ext cx="548640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THIS PROCESS QUIETLY ASSUMES</a:t>
            </a:r>
            <a:endParaRPr lang="en-US" sz="1050" dirty="0"/>
          </a:p>
        </p:txBody>
      </p:sp>
      <p:sp>
        <p:nvSpPr>
          <p:cNvPr id="38" name="Text 36"/>
          <p:cNvSpPr txBox="1"/>
          <p:nvPr/>
        </p:nvSpPr>
        <p:spPr>
          <a:xfrm>
            <a:off x="868680" y="4507992"/>
            <a:ext cx="10454335" cy="132588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50" dirty="0">
                <a:solidFill>
                  <a:srgbClr val="5A656F"/>
                </a:solidFill>
                <a:latin typeface="Calibri" pitchFamily="34" charset="0"/>
                <a:ea typeface="Calibri" pitchFamily="34" charset="-122"/>
                <a:cs typeface="Calibri" pitchFamily="34" charset="-120"/>
              </a:rPr>
              <a:t>That the handwritten time on the sheet is the time the record was actually made. Nothing proves it.</a:t>
            </a:r>
            <a:endParaRPr lang="en-US" sz="1250" dirty="0"/>
          </a:p>
          <a:p>
            <a:pPr marL="342900" indent="-342900">
              <a:lnSpc>
                <a:spcPct val="105000"/>
              </a:lnSpc>
              <a:spcAft>
                <a:spcPts val="800"/>
              </a:spcAft>
              <a:buSzPct val="100000"/>
              <a:buChar char="▪"/>
            </a:pPr>
            <a:r>
              <a:rPr lang="en-US" sz="1250" dirty="0">
                <a:solidFill>
                  <a:srgbClr val="5A656F"/>
                </a:solidFill>
                <a:latin typeface="Calibri" pitchFamily="34" charset="0"/>
                <a:ea typeface="Calibri" pitchFamily="34" charset="-122"/>
                <a:cs typeface="Calibri" pitchFamily="34" charset="-120"/>
              </a:rPr>
              <a:t>That a sheet written at a remote site survives the trip to the office intact and unaltered.</a:t>
            </a:r>
            <a:endParaRPr lang="en-US" sz="1250" dirty="0"/>
          </a:p>
          <a:p>
            <a:pPr marL="342900" indent="-342900">
              <a:lnSpc>
                <a:spcPct val="105000"/>
              </a:lnSpc>
              <a:spcAft>
                <a:spcPts val="800"/>
              </a:spcAft>
              <a:buSzPct val="100000"/>
              <a:buChar char="▪"/>
            </a:pPr>
            <a:r>
              <a:rPr lang="en-US" sz="1250" dirty="0">
                <a:solidFill>
                  <a:srgbClr val="5A656F"/>
                </a:solidFill>
                <a:latin typeface="Calibri" pitchFamily="34" charset="0"/>
                <a:ea typeface="Calibri" pitchFamily="34" charset="-122"/>
                <a:cs typeface="Calibri" pitchFamily="34" charset="-120"/>
              </a:rPr>
              <a:t>That the foreman is present and on time every single shift, at every single site.</a:t>
            </a:r>
            <a:endParaRPr lang="en-US" sz="1250" dirty="0"/>
          </a:p>
          <a:p>
            <a:pPr marL="342900" indent="-342900">
              <a:lnSpc>
                <a:spcPct val="105000"/>
              </a:lnSpc>
              <a:spcAft>
                <a:spcPts val="800"/>
              </a:spcAft>
              <a:buSzPct val="100000"/>
              <a:buChar char="▪"/>
            </a:pPr>
            <a:r>
              <a:rPr lang="en-US" sz="1250" dirty="0">
                <a:solidFill>
                  <a:srgbClr val="5A656F"/>
                </a:solidFill>
                <a:latin typeface="Calibri" pitchFamily="34" charset="0"/>
                <a:ea typeface="Calibri" pitchFamily="34" charset="-122"/>
                <a:cs typeface="Calibri" pitchFamily="34" charset="-120"/>
              </a:rPr>
              <a:t>That HR has the hours to recompute Labor Code premium rates by hand, for every worker, every cutoff.</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STATEMENT OF THE PROBLEM</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Existing Problems and Limitations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05</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Shape 4"/>
          <p:cNvSpPr/>
          <p:nvPr/>
        </p:nvSpPr>
        <p:spPr>
          <a:xfrm>
            <a:off x="548640" y="1371600"/>
            <a:ext cx="3484778" cy="1874520"/>
          </a:xfrm>
          <a:prstGeom prst="roundRect">
            <a:avLst>
              <a:gd name="adj" fmla="val 2927"/>
            </a:avLst>
          </a:prstGeom>
          <a:solidFill>
            <a:srgbClr val="FFFFFF"/>
          </a:solidFill>
          <a:ln w="12700">
            <a:solidFill>
              <a:srgbClr val="DCD7D0"/>
            </a:solidFill>
            <a:prstDash val="solid"/>
          </a:ln>
        </p:spPr>
      </p:sp>
      <p:sp>
        <p:nvSpPr>
          <p:cNvPr id="7" name="Shape 5"/>
          <p:cNvSpPr/>
          <p:nvPr/>
        </p:nvSpPr>
        <p:spPr>
          <a:xfrm>
            <a:off x="804672" y="1627632"/>
            <a:ext cx="402336" cy="402336"/>
          </a:xfrm>
          <a:prstGeom prst="ellipse">
            <a:avLst/>
          </a:prstGeom>
          <a:solidFill>
            <a:srgbClr val="F8E6E4"/>
          </a:solidFill>
          <a:ln/>
        </p:spPr>
      </p:sp>
      <p:sp>
        <p:nvSpPr>
          <p:cNvPr id="8" name="Text 6"/>
          <p:cNvSpPr txBox="1"/>
          <p:nvPr/>
        </p:nvSpPr>
        <p:spPr>
          <a:xfrm>
            <a:off x="804672" y="1627632"/>
            <a:ext cx="402336" cy="402336"/>
          </a:xfrm>
          <a:prstGeom prst="rect">
            <a:avLst/>
          </a:prstGeom>
          <a:noFill/>
          <a:ln/>
        </p:spPr>
        <p:txBody>
          <a:bodyPr wrap="square" lIns="0" tIns="0" rIns="0" bIns="0" rtlCol="0" anchor="ctr"/>
          <a:lstStyle/>
          <a:p>
            <a:pPr algn="ctr" indent="0" marL="0">
              <a:buNone/>
            </a:pPr>
            <a:r>
              <a:rPr lang="en-US" sz="1100" b="1" dirty="0">
                <a:solidFill>
                  <a:srgbClr val="B8352B"/>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1335024" y="1691640"/>
            <a:ext cx="2433218" cy="32004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No signal at remote sites</a:t>
            </a:r>
            <a:endParaRPr lang="en-US" sz="1350" dirty="0"/>
          </a:p>
        </p:txBody>
      </p:sp>
      <p:sp>
        <p:nvSpPr>
          <p:cNvPr id="10" name="Text 8"/>
          <p:cNvSpPr txBox="1"/>
          <p:nvPr/>
        </p:nvSpPr>
        <p:spPr>
          <a:xfrm>
            <a:off x="804672" y="2212848"/>
            <a:ext cx="2972714" cy="86868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Several sites have no cellular or internet coverage, so nothing can be recorded or transmitted live.</a:t>
            </a:r>
            <a:endParaRPr lang="en-US" sz="1100" dirty="0"/>
          </a:p>
        </p:txBody>
      </p:sp>
      <p:sp>
        <p:nvSpPr>
          <p:cNvPr id="11" name="Shape 9"/>
          <p:cNvSpPr/>
          <p:nvPr/>
        </p:nvSpPr>
        <p:spPr>
          <a:xfrm>
            <a:off x="4353458" y="1371600"/>
            <a:ext cx="3484778" cy="1874520"/>
          </a:xfrm>
          <a:prstGeom prst="roundRect">
            <a:avLst>
              <a:gd name="adj" fmla="val 2927"/>
            </a:avLst>
          </a:prstGeom>
          <a:solidFill>
            <a:srgbClr val="FFFFFF"/>
          </a:solidFill>
          <a:ln w="12700">
            <a:solidFill>
              <a:srgbClr val="DCD7D0"/>
            </a:solidFill>
            <a:prstDash val="solid"/>
          </a:ln>
        </p:spPr>
      </p:sp>
      <p:sp>
        <p:nvSpPr>
          <p:cNvPr id="12" name="Shape 10"/>
          <p:cNvSpPr/>
          <p:nvPr/>
        </p:nvSpPr>
        <p:spPr>
          <a:xfrm>
            <a:off x="4609490" y="1627632"/>
            <a:ext cx="402336" cy="402336"/>
          </a:xfrm>
          <a:prstGeom prst="ellipse">
            <a:avLst/>
          </a:prstGeom>
          <a:solidFill>
            <a:srgbClr val="F8E6E4"/>
          </a:solidFill>
          <a:ln/>
        </p:spPr>
      </p:sp>
      <p:sp>
        <p:nvSpPr>
          <p:cNvPr id="13" name="Text 11"/>
          <p:cNvSpPr txBox="1"/>
          <p:nvPr/>
        </p:nvSpPr>
        <p:spPr>
          <a:xfrm>
            <a:off x="4609490" y="1627632"/>
            <a:ext cx="402336" cy="402336"/>
          </a:xfrm>
          <a:prstGeom prst="rect">
            <a:avLst/>
          </a:prstGeom>
          <a:noFill/>
          <a:ln/>
        </p:spPr>
        <p:txBody>
          <a:bodyPr wrap="square" lIns="0" tIns="0" rIns="0" bIns="0" rtlCol="0" anchor="ctr"/>
          <a:lstStyle/>
          <a:p>
            <a:pPr algn="ctr" indent="0" marL="0">
              <a:buNone/>
            </a:pPr>
            <a:r>
              <a:rPr lang="en-US" sz="1100" b="1" dirty="0">
                <a:solidFill>
                  <a:srgbClr val="B8352B"/>
                </a:solidFill>
                <a:latin typeface="Calibri" pitchFamily="34" charset="0"/>
                <a:ea typeface="Calibri" pitchFamily="34" charset="-122"/>
                <a:cs typeface="Calibri" pitchFamily="34" charset="-120"/>
              </a:rPr>
              <a:t>02</a:t>
            </a:r>
            <a:endParaRPr lang="en-US" sz="1100" dirty="0"/>
          </a:p>
        </p:txBody>
      </p:sp>
      <p:sp>
        <p:nvSpPr>
          <p:cNvPr id="14" name="Text 12"/>
          <p:cNvSpPr txBox="1"/>
          <p:nvPr/>
        </p:nvSpPr>
        <p:spPr>
          <a:xfrm>
            <a:off x="5139842" y="1691640"/>
            <a:ext cx="2433218" cy="32004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Timestamps can be altered</a:t>
            </a:r>
            <a:endParaRPr lang="en-US" sz="1350" dirty="0"/>
          </a:p>
        </p:txBody>
      </p:sp>
      <p:sp>
        <p:nvSpPr>
          <p:cNvPr id="15" name="Text 13"/>
          <p:cNvSpPr txBox="1"/>
          <p:nvPr/>
        </p:nvSpPr>
        <p:spPr>
          <a:xfrm>
            <a:off x="4609490" y="2212848"/>
            <a:ext cx="2972714" cy="86868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A device clock can be rolled back and a paper sheet rewritten. Nothing proves when a record was really made.</a:t>
            </a:r>
            <a:endParaRPr lang="en-US" sz="1100" dirty="0"/>
          </a:p>
        </p:txBody>
      </p:sp>
      <p:sp>
        <p:nvSpPr>
          <p:cNvPr id="16" name="Shape 14"/>
          <p:cNvSpPr/>
          <p:nvPr/>
        </p:nvSpPr>
        <p:spPr>
          <a:xfrm>
            <a:off x="8158277" y="1371600"/>
            <a:ext cx="3484778" cy="1874520"/>
          </a:xfrm>
          <a:prstGeom prst="roundRect">
            <a:avLst>
              <a:gd name="adj" fmla="val 2927"/>
            </a:avLst>
          </a:prstGeom>
          <a:solidFill>
            <a:srgbClr val="FFFFFF"/>
          </a:solidFill>
          <a:ln w="12700">
            <a:solidFill>
              <a:srgbClr val="DCD7D0"/>
            </a:solidFill>
            <a:prstDash val="solid"/>
          </a:ln>
        </p:spPr>
      </p:sp>
      <p:sp>
        <p:nvSpPr>
          <p:cNvPr id="17" name="Shape 15"/>
          <p:cNvSpPr/>
          <p:nvPr/>
        </p:nvSpPr>
        <p:spPr>
          <a:xfrm>
            <a:off x="8414309" y="1627632"/>
            <a:ext cx="402336" cy="402336"/>
          </a:xfrm>
          <a:prstGeom prst="ellipse">
            <a:avLst/>
          </a:prstGeom>
          <a:solidFill>
            <a:srgbClr val="F8E6E4"/>
          </a:solidFill>
          <a:ln/>
        </p:spPr>
      </p:sp>
      <p:sp>
        <p:nvSpPr>
          <p:cNvPr id="18" name="Text 16"/>
          <p:cNvSpPr txBox="1"/>
          <p:nvPr/>
        </p:nvSpPr>
        <p:spPr>
          <a:xfrm>
            <a:off x="8414309" y="1627632"/>
            <a:ext cx="402336" cy="402336"/>
          </a:xfrm>
          <a:prstGeom prst="rect">
            <a:avLst/>
          </a:prstGeom>
          <a:noFill/>
          <a:ln/>
        </p:spPr>
        <p:txBody>
          <a:bodyPr wrap="square" lIns="0" tIns="0" rIns="0" bIns="0" rtlCol="0" anchor="ctr"/>
          <a:lstStyle/>
          <a:p>
            <a:pPr algn="ctr" indent="0" marL="0">
              <a:buNone/>
            </a:pPr>
            <a:r>
              <a:rPr lang="en-US" sz="1100" b="1" dirty="0">
                <a:solidFill>
                  <a:srgbClr val="B8352B"/>
                </a:solidFill>
                <a:latin typeface="Calibri" pitchFamily="34" charset="0"/>
                <a:ea typeface="Calibri" pitchFamily="34" charset="-122"/>
                <a:cs typeface="Calibri" pitchFamily="34" charset="-120"/>
              </a:rPr>
              <a:t>03</a:t>
            </a:r>
            <a:endParaRPr lang="en-US" sz="1100" dirty="0"/>
          </a:p>
        </p:txBody>
      </p:sp>
      <p:sp>
        <p:nvSpPr>
          <p:cNvPr id="19" name="Text 17"/>
          <p:cNvSpPr txBox="1"/>
          <p:nvPr/>
        </p:nvSpPr>
        <p:spPr>
          <a:xfrm>
            <a:off x="8944661" y="1691640"/>
            <a:ext cx="2433218" cy="32004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Late, duplicated encoding</a:t>
            </a:r>
            <a:endParaRPr lang="en-US" sz="1350" dirty="0"/>
          </a:p>
        </p:txBody>
      </p:sp>
      <p:sp>
        <p:nvSpPr>
          <p:cNvPr id="20" name="Text 18"/>
          <p:cNvSpPr txBox="1"/>
          <p:nvPr/>
        </p:nvSpPr>
        <p:spPr>
          <a:xfrm>
            <a:off x="8414309" y="2212848"/>
            <a:ext cx="2972714" cy="86868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Records reach HR days late and are keyed a second time, introducing transcription errors.</a:t>
            </a:r>
            <a:endParaRPr lang="en-US" sz="1100" dirty="0"/>
          </a:p>
        </p:txBody>
      </p:sp>
      <p:sp>
        <p:nvSpPr>
          <p:cNvPr id="21" name="Shape 19"/>
          <p:cNvSpPr/>
          <p:nvPr/>
        </p:nvSpPr>
        <p:spPr>
          <a:xfrm>
            <a:off x="548640" y="3566160"/>
            <a:ext cx="3484778" cy="1874520"/>
          </a:xfrm>
          <a:prstGeom prst="roundRect">
            <a:avLst>
              <a:gd name="adj" fmla="val 2927"/>
            </a:avLst>
          </a:prstGeom>
          <a:solidFill>
            <a:srgbClr val="FFFFFF"/>
          </a:solidFill>
          <a:ln w="12700">
            <a:solidFill>
              <a:srgbClr val="DCD7D0"/>
            </a:solidFill>
            <a:prstDash val="solid"/>
          </a:ln>
        </p:spPr>
      </p:sp>
      <p:sp>
        <p:nvSpPr>
          <p:cNvPr id="22" name="Shape 20"/>
          <p:cNvSpPr/>
          <p:nvPr/>
        </p:nvSpPr>
        <p:spPr>
          <a:xfrm>
            <a:off x="804672" y="3822192"/>
            <a:ext cx="402336" cy="402336"/>
          </a:xfrm>
          <a:prstGeom prst="ellipse">
            <a:avLst/>
          </a:prstGeom>
          <a:solidFill>
            <a:srgbClr val="F8E6E4"/>
          </a:solidFill>
          <a:ln/>
        </p:spPr>
      </p:sp>
      <p:sp>
        <p:nvSpPr>
          <p:cNvPr id="23" name="Text 21"/>
          <p:cNvSpPr txBox="1"/>
          <p:nvPr/>
        </p:nvSpPr>
        <p:spPr>
          <a:xfrm>
            <a:off x="804672" y="3822192"/>
            <a:ext cx="402336" cy="402336"/>
          </a:xfrm>
          <a:prstGeom prst="rect">
            <a:avLst/>
          </a:prstGeom>
          <a:noFill/>
          <a:ln/>
        </p:spPr>
        <p:txBody>
          <a:bodyPr wrap="square" lIns="0" tIns="0" rIns="0" bIns="0" rtlCol="0" anchor="ctr"/>
          <a:lstStyle/>
          <a:p>
            <a:pPr algn="ctr" indent="0" marL="0">
              <a:buNone/>
            </a:pPr>
            <a:r>
              <a:rPr lang="en-US" sz="1100" b="1" dirty="0">
                <a:solidFill>
                  <a:srgbClr val="B8352B"/>
                </a:solidFill>
                <a:latin typeface="Calibri" pitchFamily="34" charset="0"/>
                <a:ea typeface="Calibri" pitchFamily="34" charset="-122"/>
                <a:cs typeface="Calibri" pitchFamily="34" charset="-120"/>
              </a:rPr>
              <a:t>04</a:t>
            </a:r>
            <a:endParaRPr lang="en-US" sz="1100" dirty="0"/>
          </a:p>
        </p:txBody>
      </p:sp>
      <p:sp>
        <p:nvSpPr>
          <p:cNvPr id="24" name="Text 22"/>
          <p:cNvSpPr txBox="1"/>
          <p:nvPr/>
        </p:nvSpPr>
        <p:spPr>
          <a:xfrm>
            <a:off x="1335024" y="3886200"/>
            <a:ext cx="2433218" cy="32004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Manual payroll computation</a:t>
            </a:r>
            <a:endParaRPr lang="en-US" sz="1350" dirty="0"/>
          </a:p>
        </p:txBody>
      </p:sp>
      <p:sp>
        <p:nvSpPr>
          <p:cNvPr id="25" name="Text 23"/>
          <p:cNvSpPr txBox="1"/>
          <p:nvPr/>
        </p:nvSpPr>
        <p:spPr>
          <a:xfrm>
            <a:off x="804672" y="4407408"/>
            <a:ext cx="2972714" cy="86868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Overtime, night differential, rest day and holiday premiums are calculated by hand, worker by worker.</a:t>
            </a:r>
            <a:endParaRPr lang="en-US" sz="1100" dirty="0"/>
          </a:p>
        </p:txBody>
      </p:sp>
      <p:sp>
        <p:nvSpPr>
          <p:cNvPr id="26" name="Shape 24"/>
          <p:cNvSpPr/>
          <p:nvPr/>
        </p:nvSpPr>
        <p:spPr>
          <a:xfrm>
            <a:off x="4353458" y="3566160"/>
            <a:ext cx="3484778" cy="1874520"/>
          </a:xfrm>
          <a:prstGeom prst="roundRect">
            <a:avLst>
              <a:gd name="adj" fmla="val 2927"/>
            </a:avLst>
          </a:prstGeom>
          <a:solidFill>
            <a:srgbClr val="FFFFFF"/>
          </a:solidFill>
          <a:ln w="12700">
            <a:solidFill>
              <a:srgbClr val="DCD7D0"/>
            </a:solidFill>
            <a:prstDash val="solid"/>
          </a:ln>
        </p:spPr>
      </p:sp>
      <p:sp>
        <p:nvSpPr>
          <p:cNvPr id="27" name="Shape 25"/>
          <p:cNvSpPr/>
          <p:nvPr/>
        </p:nvSpPr>
        <p:spPr>
          <a:xfrm>
            <a:off x="4609490" y="3822192"/>
            <a:ext cx="402336" cy="402336"/>
          </a:xfrm>
          <a:prstGeom prst="ellipse">
            <a:avLst/>
          </a:prstGeom>
          <a:solidFill>
            <a:srgbClr val="F8E6E4"/>
          </a:solidFill>
          <a:ln/>
        </p:spPr>
      </p:sp>
      <p:sp>
        <p:nvSpPr>
          <p:cNvPr id="28" name="Text 26"/>
          <p:cNvSpPr txBox="1"/>
          <p:nvPr/>
        </p:nvSpPr>
        <p:spPr>
          <a:xfrm>
            <a:off x="4609490" y="3822192"/>
            <a:ext cx="402336" cy="402336"/>
          </a:xfrm>
          <a:prstGeom prst="rect">
            <a:avLst/>
          </a:prstGeom>
          <a:noFill/>
          <a:ln/>
        </p:spPr>
        <p:txBody>
          <a:bodyPr wrap="square" lIns="0" tIns="0" rIns="0" bIns="0" rtlCol="0" anchor="ctr"/>
          <a:lstStyle/>
          <a:p>
            <a:pPr algn="ctr" indent="0" marL="0">
              <a:buNone/>
            </a:pPr>
            <a:r>
              <a:rPr lang="en-US" sz="1100" b="1" dirty="0">
                <a:solidFill>
                  <a:srgbClr val="B8352B"/>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5139842" y="3886200"/>
            <a:ext cx="2433218" cy="32004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Field edge cases unhandled</a:t>
            </a:r>
            <a:endParaRPr lang="en-US" sz="1350" dirty="0"/>
          </a:p>
        </p:txBody>
      </p:sp>
      <p:sp>
        <p:nvSpPr>
          <p:cNvPr id="30" name="Text 28"/>
          <p:cNvSpPr txBox="1"/>
          <p:nvPr/>
        </p:nvSpPr>
        <p:spPr>
          <a:xfrm>
            <a:off x="4609490" y="4407408"/>
            <a:ext cx="2972714" cy="86868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A late foreman, an absent foreman, or a day nobody logged has no defined procedure at all.</a:t>
            </a:r>
            <a:endParaRPr lang="en-US" sz="1100" dirty="0"/>
          </a:p>
        </p:txBody>
      </p:sp>
      <p:sp>
        <p:nvSpPr>
          <p:cNvPr id="31" name="Shape 29"/>
          <p:cNvSpPr/>
          <p:nvPr/>
        </p:nvSpPr>
        <p:spPr>
          <a:xfrm>
            <a:off x="8158277" y="3566160"/>
            <a:ext cx="3484778" cy="1874520"/>
          </a:xfrm>
          <a:prstGeom prst="roundRect">
            <a:avLst>
              <a:gd name="adj" fmla="val 2927"/>
            </a:avLst>
          </a:prstGeom>
          <a:solidFill>
            <a:srgbClr val="FFFFFF"/>
          </a:solidFill>
          <a:ln w="12700">
            <a:solidFill>
              <a:srgbClr val="DCD7D0"/>
            </a:solidFill>
            <a:prstDash val="solid"/>
          </a:ln>
        </p:spPr>
      </p:sp>
      <p:sp>
        <p:nvSpPr>
          <p:cNvPr id="32" name="Shape 30"/>
          <p:cNvSpPr/>
          <p:nvPr/>
        </p:nvSpPr>
        <p:spPr>
          <a:xfrm>
            <a:off x="8414309" y="3822192"/>
            <a:ext cx="402336" cy="402336"/>
          </a:xfrm>
          <a:prstGeom prst="ellipse">
            <a:avLst/>
          </a:prstGeom>
          <a:solidFill>
            <a:srgbClr val="F8E6E4"/>
          </a:solidFill>
          <a:ln/>
        </p:spPr>
      </p:sp>
      <p:sp>
        <p:nvSpPr>
          <p:cNvPr id="33" name="Text 31"/>
          <p:cNvSpPr txBox="1"/>
          <p:nvPr/>
        </p:nvSpPr>
        <p:spPr>
          <a:xfrm>
            <a:off x="8414309" y="3822192"/>
            <a:ext cx="402336" cy="402336"/>
          </a:xfrm>
          <a:prstGeom prst="rect">
            <a:avLst/>
          </a:prstGeom>
          <a:noFill/>
          <a:ln/>
        </p:spPr>
        <p:txBody>
          <a:bodyPr wrap="square" lIns="0" tIns="0" rIns="0" bIns="0" rtlCol="0" anchor="ctr"/>
          <a:lstStyle/>
          <a:p>
            <a:pPr algn="ctr" indent="0" marL="0">
              <a:buNone/>
            </a:pPr>
            <a:r>
              <a:rPr lang="en-US" sz="1100" b="1" dirty="0">
                <a:solidFill>
                  <a:srgbClr val="B8352B"/>
                </a:solidFill>
                <a:latin typeface="Calibri" pitchFamily="34" charset="0"/>
                <a:ea typeface="Calibri" pitchFamily="34" charset="-122"/>
                <a:cs typeface="Calibri" pitchFamily="34" charset="-120"/>
              </a:rPr>
              <a:t>06</a:t>
            </a:r>
            <a:endParaRPr lang="en-US" sz="1100" dirty="0"/>
          </a:p>
        </p:txBody>
      </p:sp>
      <p:sp>
        <p:nvSpPr>
          <p:cNvPr id="34" name="Text 32"/>
          <p:cNvSpPr txBox="1"/>
          <p:nvPr/>
        </p:nvSpPr>
        <p:spPr>
          <a:xfrm>
            <a:off x="8944661" y="3886200"/>
            <a:ext cx="2433218" cy="32004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No audit trail</a:t>
            </a:r>
            <a:endParaRPr lang="en-US" sz="1350" dirty="0"/>
          </a:p>
        </p:txBody>
      </p:sp>
      <p:sp>
        <p:nvSpPr>
          <p:cNvPr id="35" name="Text 33"/>
          <p:cNvSpPr txBox="1"/>
          <p:nvPr/>
        </p:nvSpPr>
        <p:spPr>
          <a:xfrm>
            <a:off x="8414309" y="4407408"/>
            <a:ext cx="2972714" cy="86868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Overrides and corrections leave no record, so compliance review after the fact is not possible.</a:t>
            </a:r>
            <a:endParaRPr lang="en-US" sz="1100" dirty="0"/>
          </a:p>
        </p:txBody>
      </p:sp>
      <p:sp>
        <p:nvSpPr>
          <p:cNvPr id="36" name="Shape 34"/>
          <p:cNvSpPr/>
          <p:nvPr/>
        </p:nvSpPr>
        <p:spPr>
          <a:xfrm>
            <a:off x="548640" y="5486400"/>
            <a:ext cx="11094415" cy="676656"/>
          </a:xfrm>
          <a:prstGeom prst="roundRect">
            <a:avLst>
              <a:gd name="adj" fmla="val 8108"/>
            </a:avLst>
          </a:prstGeom>
          <a:solidFill>
            <a:srgbClr val="16191D"/>
          </a:solidFill>
          <a:ln/>
        </p:spPr>
      </p:sp>
      <p:sp>
        <p:nvSpPr>
          <p:cNvPr id="37" name="Text 35"/>
          <p:cNvSpPr txBox="1"/>
          <p:nvPr/>
        </p:nvSpPr>
        <p:spPr>
          <a:xfrm>
            <a:off x="868680" y="5687568"/>
            <a:ext cx="10454335" cy="310896"/>
          </a:xfrm>
          <a:prstGeom prst="rect">
            <a:avLst/>
          </a:prstGeom>
          <a:noFill/>
          <a:ln/>
        </p:spPr>
        <p:txBody>
          <a:bodyPr wrap="square" lIns="0" tIns="0" rIns="0" bIns="0" rtlCol="0" anchor="t"/>
          <a:lstStyle/>
          <a:p>
            <a:pPr algn="l" indent="0" marL="0">
              <a:lnSpc>
                <a:spcPct val="108000"/>
              </a:lnSpc>
              <a:buNone/>
            </a:pPr>
            <a:r>
              <a:rPr lang="en-US" sz="1250" dirty="0">
                <a:solidFill>
                  <a:srgbClr val="FFFFFF"/>
                </a:solidFill>
                <a:latin typeface="Calibri" pitchFamily="34" charset="0"/>
                <a:ea typeface="Calibri" pitchFamily="34" charset="-122"/>
                <a:cs typeface="Calibri" pitchFamily="34" charset="-120"/>
              </a:rPr>
              <a:t>All six trace back to one root cause: the attendance record is not trustworthy at the moment it is created.</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STATEMENT OF THE PROBLEM</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Who Is Affected, and Why It Matters Now</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06</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Text 4"/>
          <p:cNvSpPr txBox="1"/>
          <p:nvPr/>
        </p:nvSpPr>
        <p:spPr>
          <a:xfrm>
            <a:off x="548640" y="1298448"/>
            <a:ext cx="653796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WHO IS AFFECTED</a:t>
            </a:r>
            <a:endParaRPr lang="en-US" sz="1050" dirty="0"/>
          </a:p>
        </p:txBody>
      </p:sp>
      <p:sp>
        <p:nvSpPr>
          <p:cNvPr id="7" name="Shape 5"/>
          <p:cNvSpPr/>
          <p:nvPr/>
        </p:nvSpPr>
        <p:spPr>
          <a:xfrm>
            <a:off x="548640" y="1627632"/>
            <a:ext cx="6537960" cy="786384"/>
          </a:xfrm>
          <a:prstGeom prst="roundRect">
            <a:avLst>
              <a:gd name="adj" fmla="val 6977"/>
            </a:avLst>
          </a:prstGeom>
          <a:solidFill>
            <a:srgbClr val="FFFFFF"/>
          </a:solidFill>
          <a:ln w="12700">
            <a:solidFill>
              <a:srgbClr val="DCD7D0"/>
            </a:solidFill>
            <a:prstDash val="solid"/>
          </a:ln>
        </p:spPr>
      </p:sp>
      <p:sp>
        <p:nvSpPr>
          <p:cNvPr id="8" name="Shape 6"/>
          <p:cNvSpPr/>
          <p:nvPr/>
        </p:nvSpPr>
        <p:spPr>
          <a:xfrm>
            <a:off x="786384" y="1837944"/>
            <a:ext cx="365760" cy="365760"/>
          </a:xfrm>
          <a:prstGeom prst="ellipse">
            <a:avLst/>
          </a:prstGeom>
          <a:solidFill>
            <a:srgbClr val="F2A413"/>
          </a:solidFill>
          <a:ln/>
        </p:spPr>
      </p:sp>
      <p:sp>
        <p:nvSpPr>
          <p:cNvPr id="9" name="Text 7"/>
          <p:cNvSpPr txBox="1"/>
          <p:nvPr/>
        </p:nvSpPr>
        <p:spPr>
          <a:xfrm>
            <a:off x="786384" y="1837944"/>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298448" y="1755648"/>
            <a:ext cx="2240280"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Site Foremen</a:t>
            </a:r>
            <a:endParaRPr lang="en-US" sz="1250" dirty="0"/>
          </a:p>
        </p:txBody>
      </p:sp>
      <p:sp>
        <p:nvSpPr>
          <p:cNvPr id="11" name="Text 9"/>
          <p:cNvSpPr txBox="1"/>
          <p:nvPr/>
        </p:nvSpPr>
        <p:spPr>
          <a:xfrm>
            <a:off x="1298448" y="2039112"/>
            <a:ext cx="5486400"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Carry the entire burden of proof on paper, with no way to defend a disputed entry.</a:t>
            </a:r>
            <a:endParaRPr lang="en-US" sz="1050" dirty="0"/>
          </a:p>
        </p:txBody>
      </p:sp>
      <p:sp>
        <p:nvSpPr>
          <p:cNvPr id="12" name="Shape 10"/>
          <p:cNvSpPr/>
          <p:nvPr/>
        </p:nvSpPr>
        <p:spPr>
          <a:xfrm>
            <a:off x="548640" y="2523744"/>
            <a:ext cx="6537960" cy="786384"/>
          </a:xfrm>
          <a:prstGeom prst="roundRect">
            <a:avLst>
              <a:gd name="adj" fmla="val 6977"/>
            </a:avLst>
          </a:prstGeom>
          <a:solidFill>
            <a:srgbClr val="FFFFFF"/>
          </a:solidFill>
          <a:ln w="12700">
            <a:solidFill>
              <a:srgbClr val="DCD7D0"/>
            </a:solidFill>
            <a:prstDash val="solid"/>
          </a:ln>
        </p:spPr>
      </p:sp>
      <p:sp>
        <p:nvSpPr>
          <p:cNvPr id="13" name="Shape 11"/>
          <p:cNvSpPr/>
          <p:nvPr/>
        </p:nvSpPr>
        <p:spPr>
          <a:xfrm>
            <a:off x="786384" y="2734056"/>
            <a:ext cx="365760" cy="365760"/>
          </a:xfrm>
          <a:prstGeom prst="ellipse">
            <a:avLst/>
          </a:prstGeom>
          <a:solidFill>
            <a:srgbClr val="F2A413"/>
          </a:solidFill>
          <a:ln/>
        </p:spPr>
      </p:sp>
      <p:sp>
        <p:nvSpPr>
          <p:cNvPr id="14" name="Text 12"/>
          <p:cNvSpPr txBox="1"/>
          <p:nvPr/>
        </p:nvSpPr>
        <p:spPr>
          <a:xfrm>
            <a:off x="786384" y="2734056"/>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298448" y="2651760"/>
            <a:ext cx="2240280"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Field Workers</a:t>
            </a:r>
            <a:endParaRPr lang="en-US" sz="1250" dirty="0"/>
          </a:p>
        </p:txBody>
      </p:sp>
      <p:sp>
        <p:nvSpPr>
          <p:cNvPr id="16" name="Text 14"/>
          <p:cNvSpPr txBox="1"/>
          <p:nvPr/>
        </p:nvSpPr>
        <p:spPr>
          <a:xfrm>
            <a:off x="1298448" y="2935224"/>
            <a:ext cx="5486400"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Pay depends on a sheet they never see, computed by hand days after the shift.</a:t>
            </a:r>
            <a:endParaRPr lang="en-US" sz="1050" dirty="0"/>
          </a:p>
        </p:txBody>
      </p:sp>
      <p:sp>
        <p:nvSpPr>
          <p:cNvPr id="17" name="Shape 15"/>
          <p:cNvSpPr/>
          <p:nvPr/>
        </p:nvSpPr>
        <p:spPr>
          <a:xfrm>
            <a:off x="548640" y="3419856"/>
            <a:ext cx="6537960" cy="786384"/>
          </a:xfrm>
          <a:prstGeom prst="roundRect">
            <a:avLst>
              <a:gd name="adj" fmla="val 6977"/>
            </a:avLst>
          </a:prstGeom>
          <a:solidFill>
            <a:srgbClr val="FFFFFF"/>
          </a:solidFill>
          <a:ln w="12700">
            <a:solidFill>
              <a:srgbClr val="DCD7D0"/>
            </a:solidFill>
            <a:prstDash val="solid"/>
          </a:ln>
        </p:spPr>
      </p:sp>
      <p:sp>
        <p:nvSpPr>
          <p:cNvPr id="18" name="Shape 16"/>
          <p:cNvSpPr/>
          <p:nvPr/>
        </p:nvSpPr>
        <p:spPr>
          <a:xfrm>
            <a:off x="786384" y="3630168"/>
            <a:ext cx="365760" cy="365760"/>
          </a:xfrm>
          <a:prstGeom prst="ellipse">
            <a:avLst/>
          </a:prstGeom>
          <a:solidFill>
            <a:srgbClr val="F2A413"/>
          </a:solidFill>
          <a:ln/>
        </p:spPr>
      </p:sp>
      <p:sp>
        <p:nvSpPr>
          <p:cNvPr id="19" name="Text 17"/>
          <p:cNvSpPr txBox="1"/>
          <p:nvPr/>
        </p:nvSpPr>
        <p:spPr>
          <a:xfrm>
            <a:off x="786384" y="363016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1298448" y="3547872"/>
            <a:ext cx="2240280"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HR Personnel</a:t>
            </a:r>
            <a:endParaRPr lang="en-US" sz="1250" dirty="0"/>
          </a:p>
        </p:txBody>
      </p:sp>
      <p:sp>
        <p:nvSpPr>
          <p:cNvPr id="21" name="Text 19"/>
          <p:cNvSpPr txBox="1"/>
          <p:nvPr/>
        </p:nvSpPr>
        <p:spPr>
          <a:xfrm>
            <a:off x="1298448" y="3831336"/>
            <a:ext cx="5486400"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Encode the same records twice, then recompute premium rates manually each cutoff.</a:t>
            </a:r>
            <a:endParaRPr lang="en-US" sz="1050" dirty="0"/>
          </a:p>
        </p:txBody>
      </p:sp>
      <p:sp>
        <p:nvSpPr>
          <p:cNvPr id="22" name="Shape 20"/>
          <p:cNvSpPr/>
          <p:nvPr/>
        </p:nvSpPr>
        <p:spPr>
          <a:xfrm>
            <a:off x="548640" y="4315968"/>
            <a:ext cx="6537960" cy="786384"/>
          </a:xfrm>
          <a:prstGeom prst="roundRect">
            <a:avLst>
              <a:gd name="adj" fmla="val 6977"/>
            </a:avLst>
          </a:prstGeom>
          <a:solidFill>
            <a:srgbClr val="FFFFFF"/>
          </a:solidFill>
          <a:ln w="12700">
            <a:solidFill>
              <a:srgbClr val="DCD7D0"/>
            </a:solidFill>
            <a:prstDash val="solid"/>
          </a:ln>
        </p:spPr>
      </p:sp>
      <p:sp>
        <p:nvSpPr>
          <p:cNvPr id="23" name="Shape 21"/>
          <p:cNvSpPr/>
          <p:nvPr/>
        </p:nvSpPr>
        <p:spPr>
          <a:xfrm>
            <a:off x="786384" y="4526280"/>
            <a:ext cx="365760" cy="365760"/>
          </a:xfrm>
          <a:prstGeom prst="ellipse">
            <a:avLst/>
          </a:prstGeom>
          <a:solidFill>
            <a:srgbClr val="F2A413"/>
          </a:solidFill>
          <a:ln/>
        </p:spPr>
      </p:sp>
      <p:sp>
        <p:nvSpPr>
          <p:cNvPr id="24" name="Text 22"/>
          <p:cNvSpPr txBox="1"/>
          <p:nvPr/>
        </p:nvSpPr>
        <p:spPr>
          <a:xfrm>
            <a:off x="786384" y="4526280"/>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1298448" y="4443984"/>
            <a:ext cx="2240280"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Site Engineers</a:t>
            </a:r>
            <a:endParaRPr lang="en-US" sz="1250" dirty="0"/>
          </a:p>
        </p:txBody>
      </p:sp>
      <p:sp>
        <p:nvSpPr>
          <p:cNvPr id="26" name="Text 24"/>
          <p:cNvSpPr txBox="1"/>
          <p:nvPr/>
        </p:nvSpPr>
        <p:spPr>
          <a:xfrm>
            <a:off x="1298448" y="4727448"/>
            <a:ext cx="5486400"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Cannot see who is actually deployed and present across sites in any timely way.</a:t>
            </a:r>
            <a:endParaRPr lang="en-US" sz="1050" dirty="0"/>
          </a:p>
        </p:txBody>
      </p:sp>
      <p:sp>
        <p:nvSpPr>
          <p:cNvPr id="27" name="Shape 25"/>
          <p:cNvSpPr/>
          <p:nvPr/>
        </p:nvSpPr>
        <p:spPr>
          <a:xfrm>
            <a:off x="548640" y="5212080"/>
            <a:ext cx="6537960" cy="786384"/>
          </a:xfrm>
          <a:prstGeom prst="roundRect">
            <a:avLst>
              <a:gd name="adj" fmla="val 6977"/>
            </a:avLst>
          </a:prstGeom>
          <a:solidFill>
            <a:srgbClr val="FFFFFF"/>
          </a:solidFill>
          <a:ln w="12700">
            <a:solidFill>
              <a:srgbClr val="DCD7D0"/>
            </a:solidFill>
            <a:prstDash val="solid"/>
          </a:ln>
        </p:spPr>
      </p:sp>
      <p:sp>
        <p:nvSpPr>
          <p:cNvPr id="28" name="Shape 26"/>
          <p:cNvSpPr/>
          <p:nvPr/>
        </p:nvSpPr>
        <p:spPr>
          <a:xfrm>
            <a:off x="786384" y="5422392"/>
            <a:ext cx="365760" cy="365760"/>
          </a:xfrm>
          <a:prstGeom prst="ellipse">
            <a:avLst/>
          </a:prstGeom>
          <a:solidFill>
            <a:srgbClr val="F2A413"/>
          </a:solidFill>
          <a:ln/>
        </p:spPr>
      </p:sp>
      <p:sp>
        <p:nvSpPr>
          <p:cNvPr id="29" name="Text 27"/>
          <p:cNvSpPr txBox="1"/>
          <p:nvPr/>
        </p:nvSpPr>
        <p:spPr>
          <a:xfrm>
            <a:off x="786384" y="5422392"/>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1298448" y="5340096"/>
            <a:ext cx="2240280"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Executives and the firm</a:t>
            </a:r>
            <a:endParaRPr lang="en-US" sz="1250" dirty="0"/>
          </a:p>
        </p:txBody>
      </p:sp>
      <p:sp>
        <p:nvSpPr>
          <p:cNvPr id="31" name="Text 29"/>
          <p:cNvSpPr txBox="1"/>
          <p:nvPr/>
        </p:nvSpPr>
        <p:spPr>
          <a:xfrm>
            <a:off x="1298448" y="5623560"/>
            <a:ext cx="5486400"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Carry the legal and financial exposure of records that cannot be substantiated.</a:t>
            </a:r>
            <a:endParaRPr lang="en-US" sz="1050" dirty="0"/>
          </a:p>
        </p:txBody>
      </p:sp>
      <p:sp>
        <p:nvSpPr>
          <p:cNvPr id="32" name="Shape 30"/>
          <p:cNvSpPr/>
          <p:nvPr/>
        </p:nvSpPr>
        <p:spPr>
          <a:xfrm>
            <a:off x="7406640" y="1298448"/>
            <a:ext cx="4236415" cy="4773168"/>
          </a:xfrm>
          <a:prstGeom prst="roundRect">
            <a:avLst>
              <a:gd name="adj" fmla="val 1295"/>
            </a:avLst>
          </a:prstGeom>
          <a:solidFill>
            <a:srgbClr val="16191D"/>
          </a:solidFill>
          <a:ln/>
        </p:spPr>
      </p:sp>
      <p:sp>
        <p:nvSpPr>
          <p:cNvPr id="33" name="Text 31"/>
          <p:cNvSpPr txBox="1"/>
          <p:nvPr/>
        </p:nvSpPr>
        <p:spPr>
          <a:xfrm>
            <a:off x="7726680" y="1600200"/>
            <a:ext cx="3596335"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WHY IT MUST BE ADDRESSED</a:t>
            </a:r>
            <a:endParaRPr lang="en-US" sz="1050" dirty="0"/>
          </a:p>
        </p:txBody>
      </p:sp>
      <p:sp>
        <p:nvSpPr>
          <p:cNvPr id="34" name="Shape 32"/>
          <p:cNvSpPr/>
          <p:nvPr/>
        </p:nvSpPr>
        <p:spPr>
          <a:xfrm>
            <a:off x="7726680" y="2066544"/>
            <a:ext cx="146304" cy="146304"/>
          </a:xfrm>
          <a:prstGeom prst="ellipse">
            <a:avLst/>
          </a:prstGeom>
          <a:solidFill>
            <a:srgbClr val="F2A413"/>
          </a:solidFill>
          <a:ln/>
        </p:spPr>
      </p:sp>
      <p:sp>
        <p:nvSpPr>
          <p:cNvPr id="35" name="Text 33"/>
          <p:cNvSpPr txBox="1"/>
          <p:nvPr/>
        </p:nvSpPr>
        <p:spPr>
          <a:xfrm>
            <a:off x="8001000" y="2011680"/>
            <a:ext cx="3322015"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Legal exposure</a:t>
            </a:r>
            <a:endParaRPr lang="en-US" sz="1300" dirty="0"/>
          </a:p>
        </p:txBody>
      </p:sp>
      <p:sp>
        <p:nvSpPr>
          <p:cNvPr id="36" name="Text 34"/>
          <p:cNvSpPr txBox="1"/>
          <p:nvPr/>
        </p:nvSpPr>
        <p:spPr>
          <a:xfrm>
            <a:off x="8001000" y="2304288"/>
            <a:ext cx="3322015" cy="676656"/>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Payroll must comply with the Philippine Labor Code (RA 442). Unverifiable attendance is not a defensible basis for it.</a:t>
            </a:r>
            <a:endParaRPr lang="en-US" sz="1050" dirty="0"/>
          </a:p>
        </p:txBody>
      </p:sp>
      <p:sp>
        <p:nvSpPr>
          <p:cNvPr id="37" name="Shape 35"/>
          <p:cNvSpPr/>
          <p:nvPr/>
        </p:nvSpPr>
        <p:spPr>
          <a:xfrm>
            <a:off x="7726680" y="3090672"/>
            <a:ext cx="146304" cy="146304"/>
          </a:xfrm>
          <a:prstGeom prst="ellipse">
            <a:avLst/>
          </a:prstGeom>
          <a:solidFill>
            <a:srgbClr val="F2A413"/>
          </a:solidFill>
          <a:ln/>
        </p:spPr>
      </p:sp>
      <p:sp>
        <p:nvSpPr>
          <p:cNvPr id="38" name="Text 36"/>
          <p:cNvSpPr txBox="1"/>
          <p:nvPr/>
        </p:nvSpPr>
        <p:spPr>
          <a:xfrm>
            <a:off x="8001000" y="3035808"/>
            <a:ext cx="3322015"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Wage cost leakage</a:t>
            </a:r>
            <a:endParaRPr lang="en-US" sz="1300" dirty="0"/>
          </a:p>
        </p:txBody>
      </p:sp>
      <p:sp>
        <p:nvSpPr>
          <p:cNvPr id="39" name="Text 37"/>
          <p:cNvSpPr txBox="1"/>
          <p:nvPr/>
        </p:nvSpPr>
        <p:spPr>
          <a:xfrm>
            <a:off x="8001000" y="3328416"/>
            <a:ext cx="3322015" cy="676656"/>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Hand-computed premiums and unverifiable hours produce errors in both directions: underpaid workers and overpaid hours.</a:t>
            </a:r>
            <a:endParaRPr lang="en-US" sz="1050" dirty="0"/>
          </a:p>
        </p:txBody>
      </p:sp>
      <p:sp>
        <p:nvSpPr>
          <p:cNvPr id="40" name="Shape 38"/>
          <p:cNvSpPr/>
          <p:nvPr/>
        </p:nvSpPr>
        <p:spPr>
          <a:xfrm>
            <a:off x="7726680" y="4114800"/>
            <a:ext cx="146304" cy="146304"/>
          </a:xfrm>
          <a:prstGeom prst="ellipse">
            <a:avLst/>
          </a:prstGeom>
          <a:solidFill>
            <a:srgbClr val="F2A413"/>
          </a:solidFill>
          <a:ln/>
        </p:spPr>
      </p:sp>
      <p:sp>
        <p:nvSpPr>
          <p:cNvPr id="41" name="Text 39"/>
          <p:cNvSpPr txBox="1"/>
          <p:nvPr/>
        </p:nvSpPr>
        <p:spPr>
          <a:xfrm>
            <a:off x="8001000" y="4059936"/>
            <a:ext cx="3322015"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No evidence in a dispute</a:t>
            </a:r>
            <a:endParaRPr lang="en-US" sz="1300" dirty="0"/>
          </a:p>
        </p:txBody>
      </p:sp>
      <p:sp>
        <p:nvSpPr>
          <p:cNvPr id="42" name="Text 40"/>
          <p:cNvSpPr txBox="1"/>
          <p:nvPr/>
        </p:nvSpPr>
        <p:spPr>
          <a:xfrm>
            <a:off x="8001000" y="4352544"/>
            <a:ext cx="3322015" cy="676656"/>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When a worker contests a day's pay, neither side has anything better than a recollection.</a:t>
            </a:r>
            <a:endParaRPr lang="en-US" sz="1050" dirty="0"/>
          </a:p>
        </p:txBody>
      </p:sp>
      <p:sp>
        <p:nvSpPr>
          <p:cNvPr id="43" name="Shape 41"/>
          <p:cNvSpPr/>
          <p:nvPr/>
        </p:nvSpPr>
        <p:spPr>
          <a:xfrm>
            <a:off x="7726680" y="5138928"/>
            <a:ext cx="146304" cy="146304"/>
          </a:xfrm>
          <a:prstGeom prst="ellipse">
            <a:avLst/>
          </a:prstGeom>
          <a:solidFill>
            <a:srgbClr val="F2A413"/>
          </a:solidFill>
          <a:ln/>
        </p:spPr>
      </p:sp>
      <p:sp>
        <p:nvSpPr>
          <p:cNvPr id="44" name="Text 42"/>
          <p:cNvSpPr txBox="1"/>
          <p:nvPr/>
        </p:nvSpPr>
        <p:spPr>
          <a:xfrm>
            <a:off x="8001000" y="5084064"/>
            <a:ext cx="3322015"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It worsens with growth</a:t>
            </a:r>
            <a:endParaRPr lang="en-US" sz="1300" dirty="0"/>
          </a:p>
        </p:txBody>
      </p:sp>
      <p:sp>
        <p:nvSpPr>
          <p:cNvPr id="45" name="Text 43"/>
          <p:cNvSpPr txBox="1"/>
          <p:nvPr/>
        </p:nvSpPr>
        <p:spPr>
          <a:xfrm>
            <a:off x="8001000" y="5376672"/>
            <a:ext cx="3322015" cy="676656"/>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Each new site multiplies the paper, the travel time and the manual computation. The process does not scale.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SECTION 3</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Objectives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07</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Shape 4"/>
          <p:cNvSpPr/>
          <p:nvPr/>
        </p:nvSpPr>
        <p:spPr>
          <a:xfrm>
            <a:off x="548640" y="1298448"/>
            <a:ext cx="11094415" cy="1517904"/>
          </a:xfrm>
          <a:prstGeom prst="roundRect">
            <a:avLst>
              <a:gd name="adj" fmla="val 3614"/>
            </a:avLst>
          </a:prstGeom>
          <a:solidFill>
            <a:srgbClr val="16191D"/>
          </a:solidFill>
          <a:ln/>
        </p:spPr>
      </p:sp>
      <p:sp>
        <p:nvSpPr>
          <p:cNvPr id="7" name="Text 5"/>
          <p:cNvSpPr txBox="1"/>
          <p:nvPr/>
        </p:nvSpPr>
        <p:spPr>
          <a:xfrm>
            <a:off x="914400" y="1517904"/>
            <a:ext cx="45720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GENERAL OBJECTIVE</a:t>
            </a:r>
            <a:endParaRPr lang="en-US" sz="1050" dirty="0"/>
          </a:p>
        </p:txBody>
      </p:sp>
      <p:sp>
        <p:nvSpPr>
          <p:cNvPr id="8" name="Text 6"/>
          <p:cNvSpPr txBox="1"/>
          <p:nvPr/>
        </p:nvSpPr>
        <p:spPr>
          <a:xfrm>
            <a:off x="914400" y="1810512"/>
            <a:ext cx="10362895" cy="868680"/>
          </a:xfrm>
          <a:prstGeom prst="rect">
            <a:avLst/>
          </a:prstGeom>
          <a:noFill/>
          <a:ln/>
        </p:spPr>
        <p:txBody>
          <a:bodyPr wrap="square" lIns="0" tIns="0" rIns="0" bIns="0" rtlCol="0" anchor="t"/>
          <a:lstStyle/>
          <a:p>
            <a:pPr algn="l" indent="0" marL="0">
              <a:lnSpc>
                <a:spcPct val="115000"/>
              </a:lnSpc>
              <a:buNone/>
            </a:pPr>
            <a:r>
              <a:rPr lang="en-US" sz="1450" dirty="0">
                <a:solidFill>
                  <a:srgbClr val="FFFFFF"/>
                </a:solidFill>
                <a:latin typeface="Calibri" pitchFamily="34" charset="0"/>
                <a:ea typeface="Calibri" pitchFamily="34" charset="-122"/>
                <a:cs typeface="Calibri" pitchFamily="34" charset="-120"/>
              </a:rPr>
              <a:t>To design and develop a centralized Human Resource Information System for Arcenas Development Corporation that records construction site attendance reliably without internet connectivity, protects that record from tampering using hardware-backed cryptography, and automates payroll computation in compliance with the Philippine Labor Code.</a:t>
            </a:r>
            <a:endParaRPr lang="en-US" sz="1450" dirty="0"/>
          </a:p>
        </p:txBody>
      </p:sp>
      <p:sp>
        <p:nvSpPr>
          <p:cNvPr id="9" name="Text 7"/>
          <p:cNvSpPr txBox="1"/>
          <p:nvPr/>
        </p:nvSpPr>
        <p:spPr>
          <a:xfrm>
            <a:off x="548640" y="2999232"/>
            <a:ext cx="457200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SPECIFIC OBJECTIVES</a:t>
            </a:r>
            <a:endParaRPr lang="en-US" sz="1050" dirty="0"/>
          </a:p>
        </p:txBody>
      </p:sp>
      <p:sp>
        <p:nvSpPr>
          <p:cNvPr id="10" name="Shape 8"/>
          <p:cNvSpPr/>
          <p:nvPr/>
        </p:nvSpPr>
        <p:spPr>
          <a:xfrm>
            <a:off x="548640" y="3310128"/>
            <a:ext cx="3484778" cy="1353312"/>
          </a:xfrm>
          <a:prstGeom prst="roundRect">
            <a:avLst>
              <a:gd name="adj" fmla="val 4054"/>
            </a:avLst>
          </a:prstGeom>
          <a:solidFill>
            <a:srgbClr val="FFFFFF"/>
          </a:solidFill>
          <a:ln w="12700">
            <a:solidFill>
              <a:srgbClr val="DCD7D0"/>
            </a:solidFill>
            <a:prstDash val="solid"/>
          </a:ln>
        </p:spPr>
      </p:sp>
      <p:sp>
        <p:nvSpPr>
          <p:cNvPr id="11" name="Shape 9"/>
          <p:cNvSpPr/>
          <p:nvPr/>
        </p:nvSpPr>
        <p:spPr>
          <a:xfrm>
            <a:off x="786384" y="3529584"/>
            <a:ext cx="384048" cy="384048"/>
          </a:xfrm>
          <a:prstGeom prst="ellipse">
            <a:avLst/>
          </a:prstGeom>
          <a:solidFill>
            <a:srgbClr val="F2A413"/>
          </a:solidFill>
          <a:ln/>
        </p:spPr>
      </p:sp>
      <p:sp>
        <p:nvSpPr>
          <p:cNvPr id="12" name="Text 10"/>
          <p:cNvSpPr txBox="1"/>
          <p:nvPr/>
        </p:nvSpPr>
        <p:spPr>
          <a:xfrm>
            <a:off x="786384" y="3529584"/>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01</a:t>
            </a:r>
            <a:endParaRPr lang="en-US" sz="1100" dirty="0"/>
          </a:p>
        </p:txBody>
      </p:sp>
      <p:sp>
        <p:nvSpPr>
          <p:cNvPr id="13" name="Text 11"/>
          <p:cNvSpPr txBox="1"/>
          <p:nvPr/>
        </p:nvSpPr>
        <p:spPr>
          <a:xfrm>
            <a:off x="1280160" y="3566160"/>
            <a:ext cx="2515514" cy="310896"/>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Centralize HR operations</a:t>
            </a:r>
            <a:endParaRPr lang="en-US" sz="1300" dirty="0"/>
          </a:p>
        </p:txBody>
      </p:sp>
      <p:sp>
        <p:nvSpPr>
          <p:cNvPr id="14" name="Text 12"/>
          <p:cNvSpPr txBox="1"/>
          <p:nvPr/>
        </p:nvSpPr>
        <p:spPr>
          <a:xfrm>
            <a:off x="786384" y="4005072"/>
            <a:ext cx="3009290" cy="54864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Digitize employee records, crew deployment, attendance, leave and payroll into one system of record.</a:t>
            </a:r>
            <a:endParaRPr lang="en-US" sz="1050" dirty="0"/>
          </a:p>
        </p:txBody>
      </p:sp>
      <p:sp>
        <p:nvSpPr>
          <p:cNvPr id="15" name="Shape 13"/>
          <p:cNvSpPr/>
          <p:nvPr/>
        </p:nvSpPr>
        <p:spPr>
          <a:xfrm>
            <a:off x="4353458" y="3310128"/>
            <a:ext cx="3484778" cy="1353312"/>
          </a:xfrm>
          <a:prstGeom prst="roundRect">
            <a:avLst>
              <a:gd name="adj" fmla="val 4054"/>
            </a:avLst>
          </a:prstGeom>
          <a:solidFill>
            <a:srgbClr val="FFFFFF"/>
          </a:solidFill>
          <a:ln w="12700">
            <a:solidFill>
              <a:srgbClr val="DCD7D0"/>
            </a:solidFill>
            <a:prstDash val="solid"/>
          </a:ln>
        </p:spPr>
      </p:sp>
      <p:sp>
        <p:nvSpPr>
          <p:cNvPr id="16" name="Shape 14"/>
          <p:cNvSpPr/>
          <p:nvPr/>
        </p:nvSpPr>
        <p:spPr>
          <a:xfrm>
            <a:off x="4591202" y="3529584"/>
            <a:ext cx="384048" cy="384048"/>
          </a:xfrm>
          <a:prstGeom prst="ellipse">
            <a:avLst/>
          </a:prstGeom>
          <a:solidFill>
            <a:srgbClr val="F2A413"/>
          </a:solidFill>
          <a:ln/>
        </p:spPr>
      </p:sp>
      <p:sp>
        <p:nvSpPr>
          <p:cNvPr id="17" name="Text 15"/>
          <p:cNvSpPr txBox="1"/>
          <p:nvPr/>
        </p:nvSpPr>
        <p:spPr>
          <a:xfrm>
            <a:off x="4591202" y="3529584"/>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02</a:t>
            </a:r>
            <a:endParaRPr lang="en-US" sz="1100" dirty="0"/>
          </a:p>
        </p:txBody>
      </p:sp>
      <p:sp>
        <p:nvSpPr>
          <p:cNvPr id="18" name="Text 16"/>
          <p:cNvSpPr txBox="1"/>
          <p:nvPr/>
        </p:nvSpPr>
        <p:spPr>
          <a:xfrm>
            <a:off x="5084978" y="3566160"/>
            <a:ext cx="2515514" cy="310896"/>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Capture attendance offline</a:t>
            </a:r>
            <a:endParaRPr lang="en-US" sz="1300" dirty="0"/>
          </a:p>
        </p:txBody>
      </p:sp>
      <p:sp>
        <p:nvSpPr>
          <p:cNvPr id="19" name="Text 17"/>
          <p:cNvSpPr txBox="1"/>
          <p:nvPr/>
        </p:nvSpPr>
        <p:spPr>
          <a:xfrm>
            <a:off x="4591202" y="4005072"/>
            <a:ext cx="3009290" cy="54864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Let foremen log crew attendance at sites with no cellular or internet signal, and sync it automatically later.</a:t>
            </a:r>
            <a:endParaRPr lang="en-US" sz="1050" dirty="0"/>
          </a:p>
        </p:txBody>
      </p:sp>
      <p:sp>
        <p:nvSpPr>
          <p:cNvPr id="20" name="Shape 18"/>
          <p:cNvSpPr/>
          <p:nvPr/>
        </p:nvSpPr>
        <p:spPr>
          <a:xfrm>
            <a:off x="8158277" y="3310128"/>
            <a:ext cx="3484778" cy="1353312"/>
          </a:xfrm>
          <a:prstGeom prst="roundRect">
            <a:avLst>
              <a:gd name="adj" fmla="val 4054"/>
            </a:avLst>
          </a:prstGeom>
          <a:solidFill>
            <a:srgbClr val="FFFFFF"/>
          </a:solidFill>
          <a:ln w="12700">
            <a:solidFill>
              <a:srgbClr val="DCD7D0"/>
            </a:solidFill>
            <a:prstDash val="solid"/>
          </a:ln>
        </p:spPr>
      </p:sp>
      <p:sp>
        <p:nvSpPr>
          <p:cNvPr id="21" name="Shape 19"/>
          <p:cNvSpPr/>
          <p:nvPr/>
        </p:nvSpPr>
        <p:spPr>
          <a:xfrm>
            <a:off x="8396021" y="3529584"/>
            <a:ext cx="384048" cy="384048"/>
          </a:xfrm>
          <a:prstGeom prst="ellipse">
            <a:avLst/>
          </a:prstGeom>
          <a:solidFill>
            <a:srgbClr val="F2A413"/>
          </a:solidFill>
          <a:ln/>
        </p:spPr>
      </p:sp>
      <p:sp>
        <p:nvSpPr>
          <p:cNvPr id="22" name="Text 20"/>
          <p:cNvSpPr txBox="1"/>
          <p:nvPr/>
        </p:nvSpPr>
        <p:spPr>
          <a:xfrm>
            <a:off x="8396021" y="3529584"/>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03</a:t>
            </a:r>
            <a:endParaRPr lang="en-US" sz="1100" dirty="0"/>
          </a:p>
        </p:txBody>
      </p:sp>
      <p:sp>
        <p:nvSpPr>
          <p:cNvPr id="23" name="Text 21"/>
          <p:cNvSpPr txBox="1"/>
          <p:nvPr/>
        </p:nvSpPr>
        <p:spPr>
          <a:xfrm>
            <a:off x="8889797" y="3566160"/>
            <a:ext cx="2515514" cy="310896"/>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Make records tamper-evident</a:t>
            </a:r>
            <a:endParaRPr lang="en-US" sz="1300" dirty="0"/>
          </a:p>
        </p:txBody>
      </p:sp>
      <p:sp>
        <p:nvSpPr>
          <p:cNvPr id="24" name="Text 22"/>
          <p:cNvSpPr txBox="1"/>
          <p:nvPr/>
        </p:nvSpPr>
        <p:spPr>
          <a:xfrm>
            <a:off x="8396021" y="4005072"/>
            <a:ext cx="3009290" cy="54864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Prevent and detect timestamp manipulation through monotonic clock capture, hash chaining and hardware signing.</a:t>
            </a:r>
            <a:endParaRPr lang="en-US" sz="1050" dirty="0"/>
          </a:p>
        </p:txBody>
      </p:sp>
      <p:sp>
        <p:nvSpPr>
          <p:cNvPr id="25" name="Shape 23"/>
          <p:cNvSpPr/>
          <p:nvPr/>
        </p:nvSpPr>
        <p:spPr>
          <a:xfrm>
            <a:off x="548640" y="4901184"/>
            <a:ext cx="3484778" cy="1353312"/>
          </a:xfrm>
          <a:prstGeom prst="roundRect">
            <a:avLst>
              <a:gd name="adj" fmla="val 4054"/>
            </a:avLst>
          </a:prstGeom>
          <a:solidFill>
            <a:srgbClr val="FFFFFF"/>
          </a:solidFill>
          <a:ln w="12700">
            <a:solidFill>
              <a:srgbClr val="DCD7D0"/>
            </a:solidFill>
            <a:prstDash val="solid"/>
          </a:ln>
        </p:spPr>
      </p:sp>
      <p:sp>
        <p:nvSpPr>
          <p:cNvPr id="26" name="Shape 24"/>
          <p:cNvSpPr/>
          <p:nvPr/>
        </p:nvSpPr>
        <p:spPr>
          <a:xfrm>
            <a:off x="786384" y="5120640"/>
            <a:ext cx="384048" cy="384048"/>
          </a:xfrm>
          <a:prstGeom prst="ellipse">
            <a:avLst/>
          </a:prstGeom>
          <a:solidFill>
            <a:srgbClr val="F2A413"/>
          </a:solidFill>
          <a:ln/>
        </p:spPr>
      </p:sp>
      <p:sp>
        <p:nvSpPr>
          <p:cNvPr id="27" name="Text 25"/>
          <p:cNvSpPr txBox="1"/>
          <p:nvPr/>
        </p:nvSpPr>
        <p:spPr>
          <a:xfrm>
            <a:off x="786384" y="5120640"/>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04</a:t>
            </a:r>
            <a:endParaRPr lang="en-US" sz="1100" dirty="0"/>
          </a:p>
        </p:txBody>
      </p:sp>
      <p:sp>
        <p:nvSpPr>
          <p:cNvPr id="28" name="Text 26"/>
          <p:cNvSpPr txBox="1"/>
          <p:nvPr/>
        </p:nvSpPr>
        <p:spPr>
          <a:xfrm>
            <a:off x="1280160" y="5157216"/>
            <a:ext cx="2515514" cy="310896"/>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Handle real field edge cases</a:t>
            </a:r>
            <a:endParaRPr lang="en-US" sz="1300" dirty="0"/>
          </a:p>
        </p:txBody>
      </p:sp>
      <p:sp>
        <p:nvSpPr>
          <p:cNvPr id="29" name="Text 27"/>
          <p:cNvSpPr txBox="1"/>
          <p:nvPr/>
        </p:nvSpPr>
        <p:spPr>
          <a:xfrm>
            <a:off x="786384" y="5596128"/>
            <a:ext cx="3009290" cy="54864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Automate the late foreman, absent foreman and unlogged-day scenarios instead of leaving them to memory.</a:t>
            </a:r>
            <a:endParaRPr lang="en-US" sz="1050" dirty="0"/>
          </a:p>
        </p:txBody>
      </p:sp>
      <p:sp>
        <p:nvSpPr>
          <p:cNvPr id="30" name="Shape 28"/>
          <p:cNvSpPr/>
          <p:nvPr/>
        </p:nvSpPr>
        <p:spPr>
          <a:xfrm>
            <a:off x="4353458" y="4901184"/>
            <a:ext cx="3484778" cy="1353312"/>
          </a:xfrm>
          <a:prstGeom prst="roundRect">
            <a:avLst>
              <a:gd name="adj" fmla="val 4054"/>
            </a:avLst>
          </a:prstGeom>
          <a:solidFill>
            <a:srgbClr val="FFFFFF"/>
          </a:solidFill>
          <a:ln w="12700">
            <a:solidFill>
              <a:srgbClr val="DCD7D0"/>
            </a:solidFill>
            <a:prstDash val="solid"/>
          </a:ln>
        </p:spPr>
      </p:sp>
      <p:sp>
        <p:nvSpPr>
          <p:cNvPr id="31" name="Shape 29"/>
          <p:cNvSpPr/>
          <p:nvPr/>
        </p:nvSpPr>
        <p:spPr>
          <a:xfrm>
            <a:off x="4591202" y="5120640"/>
            <a:ext cx="384048" cy="384048"/>
          </a:xfrm>
          <a:prstGeom prst="ellipse">
            <a:avLst/>
          </a:prstGeom>
          <a:solidFill>
            <a:srgbClr val="F2A413"/>
          </a:solidFill>
          <a:ln/>
        </p:spPr>
      </p:sp>
      <p:sp>
        <p:nvSpPr>
          <p:cNvPr id="32" name="Text 30"/>
          <p:cNvSpPr txBox="1"/>
          <p:nvPr/>
        </p:nvSpPr>
        <p:spPr>
          <a:xfrm>
            <a:off x="4591202" y="5120640"/>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05</a:t>
            </a:r>
            <a:endParaRPr lang="en-US" sz="1100" dirty="0"/>
          </a:p>
        </p:txBody>
      </p:sp>
      <p:sp>
        <p:nvSpPr>
          <p:cNvPr id="33" name="Text 31"/>
          <p:cNvSpPr txBox="1"/>
          <p:nvPr/>
        </p:nvSpPr>
        <p:spPr>
          <a:xfrm>
            <a:off x="5084978" y="5157216"/>
            <a:ext cx="2515514" cy="310896"/>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Automate Labor Code payroll</a:t>
            </a:r>
            <a:endParaRPr lang="en-US" sz="1300" dirty="0"/>
          </a:p>
        </p:txBody>
      </p:sp>
      <p:sp>
        <p:nvSpPr>
          <p:cNvPr id="34" name="Text 32"/>
          <p:cNvSpPr txBox="1"/>
          <p:nvPr/>
        </p:nvSpPr>
        <p:spPr>
          <a:xfrm>
            <a:off x="4591202" y="5596128"/>
            <a:ext cx="3009290" cy="54864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Compute overtime 1.25x, night differential 1.10x, rest day 1.30x and holiday 2.0x from verified attendance only.</a:t>
            </a:r>
            <a:endParaRPr lang="en-US" sz="1050" dirty="0"/>
          </a:p>
        </p:txBody>
      </p:sp>
      <p:sp>
        <p:nvSpPr>
          <p:cNvPr id="35" name="Shape 33"/>
          <p:cNvSpPr/>
          <p:nvPr/>
        </p:nvSpPr>
        <p:spPr>
          <a:xfrm>
            <a:off x="8158277" y="4901184"/>
            <a:ext cx="3484778" cy="1353312"/>
          </a:xfrm>
          <a:prstGeom prst="roundRect">
            <a:avLst>
              <a:gd name="adj" fmla="val 4054"/>
            </a:avLst>
          </a:prstGeom>
          <a:solidFill>
            <a:srgbClr val="FFFFFF"/>
          </a:solidFill>
          <a:ln w="12700">
            <a:solidFill>
              <a:srgbClr val="DCD7D0"/>
            </a:solidFill>
            <a:prstDash val="solid"/>
          </a:ln>
        </p:spPr>
      </p:sp>
      <p:sp>
        <p:nvSpPr>
          <p:cNvPr id="36" name="Shape 34"/>
          <p:cNvSpPr/>
          <p:nvPr/>
        </p:nvSpPr>
        <p:spPr>
          <a:xfrm>
            <a:off x="8396021" y="5120640"/>
            <a:ext cx="384048" cy="384048"/>
          </a:xfrm>
          <a:prstGeom prst="ellipse">
            <a:avLst/>
          </a:prstGeom>
          <a:solidFill>
            <a:srgbClr val="F2A413"/>
          </a:solidFill>
          <a:ln/>
        </p:spPr>
      </p:sp>
      <p:sp>
        <p:nvSpPr>
          <p:cNvPr id="37" name="Text 35"/>
          <p:cNvSpPr txBox="1"/>
          <p:nvPr/>
        </p:nvSpPr>
        <p:spPr>
          <a:xfrm>
            <a:off x="8396021" y="5120640"/>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06</a:t>
            </a:r>
            <a:endParaRPr lang="en-US" sz="1100" dirty="0"/>
          </a:p>
        </p:txBody>
      </p:sp>
      <p:sp>
        <p:nvSpPr>
          <p:cNvPr id="38" name="Text 36"/>
          <p:cNvSpPr txBox="1"/>
          <p:nvPr/>
        </p:nvSpPr>
        <p:spPr>
          <a:xfrm>
            <a:off x="8889797" y="5157216"/>
            <a:ext cx="2515514" cy="310896"/>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Make compliance reviewable</a:t>
            </a:r>
            <a:endParaRPr lang="en-US" sz="1300" dirty="0"/>
          </a:p>
        </p:txBody>
      </p:sp>
      <p:sp>
        <p:nvSpPr>
          <p:cNvPr id="39" name="Text 37"/>
          <p:cNvSpPr txBox="1"/>
          <p:nvPr/>
        </p:nvSpPr>
        <p:spPr>
          <a:xfrm>
            <a:off x="8396021" y="5596128"/>
            <a:ext cx="3009290" cy="54864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Log every override and correction, and surface labor cost and punctuality analytics to management.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59775" y="914400"/>
            <a:ext cx="3383280" cy="3108960"/>
          </a:xfrm>
          <a:prstGeom prst="rect">
            <a:avLst/>
          </a:prstGeom>
          <a:noFill/>
          <a:ln/>
        </p:spPr>
        <p:txBody>
          <a:bodyPr wrap="square" lIns="0" tIns="0" rIns="0" bIns="0" rtlCol="0" anchor="ctr"/>
          <a:lstStyle/>
          <a:p>
            <a:pPr algn="r" indent="0" marL="0">
              <a:buNone/>
            </a:pPr>
            <a:r>
              <a:rPr lang="en-US" sz="16000" b="1" dirty="0">
                <a:solidFill>
                  <a:srgbClr val="2A3138"/>
                </a:solidFill>
                <a:latin typeface="Cambria" pitchFamily="34" charset="0"/>
                <a:ea typeface="Cambria" pitchFamily="34" charset="-122"/>
                <a:cs typeface="Cambria" pitchFamily="34" charset="-120"/>
              </a:rPr>
              <a:t>04</a:t>
            </a:r>
            <a:endParaRPr lang="en-US" sz="16000" dirty="0"/>
          </a:p>
        </p:txBody>
      </p:sp>
      <p:sp>
        <p:nvSpPr>
          <p:cNvPr id="3" name="Text 1"/>
          <p:cNvSpPr txBox="1"/>
          <p:nvPr/>
        </p:nvSpPr>
        <p:spPr>
          <a:xfrm>
            <a:off x="822960" y="2240280"/>
            <a:ext cx="6949440" cy="274320"/>
          </a:xfrm>
          <a:prstGeom prst="rect">
            <a:avLst/>
          </a:prstGeom>
          <a:noFill/>
          <a:ln/>
        </p:spPr>
        <p:txBody>
          <a:bodyPr wrap="square" lIns="0" tIns="0" rIns="0" bIns="0" rtlCol="0" anchor="ctr"/>
          <a:lstStyle/>
          <a:p>
            <a:pPr indent="0" marL="0">
              <a:buNone/>
            </a:pPr>
            <a:r>
              <a:rPr lang="en-US" sz="1200" b="1" spc="160" kern="0" dirty="0">
                <a:solidFill>
                  <a:srgbClr val="F2A413"/>
                </a:solidFill>
                <a:latin typeface="Calibri" pitchFamily="34" charset="0"/>
                <a:ea typeface="Calibri" pitchFamily="34" charset="-122"/>
                <a:cs typeface="Calibri" pitchFamily="34" charset="-120"/>
              </a:rPr>
              <a:t>SECTION 4</a:t>
            </a:r>
            <a:endParaRPr lang="en-US" sz="1200" dirty="0"/>
          </a:p>
        </p:txBody>
      </p:sp>
      <p:sp>
        <p:nvSpPr>
          <p:cNvPr id="4" name="Text 2"/>
          <p:cNvSpPr txBox="1"/>
          <p:nvPr/>
        </p:nvSpPr>
        <p:spPr>
          <a:xfrm>
            <a:off x="822960" y="2487168"/>
            <a:ext cx="7315200" cy="138988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Overview of the Solution</a:t>
            </a:r>
            <a:endParaRPr lang="en-US" sz="4000" dirty="0"/>
          </a:p>
        </p:txBody>
      </p:sp>
      <p:sp>
        <p:nvSpPr>
          <p:cNvPr id="5" name="Text 3"/>
          <p:cNvSpPr txBox="1"/>
          <p:nvPr/>
        </p:nvSpPr>
        <p:spPr>
          <a:xfrm>
            <a:off x="822960" y="3968496"/>
            <a:ext cx="6766560" cy="777240"/>
          </a:xfrm>
          <a:prstGeom prst="rect">
            <a:avLst/>
          </a:prstGeom>
          <a:noFill/>
          <a:ln/>
        </p:spPr>
        <p:txBody>
          <a:bodyPr wrap="square" lIns="0" tIns="0" rIns="0" bIns="0" rtlCol="0" anchor="ctr"/>
          <a:lstStyle/>
          <a:p>
            <a:pPr indent="0" marL="0">
              <a:buNone/>
            </a:pPr>
            <a:r>
              <a:rPr lang="en-US" sz="1500" dirty="0">
                <a:solidFill>
                  <a:srgbClr val="8A949D"/>
                </a:solidFill>
                <a:latin typeface="Calibri" pitchFamily="34" charset="0"/>
                <a:ea typeface="Calibri" pitchFamily="34" charset="-122"/>
                <a:cs typeface="Calibri" pitchFamily="34" charset="-120"/>
              </a:rPr>
              <a:t>What we are proposing to build, how it works end to end, and how each part answers a problem we just described.</a:t>
            </a:r>
            <a:endParaRPr lang="en-US" sz="1500" dirty="0"/>
          </a:p>
        </p:txBody>
      </p:sp>
      <p:sp>
        <p:nvSpPr>
          <p:cNvPr id="6" name="Shape 4"/>
          <p:cNvSpPr/>
          <p:nvPr/>
        </p:nvSpPr>
        <p:spPr>
          <a:xfrm>
            <a:off x="822960" y="4956048"/>
            <a:ext cx="310896" cy="310896"/>
          </a:xfrm>
          <a:prstGeom prst="ellipse">
            <a:avLst/>
          </a:prstGeom>
          <a:solidFill>
            <a:srgbClr val="F2A413"/>
          </a:solidFill>
          <a:ln/>
        </p:spPr>
      </p:sp>
      <p:sp>
        <p:nvSpPr>
          <p:cNvPr id="7" name="Text 5"/>
          <p:cNvSpPr txBox="1"/>
          <p:nvPr/>
        </p:nvSpPr>
        <p:spPr>
          <a:xfrm>
            <a:off x="1261872" y="4965192"/>
            <a:ext cx="6400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minutes</a:t>
            </a:r>
            <a:endParaRPr lang="en-US" sz="1300" dirty="0"/>
          </a:p>
        </p:txBody>
      </p:sp>
      <p:sp>
        <p:nvSpPr>
          <p:cNvPr id="8" name="Text 6"/>
          <p:cNvSpPr txBox="1"/>
          <p:nvPr/>
        </p:nvSpPr>
        <p:spPr>
          <a:xfrm>
            <a:off x="822960" y="5486400"/>
            <a:ext cx="1828800" cy="237744"/>
          </a:xfrm>
          <a:prstGeom prst="rect">
            <a:avLst/>
          </a:prstGeom>
          <a:noFill/>
          <a:ln/>
        </p:spPr>
        <p:txBody>
          <a:bodyPr wrap="square" lIns="0" tIns="0" rIns="0" bIns="0" rtlCol="0" anchor="ctr"/>
          <a:lstStyle/>
          <a:p>
            <a:pPr indent="0" marL="0">
              <a:buNone/>
            </a:pPr>
            <a:r>
              <a:rPr lang="en-US" sz="1000" b="1" spc="120" kern="0" dirty="0">
                <a:solidFill>
                  <a:srgbClr val="8A949D"/>
                </a:solidFill>
                <a:latin typeface="Calibri" pitchFamily="34" charset="0"/>
                <a:ea typeface="Calibri" pitchFamily="34" charset="-122"/>
                <a:cs typeface="Calibri" pitchFamily="34" charset="-120"/>
              </a:rPr>
              <a:t>Presented by</a:t>
            </a:r>
            <a:endParaRPr lang="en-US" sz="1000" dirty="0"/>
          </a:p>
        </p:txBody>
      </p:sp>
      <p:sp>
        <p:nvSpPr>
          <p:cNvPr id="9" name="Text 7"/>
          <p:cNvSpPr txBox="1"/>
          <p:nvPr/>
        </p:nvSpPr>
        <p:spPr>
          <a:xfrm>
            <a:off x="822960" y="5742432"/>
            <a:ext cx="6766560" cy="292608"/>
          </a:xfrm>
          <a:prstGeom prst="rect">
            <a:avLst/>
          </a:prstGeom>
          <a:noFill/>
          <a:ln/>
        </p:spPr>
        <p:txBody>
          <a:bodyPr wrap="square" lIns="0" tIns="0" rIns="0" bIns="0" rtlCol="0" anchor="ctr"/>
          <a:lstStyle/>
          <a:p>
            <a:pPr indent="0" marL="0">
              <a:buNone/>
            </a:pPr>
            <a:r>
              <a:rPr lang="en-US" sz="1400" b="1" dirty="0">
                <a:solidFill>
                  <a:srgbClr val="F2A413"/>
                </a:solidFill>
                <a:latin typeface="Calibri" pitchFamily="34" charset="0"/>
                <a:ea typeface="Calibri" pitchFamily="34" charset="-122"/>
                <a:cs typeface="Calibri" pitchFamily="34" charset="-120"/>
              </a:rPr>
              <a:t>Liza Mae C. Sugala  —  Systems Analyst</a:t>
            </a:r>
            <a:endParaRPr lang="en-US" sz="1400" dirty="0"/>
          </a:p>
        </p:txBody>
      </p:sp>
      <p:sp>
        <p:nvSpPr>
          <p:cNvPr id="10" name="Text 8"/>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08</a:t>
            </a:r>
            <a:endParaRPr lang="en-US" sz="900" dirty="0"/>
          </a:p>
        </p:txBody>
      </p:sp>
      <p:sp>
        <p:nvSpPr>
          <p:cNvPr id="11" name="Text 9"/>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OVERVIEW OF THE SOLUTION</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What the Proposed System Is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09</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Text 4"/>
          <p:cNvSpPr txBox="1"/>
          <p:nvPr/>
        </p:nvSpPr>
        <p:spPr>
          <a:xfrm>
            <a:off x="548640" y="1325880"/>
            <a:ext cx="5623560" cy="1143000"/>
          </a:xfrm>
          <a:prstGeom prst="rect">
            <a:avLst/>
          </a:prstGeom>
          <a:noFill/>
          <a:ln/>
        </p:spPr>
        <p:txBody>
          <a:bodyPr wrap="square" lIns="0" tIns="0" rIns="0" bIns="0" rtlCol="0" anchor="t"/>
          <a:lstStyle/>
          <a:p>
            <a:pPr algn="l" indent="0" marL="0">
              <a:lnSpc>
                <a:spcPct val="112000"/>
              </a:lnSpc>
              <a:buNone/>
            </a:pPr>
            <a:r>
              <a:rPr lang="en-US" sz="1350" dirty="0">
                <a:solidFill>
                  <a:srgbClr val="2A3138"/>
                </a:solidFill>
                <a:latin typeface="Calibri" pitchFamily="34" charset="0"/>
                <a:ea typeface="Calibri" pitchFamily="34" charset="-122"/>
                <a:cs typeface="Calibri" pitchFamily="34" charset="-120"/>
              </a:rPr>
              <a:t>HRIS is a centralized web-based information system for HR and payroll, with a companion mobile application that records crew attendance at the site itself, with or without a connection.</a:t>
            </a:r>
            <a:endParaRPr lang="en-US" sz="1350" dirty="0"/>
          </a:p>
        </p:txBody>
      </p:sp>
      <p:sp>
        <p:nvSpPr>
          <p:cNvPr id="7" name="Text 5"/>
          <p:cNvSpPr txBox="1"/>
          <p:nvPr/>
        </p:nvSpPr>
        <p:spPr>
          <a:xfrm>
            <a:off x="548640" y="2578608"/>
            <a:ext cx="562356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THE IDEA IN ONE LINE</a:t>
            </a:r>
            <a:endParaRPr lang="en-US" sz="1050" dirty="0"/>
          </a:p>
        </p:txBody>
      </p:sp>
      <p:sp>
        <p:nvSpPr>
          <p:cNvPr id="8" name="Shape 6"/>
          <p:cNvSpPr/>
          <p:nvPr/>
        </p:nvSpPr>
        <p:spPr>
          <a:xfrm>
            <a:off x="548640" y="2852928"/>
            <a:ext cx="5623560" cy="1051560"/>
          </a:xfrm>
          <a:prstGeom prst="roundRect">
            <a:avLst>
              <a:gd name="adj" fmla="val 5217"/>
            </a:avLst>
          </a:prstGeom>
          <a:solidFill>
            <a:srgbClr val="FDF1DA"/>
          </a:solidFill>
          <a:ln/>
        </p:spPr>
      </p:sp>
      <p:sp>
        <p:nvSpPr>
          <p:cNvPr id="9" name="Text 7"/>
          <p:cNvSpPr txBox="1"/>
          <p:nvPr/>
        </p:nvSpPr>
        <p:spPr>
          <a:xfrm>
            <a:off x="822960" y="3035808"/>
            <a:ext cx="5074920" cy="713232"/>
          </a:xfrm>
          <a:prstGeom prst="rect">
            <a:avLst/>
          </a:prstGeom>
          <a:noFill/>
          <a:ln/>
        </p:spPr>
        <p:txBody>
          <a:bodyPr wrap="square" lIns="0" tIns="0" rIns="0" bIns="0" rtlCol="0" anchor="t"/>
          <a:lstStyle/>
          <a:p>
            <a:pPr algn="l" indent="0" marL="0">
              <a:lnSpc>
                <a:spcPct val="110000"/>
              </a:lnSpc>
              <a:buNone/>
            </a:pPr>
            <a:r>
              <a:rPr lang="en-US" sz="1300" dirty="0">
                <a:solidFill>
                  <a:srgbClr val="16191D"/>
                </a:solidFill>
                <a:latin typeface="Calibri" pitchFamily="34" charset="0"/>
                <a:ea typeface="Calibri" pitchFamily="34" charset="-122"/>
                <a:cs typeface="Calibri" pitchFamily="34" charset="-120"/>
              </a:rPr>
              <a:t>Capture attendance once, at the source, in a form that can later be proven unaltered, and let everything downstream compute itself from that single verified record.</a:t>
            </a:r>
            <a:endParaRPr lang="en-US" sz="1300" dirty="0"/>
          </a:p>
        </p:txBody>
      </p:sp>
      <p:sp>
        <p:nvSpPr>
          <p:cNvPr id="10" name="Text 8"/>
          <p:cNvSpPr txBox="1"/>
          <p:nvPr/>
        </p:nvSpPr>
        <p:spPr>
          <a:xfrm>
            <a:off x="548640" y="4133088"/>
            <a:ext cx="562356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THREE THINGS THAT MAKE IT WORK</a:t>
            </a:r>
            <a:endParaRPr lang="en-US" sz="1050" dirty="0"/>
          </a:p>
        </p:txBody>
      </p:sp>
      <p:sp>
        <p:nvSpPr>
          <p:cNvPr id="11" name="Text 9"/>
          <p:cNvSpPr txBox="1"/>
          <p:nvPr/>
        </p:nvSpPr>
        <p:spPr>
          <a:xfrm>
            <a:off x="548640" y="4434840"/>
            <a:ext cx="5623560" cy="160020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200" dirty="0">
                <a:solidFill>
                  <a:srgbClr val="5A656F"/>
                </a:solidFill>
                <a:latin typeface="Calibri" pitchFamily="34" charset="0"/>
                <a:ea typeface="Calibri" pitchFamily="34" charset="-122"/>
                <a:cs typeface="Calibri" pitchFamily="34" charset="-120"/>
              </a:rPr>
              <a:t>Offline-first: the mobile app writes to an encrypted local database, never to the network.</a:t>
            </a:r>
            <a:endParaRPr lang="en-US" sz="1200" dirty="0"/>
          </a:p>
          <a:p>
            <a:pPr marL="342900" indent="-342900">
              <a:lnSpc>
                <a:spcPct val="105000"/>
              </a:lnSpc>
              <a:spcAft>
                <a:spcPts val="900"/>
              </a:spcAft>
              <a:buSzPct val="100000"/>
              <a:buChar char="▪"/>
            </a:pPr>
            <a:r>
              <a:rPr lang="en-US" sz="1200" dirty="0">
                <a:solidFill>
                  <a:srgbClr val="5A656F"/>
                </a:solidFill>
                <a:latin typeface="Calibri" pitchFamily="34" charset="0"/>
                <a:ea typeface="Calibri" pitchFamily="34" charset="-122"/>
                <a:cs typeface="Calibri" pitchFamily="34" charset="-120"/>
              </a:rPr>
              <a:t>Tamper-evident: each record is time-anchored, hash-chained and signed inside the phone's security chip.</a:t>
            </a:r>
            <a:endParaRPr lang="en-US" sz="1200" dirty="0"/>
          </a:p>
          <a:p>
            <a:pPr marL="342900" indent="-342900">
              <a:lnSpc>
                <a:spcPct val="105000"/>
              </a:lnSpc>
              <a:spcAft>
                <a:spcPts val="900"/>
              </a:spcAft>
              <a:buSzPct val="100000"/>
              <a:buChar char="▪"/>
            </a:pPr>
            <a:r>
              <a:rPr lang="en-US" sz="1200" dirty="0">
                <a:solidFill>
                  <a:srgbClr val="5A656F"/>
                </a:solidFill>
                <a:latin typeface="Calibri" pitchFamily="34" charset="0"/>
                <a:ea typeface="Calibri" pitchFamily="34" charset="-122"/>
                <a:cs typeface="Calibri" pitchFamily="34" charset="-120"/>
              </a:rPr>
              <a:t>Single source of truth: payroll, leave, analytics and audit all read the same verified attendance rows.</a:t>
            </a:r>
            <a:endParaRPr lang="en-US" sz="1200" dirty="0"/>
          </a:p>
        </p:txBody>
      </p:sp>
      <p:sp>
        <p:nvSpPr>
          <p:cNvPr id="12" name="Text 10"/>
          <p:cNvSpPr txBox="1"/>
          <p:nvPr/>
        </p:nvSpPr>
        <p:spPr>
          <a:xfrm>
            <a:off x="6537960" y="1325880"/>
            <a:ext cx="5105095"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HOW IT GENERALLY WORKS</a:t>
            </a:r>
            <a:endParaRPr lang="en-US" sz="1050" dirty="0"/>
          </a:p>
        </p:txBody>
      </p:sp>
      <p:sp>
        <p:nvSpPr>
          <p:cNvPr id="13" name="Shape 11"/>
          <p:cNvSpPr/>
          <p:nvPr/>
        </p:nvSpPr>
        <p:spPr>
          <a:xfrm>
            <a:off x="6537960" y="1627632"/>
            <a:ext cx="5105095" cy="914400"/>
          </a:xfrm>
          <a:prstGeom prst="roundRect">
            <a:avLst>
              <a:gd name="adj" fmla="val 6000"/>
            </a:avLst>
          </a:prstGeom>
          <a:solidFill>
            <a:srgbClr val="F2A413"/>
          </a:solidFill>
          <a:ln/>
        </p:spPr>
      </p:sp>
      <p:sp>
        <p:nvSpPr>
          <p:cNvPr id="14" name="Text 12"/>
          <p:cNvSpPr txBox="1"/>
          <p:nvPr/>
        </p:nvSpPr>
        <p:spPr>
          <a:xfrm>
            <a:off x="6793992" y="1764792"/>
            <a:ext cx="4593031" cy="256032"/>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Site Foreman - Mobile App</a:t>
            </a:r>
            <a:endParaRPr lang="en-US" sz="1300" dirty="0"/>
          </a:p>
        </p:txBody>
      </p:sp>
      <p:sp>
        <p:nvSpPr>
          <p:cNvPr id="15" name="Text 13"/>
          <p:cNvSpPr txBox="1"/>
          <p:nvPr/>
        </p:nvSpPr>
        <p:spPr>
          <a:xfrm>
            <a:off x="6793992" y="2048256"/>
            <a:ext cx="4593031" cy="420624"/>
          </a:xfrm>
          <a:prstGeom prst="rect">
            <a:avLst/>
          </a:prstGeom>
          <a:noFill/>
          <a:ln/>
        </p:spPr>
        <p:txBody>
          <a:bodyPr wrap="square" lIns="0" tIns="0" rIns="0" bIns="0" rtlCol="0" anchor="t"/>
          <a:lstStyle/>
          <a:p>
            <a:pPr algn="l" indent="0" marL="0">
              <a:lnSpc>
                <a:spcPct val="108000"/>
              </a:lnSpc>
              <a:buNone/>
            </a:pPr>
            <a:r>
              <a:rPr lang="en-US" sz="1000" dirty="0">
                <a:solidFill>
                  <a:srgbClr val="9C6A08"/>
                </a:solidFill>
                <a:latin typeface="Calibri" pitchFamily="34" charset="0"/>
                <a:ea typeface="Calibri" pitchFamily="34" charset="-122"/>
                <a:cs typeface="Calibri" pitchFamily="34" charset="-120"/>
              </a:rPr>
              <a:t>React Native. Taps Present / Late / Absent. Writes to encrypted SQLite on the device.</a:t>
            </a:r>
            <a:endParaRPr lang="en-US" sz="1000" dirty="0"/>
          </a:p>
        </p:txBody>
      </p:sp>
      <p:sp>
        <p:nvSpPr>
          <p:cNvPr id="16" name="Shape 14"/>
          <p:cNvSpPr/>
          <p:nvPr/>
        </p:nvSpPr>
        <p:spPr>
          <a:xfrm>
            <a:off x="9090508" y="2578608"/>
            <a:ext cx="0" cy="219456"/>
          </a:xfrm>
          <a:prstGeom prst="line">
            <a:avLst/>
          </a:prstGeom>
          <a:noFill/>
          <a:ln w="25400">
            <a:solidFill>
              <a:srgbClr val="F2A413"/>
            </a:solidFill>
            <a:prstDash val="solid"/>
            <a:tailEnd type="triangle"/>
          </a:ln>
        </p:spPr>
      </p:sp>
      <p:sp>
        <p:nvSpPr>
          <p:cNvPr id="17" name="Shape 15"/>
          <p:cNvSpPr/>
          <p:nvPr/>
        </p:nvSpPr>
        <p:spPr>
          <a:xfrm>
            <a:off x="6537960" y="2834640"/>
            <a:ext cx="5105095" cy="914400"/>
          </a:xfrm>
          <a:prstGeom prst="roundRect">
            <a:avLst>
              <a:gd name="adj" fmla="val 6000"/>
            </a:avLst>
          </a:prstGeom>
          <a:solidFill>
            <a:srgbClr val="2A3138"/>
          </a:solidFill>
          <a:ln/>
        </p:spPr>
      </p:sp>
      <p:sp>
        <p:nvSpPr>
          <p:cNvPr id="18" name="Text 16"/>
          <p:cNvSpPr txBox="1"/>
          <p:nvPr/>
        </p:nvSpPr>
        <p:spPr>
          <a:xfrm>
            <a:off x="6793992" y="2971800"/>
            <a:ext cx="4593031"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Laravel API - Verification</a:t>
            </a:r>
            <a:endParaRPr lang="en-US" sz="1300" dirty="0"/>
          </a:p>
        </p:txBody>
      </p:sp>
      <p:sp>
        <p:nvSpPr>
          <p:cNvPr id="19" name="Text 17"/>
          <p:cNvSpPr txBox="1"/>
          <p:nvPr/>
        </p:nvSpPr>
        <p:spPr>
          <a:xfrm>
            <a:off x="6793992" y="3255264"/>
            <a:ext cx="4593031" cy="420624"/>
          </a:xfrm>
          <a:prstGeom prst="rect">
            <a:avLst/>
          </a:prstGeom>
          <a:noFill/>
          <a:ln/>
        </p:spPr>
        <p:txBody>
          <a:bodyPr wrap="square" lIns="0" tIns="0" rIns="0" bIns="0" rtlCol="0" anchor="t"/>
          <a:lstStyle/>
          <a:p>
            <a:pPr algn="l" indent="0" marL="0">
              <a:lnSpc>
                <a:spcPct val="108000"/>
              </a:lnSpc>
              <a:buNone/>
            </a:pPr>
            <a:r>
              <a:rPr lang="en-US" sz="1000" dirty="0">
                <a:solidFill>
                  <a:srgbClr val="8A949D"/>
                </a:solidFill>
                <a:latin typeface="Calibri" pitchFamily="34" charset="0"/>
                <a:ea typeface="Calibri" pitchFamily="34" charset="-122"/>
                <a:cs typeface="Calibri" pitchFamily="34" charset="-120"/>
              </a:rPr>
              <a:t>Re-computes the hash chain and checks the ECDSA signature before anything is accepted.</a:t>
            </a:r>
            <a:endParaRPr lang="en-US" sz="1000" dirty="0"/>
          </a:p>
        </p:txBody>
      </p:sp>
      <p:sp>
        <p:nvSpPr>
          <p:cNvPr id="20" name="Shape 18"/>
          <p:cNvSpPr/>
          <p:nvPr/>
        </p:nvSpPr>
        <p:spPr>
          <a:xfrm>
            <a:off x="9090508" y="3785616"/>
            <a:ext cx="0" cy="219456"/>
          </a:xfrm>
          <a:prstGeom prst="line">
            <a:avLst/>
          </a:prstGeom>
          <a:noFill/>
          <a:ln w="25400">
            <a:solidFill>
              <a:srgbClr val="F2A413"/>
            </a:solidFill>
            <a:prstDash val="solid"/>
            <a:tailEnd type="triangle"/>
          </a:ln>
        </p:spPr>
      </p:sp>
      <p:sp>
        <p:nvSpPr>
          <p:cNvPr id="21" name="Shape 19"/>
          <p:cNvSpPr/>
          <p:nvPr/>
        </p:nvSpPr>
        <p:spPr>
          <a:xfrm>
            <a:off x="6537960" y="4041648"/>
            <a:ext cx="5105095" cy="914400"/>
          </a:xfrm>
          <a:prstGeom prst="roundRect">
            <a:avLst>
              <a:gd name="adj" fmla="val 6000"/>
            </a:avLst>
          </a:prstGeom>
          <a:solidFill>
            <a:srgbClr val="2A3138"/>
          </a:solidFill>
          <a:ln/>
        </p:spPr>
      </p:sp>
      <p:sp>
        <p:nvSpPr>
          <p:cNvPr id="22" name="Text 20"/>
          <p:cNvSpPr txBox="1"/>
          <p:nvPr/>
        </p:nvSpPr>
        <p:spPr>
          <a:xfrm>
            <a:off x="6793992" y="4178808"/>
            <a:ext cx="4593031"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MySQL 8.0 - Central Records</a:t>
            </a:r>
            <a:endParaRPr lang="en-US" sz="1300" dirty="0"/>
          </a:p>
        </p:txBody>
      </p:sp>
      <p:sp>
        <p:nvSpPr>
          <p:cNvPr id="23" name="Text 21"/>
          <p:cNvSpPr txBox="1"/>
          <p:nvPr/>
        </p:nvSpPr>
        <p:spPr>
          <a:xfrm>
            <a:off x="6793992" y="4462272"/>
            <a:ext cx="4593031" cy="420624"/>
          </a:xfrm>
          <a:prstGeom prst="rect">
            <a:avLst/>
          </a:prstGeom>
          <a:noFill/>
          <a:ln/>
        </p:spPr>
        <p:txBody>
          <a:bodyPr wrap="square" lIns="0" tIns="0" rIns="0" bIns="0" rtlCol="0" anchor="t"/>
          <a:lstStyle/>
          <a:p>
            <a:pPr algn="l" indent="0" marL="0">
              <a:lnSpc>
                <a:spcPct val="108000"/>
              </a:lnSpc>
              <a:buNone/>
            </a:pPr>
            <a:r>
              <a:rPr lang="en-US" sz="1000" dirty="0">
                <a:solidFill>
                  <a:srgbClr val="8A949D"/>
                </a:solidFill>
                <a:latin typeface="Calibri" pitchFamily="34" charset="0"/>
                <a:ea typeface="Calibri" pitchFamily="34" charset="-122"/>
                <a:cs typeface="Calibri" pitchFamily="34" charset="-120"/>
              </a:rPr>
              <a:t>Thirteen-table schema: employees, crews, attendance, signatures, payroll, audit log.</a:t>
            </a:r>
            <a:endParaRPr lang="en-US" sz="1000" dirty="0"/>
          </a:p>
        </p:txBody>
      </p:sp>
      <p:sp>
        <p:nvSpPr>
          <p:cNvPr id="24" name="Shape 22"/>
          <p:cNvSpPr/>
          <p:nvPr/>
        </p:nvSpPr>
        <p:spPr>
          <a:xfrm>
            <a:off x="9090508" y="4992624"/>
            <a:ext cx="0" cy="219456"/>
          </a:xfrm>
          <a:prstGeom prst="line">
            <a:avLst/>
          </a:prstGeom>
          <a:noFill/>
          <a:ln w="25400">
            <a:solidFill>
              <a:srgbClr val="F2A413"/>
            </a:solidFill>
            <a:prstDash val="solid"/>
            <a:tailEnd type="triangle"/>
          </a:ln>
        </p:spPr>
      </p:sp>
      <p:sp>
        <p:nvSpPr>
          <p:cNvPr id="25" name="Shape 23"/>
          <p:cNvSpPr/>
          <p:nvPr/>
        </p:nvSpPr>
        <p:spPr>
          <a:xfrm>
            <a:off x="6537960" y="5248656"/>
            <a:ext cx="5105095" cy="914400"/>
          </a:xfrm>
          <a:prstGeom prst="roundRect">
            <a:avLst>
              <a:gd name="adj" fmla="val 6000"/>
            </a:avLst>
          </a:prstGeom>
          <a:solidFill>
            <a:srgbClr val="2A3138"/>
          </a:solidFill>
          <a:ln/>
        </p:spPr>
      </p:sp>
      <p:sp>
        <p:nvSpPr>
          <p:cNvPr id="26" name="Text 24"/>
          <p:cNvSpPr txBox="1"/>
          <p:nvPr/>
        </p:nvSpPr>
        <p:spPr>
          <a:xfrm>
            <a:off x="6793992" y="5385816"/>
            <a:ext cx="4593031" cy="256032"/>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React Web Portal</a:t>
            </a:r>
            <a:endParaRPr lang="en-US" sz="1300" dirty="0"/>
          </a:p>
        </p:txBody>
      </p:sp>
      <p:sp>
        <p:nvSpPr>
          <p:cNvPr id="27" name="Text 25"/>
          <p:cNvSpPr txBox="1"/>
          <p:nvPr/>
        </p:nvSpPr>
        <p:spPr>
          <a:xfrm>
            <a:off x="6793992" y="5669280"/>
            <a:ext cx="4593031" cy="420624"/>
          </a:xfrm>
          <a:prstGeom prst="rect">
            <a:avLst/>
          </a:prstGeom>
          <a:noFill/>
          <a:ln/>
        </p:spPr>
        <p:txBody>
          <a:bodyPr wrap="square" lIns="0" tIns="0" rIns="0" bIns="0" rtlCol="0" anchor="t"/>
          <a:lstStyle/>
          <a:p>
            <a:pPr algn="l" indent="0" marL="0">
              <a:lnSpc>
                <a:spcPct val="108000"/>
              </a:lnSpc>
              <a:buNone/>
            </a:pPr>
            <a:r>
              <a:rPr lang="en-US" sz="1000" dirty="0">
                <a:solidFill>
                  <a:srgbClr val="8A949D"/>
                </a:solidFill>
                <a:latin typeface="Calibri" pitchFamily="34" charset="0"/>
                <a:ea typeface="Calibri" pitchFamily="34" charset="-122"/>
                <a:cs typeface="Calibri" pitchFamily="34" charset="-120"/>
              </a:rPr>
              <a:t>HR, Site Engineers, Administrators and Executives work from the verified record.</a:t>
            </a:r>
            <a:endParaRPr lang="en-US" sz="1000" dirty="0"/>
          </a:p>
        </p:txBody>
      </p:sp>
      <p:sp>
        <p:nvSpPr>
          <p:cNvPr id="28" name="Text 26"/>
          <p:cNvSpPr txBox="1"/>
          <p:nvPr/>
        </p:nvSpPr>
        <p:spPr>
          <a:xfrm>
            <a:off x="548640" y="6144768"/>
            <a:ext cx="5623560" cy="274320"/>
          </a:xfrm>
          <a:prstGeom prst="rect">
            <a:avLst/>
          </a:prstGeom>
          <a:noFill/>
          <a:ln/>
        </p:spPr>
        <p:txBody>
          <a:bodyPr wrap="square" lIns="0" tIns="0" rIns="0" bIns="0" rtlCol="0" anchor="t"/>
          <a:lstStyle/>
          <a:p>
            <a:pPr algn="l" indent="0" marL="0">
              <a:lnSpc>
                <a:spcPct val="108000"/>
              </a:lnSpc>
              <a:buNone/>
            </a:pPr>
            <a:r>
              <a:rPr lang="en-US" sz="1000" dirty="0">
                <a:solidFill>
                  <a:srgbClr val="8A949D"/>
                </a:solidFill>
                <a:latin typeface="Calibri" pitchFamily="34" charset="0"/>
                <a:ea typeface="Calibri" pitchFamily="34" charset="-122"/>
                <a:cs typeface="Calibri" pitchFamily="34" charset="-120"/>
              </a:rPr>
              <a:t>Data only ever moves upward after it has been signed on the device.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OVERVIEW OF THE SOLUTION</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Who Uses It, and How They Interact</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10</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Shape 4"/>
          <p:cNvSpPr/>
          <p:nvPr/>
        </p:nvSpPr>
        <p:spPr>
          <a:xfrm>
            <a:off x="548640" y="1335024"/>
            <a:ext cx="11094415" cy="822960"/>
          </a:xfrm>
          <a:prstGeom prst="roundRect">
            <a:avLst>
              <a:gd name="adj" fmla="val 6667"/>
            </a:avLst>
          </a:prstGeom>
          <a:solidFill>
            <a:srgbClr val="FFFFFF"/>
          </a:solidFill>
          <a:ln w="12700">
            <a:solidFill>
              <a:srgbClr val="DCD7D0"/>
            </a:solidFill>
            <a:prstDash val="solid"/>
          </a:ln>
        </p:spPr>
      </p:sp>
      <p:sp>
        <p:nvSpPr>
          <p:cNvPr id="7" name="Shape 5"/>
          <p:cNvSpPr/>
          <p:nvPr/>
        </p:nvSpPr>
        <p:spPr>
          <a:xfrm>
            <a:off x="804672" y="1554480"/>
            <a:ext cx="384048" cy="384048"/>
          </a:xfrm>
          <a:prstGeom prst="ellipse">
            <a:avLst/>
          </a:prstGeom>
          <a:solidFill>
            <a:srgbClr val="F2A413"/>
          </a:solidFill>
          <a:ln/>
        </p:spPr>
      </p:sp>
      <p:sp>
        <p:nvSpPr>
          <p:cNvPr id="8" name="Text 6"/>
          <p:cNvSpPr txBox="1"/>
          <p:nvPr/>
        </p:nvSpPr>
        <p:spPr>
          <a:xfrm>
            <a:off x="804672" y="1554480"/>
            <a:ext cx="384048" cy="384048"/>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335024" y="1490472"/>
            <a:ext cx="3017520" cy="292608"/>
          </a:xfrm>
          <a:prstGeom prst="rect">
            <a:avLst/>
          </a:prstGeom>
          <a:noFill/>
          <a:ln/>
        </p:spPr>
        <p:txBody>
          <a:bodyPr wrap="square" lIns="0" tIns="0" rIns="0" bIns="0" rtlCol="0" anchor="ctr"/>
          <a:lstStyle/>
          <a:p>
            <a:pPr indent="0" marL="0">
              <a:buNone/>
            </a:pPr>
            <a:r>
              <a:rPr lang="en-US" sz="1350" b="1" dirty="0">
                <a:solidFill>
                  <a:srgbClr val="16191D"/>
                </a:solidFill>
                <a:latin typeface="Calibri" pitchFamily="34" charset="0"/>
                <a:ea typeface="Calibri" pitchFamily="34" charset="-122"/>
                <a:cs typeface="Calibri" pitchFamily="34" charset="-120"/>
              </a:rPr>
              <a:t>Site Foreman</a:t>
            </a:r>
            <a:endParaRPr lang="en-US" sz="1350" dirty="0"/>
          </a:p>
        </p:txBody>
      </p:sp>
      <p:sp>
        <p:nvSpPr>
          <p:cNvPr id="10" name="Shape 8"/>
          <p:cNvSpPr/>
          <p:nvPr/>
        </p:nvSpPr>
        <p:spPr>
          <a:xfrm>
            <a:off x="4480560" y="1618488"/>
            <a:ext cx="786384" cy="256032"/>
          </a:xfrm>
          <a:prstGeom prst="roundRect">
            <a:avLst>
              <a:gd name="adj" fmla="val 42857"/>
            </a:avLst>
          </a:prstGeom>
          <a:solidFill>
            <a:srgbClr val="F2A413"/>
          </a:solidFill>
          <a:ln/>
        </p:spPr>
      </p:sp>
      <p:sp>
        <p:nvSpPr>
          <p:cNvPr id="11" name="Text 9"/>
          <p:cNvSpPr txBox="1"/>
          <p:nvPr/>
        </p:nvSpPr>
        <p:spPr>
          <a:xfrm>
            <a:off x="4480560" y="1618488"/>
            <a:ext cx="786384" cy="256032"/>
          </a:xfrm>
          <a:prstGeom prst="rect">
            <a:avLst/>
          </a:prstGeom>
          <a:noFill/>
          <a:ln/>
        </p:spPr>
        <p:txBody>
          <a:bodyPr wrap="square" lIns="0" tIns="0" rIns="0" bIns="0" rtlCol="0" anchor="ctr"/>
          <a:lstStyle/>
          <a:p>
            <a:pPr algn="ctr" indent="0" marL="0">
              <a:buNone/>
            </a:pPr>
            <a:r>
              <a:rPr lang="en-US" sz="950" b="1" dirty="0">
                <a:solidFill>
                  <a:srgbClr val="16191D"/>
                </a:solidFill>
                <a:latin typeface="Calibri" pitchFamily="34" charset="0"/>
                <a:ea typeface="Calibri" pitchFamily="34" charset="-122"/>
                <a:cs typeface="Calibri" pitchFamily="34" charset="-120"/>
              </a:rPr>
              <a:t>MOBILE</a:t>
            </a:r>
            <a:endParaRPr lang="en-US" sz="950" dirty="0"/>
          </a:p>
        </p:txBody>
      </p:sp>
      <p:sp>
        <p:nvSpPr>
          <p:cNvPr id="12" name="Text 10"/>
          <p:cNvSpPr txBox="1"/>
          <p:nvPr/>
        </p:nvSpPr>
        <p:spPr>
          <a:xfrm>
            <a:off x="5440680" y="1517904"/>
            <a:ext cx="5928055" cy="512064"/>
          </a:xfrm>
          <a:prstGeom prst="rect">
            <a:avLst/>
          </a:prstGeom>
          <a:noFill/>
          <a:ln/>
        </p:spPr>
        <p:txBody>
          <a:bodyPr wrap="square" lIns="0" tIns="0" rIns="0" bIns="0" rtlCol="0" anchor="ctr"/>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Opens the app at the site, taps Present / Late / Absent for each worker on the crew roster, then closes it. No typing, no signal needed.</a:t>
            </a:r>
            <a:endParaRPr lang="en-US" sz="1100" dirty="0"/>
          </a:p>
        </p:txBody>
      </p:sp>
      <p:sp>
        <p:nvSpPr>
          <p:cNvPr id="13" name="Shape 11"/>
          <p:cNvSpPr/>
          <p:nvPr/>
        </p:nvSpPr>
        <p:spPr>
          <a:xfrm>
            <a:off x="548640" y="2249424"/>
            <a:ext cx="11094415" cy="822960"/>
          </a:xfrm>
          <a:prstGeom prst="roundRect">
            <a:avLst>
              <a:gd name="adj" fmla="val 6667"/>
            </a:avLst>
          </a:prstGeom>
          <a:solidFill>
            <a:srgbClr val="FFFFFF"/>
          </a:solidFill>
          <a:ln w="12700">
            <a:solidFill>
              <a:srgbClr val="DCD7D0"/>
            </a:solidFill>
            <a:prstDash val="solid"/>
          </a:ln>
        </p:spPr>
      </p:sp>
      <p:sp>
        <p:nvSpPr>
          <p:cNvPr id="14" name="Shape 12"/>
          <p:cNvSpPr/>
          <p:nvPr/>
        </p:nvSpPr>
        <p:spPr>
          <a:xfrm>
            <a:off x="804672" y="2468880"/>
            <a:ext cx="384048" cy="384048"/>
          </a:xfrm>
          <a:prstGeom prst="ellipse">
            <a:avLst/>
          </a:prstGeom>
          <a:solidFill>
            <a:srgbClr val="F2A413"/>
          </a:solidFill>
          <a:ln/>
        </p:spPr>
      </p:sp>
      <p:sp>
        <p:nvSpPr>
          <p:cNvPr id="15" name="Text 13"/>
          <p:cNvSpPr txBox="1"/>
          <p:nvPr/>
        </p:nvSpPr>
        <p:spPr>
          <a:xfrm>
            <a:off x="804672" y="2468880"/>
            <a:ext cx="384048" cy="384048"/>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2</a:t>
            </a:r>
            <a:endParaRPr lang="en-US" sz="1200" dirty="0"/>
          </a:p>
        </p:txBody>
      </p:sp>
      <p:sp>
        <p:nvSpPr>
          <p:cNvPr id="16" name="Text 14"/>
          <p:cNvSpPr txBox="1"/>
          <p:nvPr/>
        </p:nvSpPr>
        <p:spPr>
          <a:xfrm>
            <a:off x="1335024" y="2404872"/>
            <a:ext cx="3017520" cy="292608"/>
          </a:xfrm>
          <a:prstGeom prst="rect">
            <a:avLst/>
          </a:prstGeom>
          <a:noFill/>
          <a:ln/>
        </p:spPr>
        <p:txBody>
          <a:bodyPr wrap="square" lIns="0" tIns="0" rIns="0" bIns="0" rtlCol="0" anchor="ctr"/>
          <a:lstStyle/>
          <a:p>
            <a:pPr indent="0" marL="0">
              <a:buNone/>
            </a:pPr>
            <a:r>
              <a:rPr lang="en-US" sz="1350" b="1" dirty="0">
                <a:solidFill>
                  <a:srgbClr val="16191D"/>
                </a:solidFill>
                <a:latin typeface="Calibri" pitchFamily="34" charset="0"/>
                <a:ea typeface="Calibri" pitchFamily="34" charset="-122"/>
                <a:cs typeface="Calibri" pitchFamily="34" charset="-120"/>
              </a:rPr>
              <a:t>HR Personnel</a:t>
            </a:r>
            <a:endParaRPr lang="en-US" sz="1350" dirty="0"/>
          </a:p>
        </p:txBody>
      </p:sp>
      <p:sp>
        <p:nvSpPr>
          <p:cNvPr id="17" name="Shape 15"/>
          <p:cNvSpPr/>
          <p:nvPr/>
        </p:nvSpPr>
        <p:spPr>
          <a:xfrm>
            <a:off x="4480560" y="2532888"/>
            <a:ext cx="786384" cy="256032"/>
          </a:xfrm>
          <a:prstGeom prst="roundRect">
            <a:avLst>
              <a:gd name="adj" fmla="val 42857"/>
            </a:avLst>
          </a:prstGeom>
          <a:solidFill>
            <a:srgbClr val="2A3138"/>
          </a:solidFill>
          <a:ln/>
        </p:spPr>
      </p:sp>
      <p:sp>
        <p:nvSpPr>
          <p:cNvPr id="18" name="Text 16"/>
          <p:cNvSpPr txBox="1"/>
          <p:nvPr/>
        </p:nvSpPr>
        <p:spPr>
          <a:xfrm>
            <a:off x="4480560" y="2532888"/>
            <a:ext cx="78638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WEB</a:t>
            </a:r>
            <a:endParaRPr lang="en-US" sz="950" dirty="0"/>
          </a:p>
        </p:txBody>
      </p:sp>
      <p:sp>
        <p:nvSpPr>
          <p:cNvPr id="19" name="Text 17"/>
          <p:cNvSpPr txBox="1"/>
          <p:nvPr/>
        </p:nvSpPr>
        <p:spPr>
          <a:xfrm>
            <a:off x="5440680" y="2432304"/>
            <a:ext cx="5928055" cy="512064"/>
          </a:xfrm>
          <a:prstGeom prst="rect">
            <a:avLst/>
          </a:prstGeom>
          <a:noFill/>
          <a:ln/>
        </p:spPr>
        <p:txBody>
          <a:bodyPr wrap="square" lIns="0" tIns="0" rIns="0" bIns="0" rtlCol="0" anchor="ctr"/>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Maintains employee records, reviews synced attendance, processes leave and runs payroll for the cutoff.</a:t>
            </a:r>
            <a:endParaRPr lang="en-US" sz="1100" dirty="0"/>
          </a:p>
        </p:txBody>
      </p:sp>
      <p:sp>
        <p:nvSpPr>
          <p:cNvPr id="20" name="Shape 18"/>
          <p:cNvSpPr/>
          <p:nvPr/>
        </p:nvSpPr>
        <p:spPr>
          <a:xfrm>
            <a:off x="548640" y="3163824"/>
            <a:ext cx="11094415" cy="822960"/>
          </a:xfrm>
          <a:prstGeom prst="roundRect">
            <a:avLst>
              <a:gd name="adj" fmla="val 6667"/>
            </a:avLst>
          </a:prstGeom>
          <a:solidFill>
            <a:srgbClr val="FFFFFF"/>
          </a:solidFill>
          <a:ln w="12700">
            <a:solidFill>
              <a:srgbClr val="DCD7D0"/>
            </a:solidFill>
            <a:prstDash val="solid"/>
          </a:ln>
        </p:spPr>
      </p:sp>
      <p:sp>
        <p:nvSpPr>
          <p:cNvPr id="21" name="Shape 19"/>
          <p:cNvSpPr/>
          <p:nvPr/>
        </p:nvSpPr>
        <p:spPr>
          <a:xfrm>
            <a:off x="804672" y="3383280"/>
            <a:ext cx="384048" cy="384048"/>
          </a:xfrm>
          <a:prstGeom prst="ellipse">
            <a:avLst/>
          </a:prstGeom>
          <a:solidFill>
            <a:srgbClr val="F2A413"/>
          </a:solidFill>
          <a:ln/>
        </p:spPr>
      </p:sp>
      <p:sp>
        <p:nvSpPr>
          <p:cNvPr id="22" name="Text 20"/>
          <p:cNvSpPr txBox="1"/>
          <p:nvPr/>
        </p:nvSpPr>
        <p:spPr>
          <a:xfrm>
            <a:off x="804672" y="3383280"/>
            <a:ext cx="384048" cy="384048"/>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3</a:t>
            </a:r>
            <a:endParaRPr lang="en-US" sz="1200" dirty="0"/>
          </a:p>
        </p:txBody>
      </p:sp>
      <p:sp>
        <p:nvSpPr>
          <p:cNvPr id="23" name="Text 21"/>
          <p:cNvSpPr txBox="1"/>
          <p:nvPr/>
        </p:nvSpPr>
        <p:spPr>
          <a:xfrm>
            <a:off x="1335024" y="3319272"/>
            <a:ext cx="3017520" cy="292608"/>
          </a:xfrm>
          <a:prstGeom prst="rect">
            <a:avLst/>
          </a:prstGeom>
          <a:noFill/>
          <a:ln/>
        </p:spPr>
        <p:txBody>
          <a:bodyPr wrap="square" lIns="0" tIns="0" rIns="0" bIns="0" rtlCol="0" anchor="ctr"/>
          <a:lstStyle/>
          <a:p>
            <a:pPr indent="0" marL="0">
              <a:buNone/>
            </a:pPr>
            <a:r>
              <a:rPr lang="en-US" sz="1350" b="1" dirty="0">
                <a:solidFill>
                  <a:srgbClr val="16191D"/>
                </a:solidFill>
                <a:latin typeface="Calibri" pitchFamily="34" charset="0"/>
                <a:ea typeface="Calibri" pitchFamily="34" charset="-122"/>
                <a:cs typeface="Calibri" pitchFamily="34" charset="-120"/>
              </a:rPr>
              <a:t>Site Engineer / Construction Manager</a:t>
            </a:r>
            <a:endParaRPr lang="en-US" sz="1350" dirty="0"/>
          </a:p>
        </p:txBody>
      </p:sp>
      <p:sp>
        <p:nvSpPr>
          <p:cNvPr id="24" name="Shape 22"/>
          <p:cNvSpPr/>
          <p:nvPr/>
        </p:nvSpPr>
        <p:spPr>
          <a:xfrm>
            <a:off x="4480560" y="3447288"/>
            <a:ext cx="786384" cy="256032"/>
          </a:xfrm>
          <a:prstGeom prst="roundRect">
            <a:avLst>
              <a:gd name="adj" fmla="val 42857"/>
            </a:avLst>
          </a:prstGeom>
          <a:solidFill>
            <a:srgbClr val="2A3138"/>
          </a:solidFill>
          <a:ln/>
        </p:spPr>
      </p:sp>
      <p:sp>
        <p:nvSpPr>
          <p:cNvPr id="25" name="Text 23"/>
          <p:cNvSpPr txBox="1"/>
          <p:nvPr/>
        </p:nvSpPr>
        <p:spPr>
          <a:xfrm>
            <a:off x="4480560" y="3447288"/>
            <a:ext cx="78638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WEB</a:t>
            </a:r>
            <a:endParaRPr lang="en-US" sz="950" dirty="0"/>
          </a:p>
        </p:txBody>
      </p:sp>
      <p:sp>
        <p:nvSpPr>
          <p:cNvPr id="26" name="Text 24"/>
          <p:cNvSpPr txBox="1"/>
          <p:nvPr/>
        </p:nvSpPr>
        <p:spPr>
          <a:xfrm>
            <a:off x="5440680" y="3346704"/>
            <a:ext cx="5928055" cy="512064"/>
          </a:xfrm>
          <a:prstGeom prst="rect">
            <a:avLst/>
          </a:prstGeom>
          <a:noFill/>
          <a:ln/>
        </p:spPr>
        <p:txBody>
          <a:bodyPr wrap="square" lIns="0" tIns="0" rIns="0" bIns="0" rtlCol="0" anchor="ctr"/>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Forms crews, deploys them to sites, designates foremen, and signs off on retroactive attendance recovery.</a:t>
            </a:r>
            <a:endParaRPr lang="en-US" sz="1100" dirty="0"/>
          </a:p>
        </p:txBody>
      </p:sp>
      <p:sp>
        <p:nvSpPr>
          <p:cNvPr id="27" name="Shape 25"/>
          <p:cNvSpPr/>
          <p:nvPr/>
        </p:nvSpPr>
        <p:spPr>
          <a:xfrm>
            <a:off x="548640" y="4078224"/>
            <a:ext cx="11094415" cy="822960"/>
          </a:xfrm>
          <a:prstGeom prst="roundRect">
            <a:avLst>
              <a:gd name="adj" fmla="val 6667"/>
            </a:avLst>
          </a:prstGeom>
          <a:solidFill>
            <a:srgbClr val="FFFFFF"/>
          </a:solidFill>
          <a:ln w="12700">
            <a:solidFill>
              <a:srgbClr val="DCD7D0"/>
            </a:solidFill>
            <a:prstDash val="solid"/>
          </a:ln>
        </p:spPr>
      </p:sp>
      <p:sp>
        <p:nvSpPr>
          <p:cNvPr id="28" name="Shape 26"/>
          <p:cNvSpPr/>
          <p:nvPr/>
        </p:nvSpPr>
        <p:spPr>
          <a:xfrm>
            <a:off x="804672" y="4297680"/>
            <a:ext cx="384048" cy="384048"/>
          </a:xfrm>
          <a:prstGeom prst="ellipse">
            <a:avLst/>
          </a:prstGeom>
          <a:solidFill>
            <a:srgbClr val="F2A413"/>
          </a:solidFill>
          <a:ln/>
        </p:spPr>
      </p:sp>
      <p:sp>
        <p:nvSpPr>
          <p:cNvPr id="29" name="Text 27"/>
          <p:cNvSpPr txBox="1"/>
          <p:nvPr/>
        </p:nvSpPr>
        <p:spPr>
          <a:xfrm>
            <a:off x="804672" y="4297680"/>
            <a:ext cx="384048" cy="384048"/>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4</a:t>
            </a:r>
            <a:endParaRPr lang="en-US" sz="1200" dirty="0"/>
          </a:p>
        </p:txBody>
      </p:sp>
      <p:sp>
        <p:nvSpPr>
          <p:cNvPr id="30" name="Text 28"/>
          <p:cNvSpPr txBox="1"/>
          <p:nvPr/>
        </p:nvSpPr>
        <p:spPr>
          <a:xfrm>
            <a:off x="1335024" y="4233672"/>
            <a:ext cx="3017520" cy="292608"/>
          </a:xfrm>
          <a:prstGeom prst="rect">
            <a:avLst/>
          </a:prstGeom>
          <a:noFill/>
          <a:ln/>
        </p:spPr>
        <p:txBody>
          <a:bodyPr wrap="square" lIns="0" tIns="0" rIns="0" bIns="0" rtlCol="0" anchor="ctr"/>
          <a:lstStyle/>
          <a:p>
            <a:pPr indent="0" marL="0">
              <a:buNone/>
            </a:pPr>
            <a:r>
              <a:rPr lang="en-US" sz="1350" b="1" dirty="0">
                <a:solidFill>
                  <a:srgbClr val="16191D"/>
                </a:solidFill>
                <a:latin typeface="Calibri" pitchFamily="34" charset="0"/>
                <a:ea typeface="Calibri" pitchFamily="34" charset="-122"/>
                <a:cs typeface="Calibri" pitchFamily="34" charset="-120"/>
              </a:rPr>
              <a:t>System Administrator</a:t>
            </a:r>
            <a:endParaRPr lang="en-US" sz="1350" dirty="0"/>
          </a:p>
        </p:txBody>
      </p:sp>
      <p:sp>
        <p:nvSpPr>
          <p:cNvPr id="31" name="Shape 29"/>
          <p:cNvSpPr/>
          <p:nvPr/>
        </p:nvSpPr>
        <p:spPr>
          <a:xfrm>
            <a:off x="4480560" y="4361688"/>
            <a:ext cx="786384" cy="256032"/>
          </a:xfrm>
          <a:prstGeom prst="roundRect">
            <a:avLst>
              <a:gd name="adj" fmla="val 42857"/>
            </a:avLst>
          </a:prstGeom>
          <a:solidFill>
            <a:srgbClr val="2A3138"/>
          </a:solidFill>
          <a:ln/>
        </p:spPr>
      </p:sp>
      <p:sp>
        <p:nvSpPr>
          <p:cNvPr id="32" name="Text 30"/>
          <p:cNvSpPr txBox="1"/>
          <p:nvPr/>
        </p:nvSpPr>
        <p:spPr>
          <a:xfrm>
            <a:off x="4480560" y="4361688"/>
            <a:ext cx="78638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WEB</a:t>
            </a:r>
            <a:endParaRPr lang="en-US" sz="950" dirty="0"/>
          </a:p>
        </p:txBody>
      </p:sp>
      <p:sp>
        <p:nvSpPr>
          <p:cNvPr id="33" name="Text 31"/>
          <p:cNvSpPr txBox="1"/>
          <p:nvPr/>
        </p:nvSpPr>
        <p:spPr>
          <a:xfrm>
            <a:off x="5440680" y="4261104"/>
            <a:ext cx="5928055" cy="512064"/>
          </a:xfrm>
          <a:prstGeom prst="rect">
            <a:avLst/>
          </a:prstGeom>
          <a:noFill/>
          <a:ln/>
        </p:spPr>
        <p:txBody>
          <a:bodyPr wrap="square" lIns="0" tIns="0" rIns="0" bIns="0" rtlCol="0" anchor="ctr"/>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Manages accounts, role permissions and system configuration.</a:t>
            </a:r>
            <a:endParaRPr lang="en-US" sz="1100" dirty="0"/>
          </a:p>
        </p:txBody>
      </p:sp>
      <p:sp>
        <p:nvSpPr>
          <p:cNvPr id="34" name="Shape 32"/>
          <p:cNvSpPr/>
          <p:nvPr/>
        </p:nvSpPr>
        <p:spPr>
          <a:xfrm>
            <a:off x="548640" y="4992624"/>
            <a:ext cx="11094415" cy="822960"/>
          </a:xfrm>
          <a:prstGeom prst="roundRect">
            <a:avLst>
              <a:gd name="adj" fmla="val 6667"/>
            </a:avLst>
          </a:prstGeom>
          <a:solidFill>
            <a:srgbClr val="FFFFFF"/>
          </a:solidFill>
          <a:ln w="12700">
            <a:solidFill>
              <a:srgbClr val="DCD7D0"/>
            </a:solidFill>
            <a:prstDash val="solid"/>
          </a:ln>
        </p:spPr>
      </p:sp>
      <p:sp>
        <p:nvSpPr>
          <p:cNvPr id="35" name="Shape 33"/>
          <p:cNvSpPr/>
          <p:nvPr/>
        </p:nvSpPr>
        <p:spPr>
          <a:xfrm>
            <a:off x="804672" y="5212080"/>
            <a:ext cx="384048" cy="384048"/>
          </a:xfrm>
          <a:prstGeom prst="ellipse">
            <a:avLst/>
          </a:prstGeom>
          <a:solidFill>
            <a:srgbClr val="F2A413"/>
          </a:solidFill>
          <a:ln/>
        </p:spPr>
      </p:sp>
      <p:sp>
        <p:nvSpPr>
          <p:cNvPr id="36" name="Text 34"/>
          <p:cNvSpPr txBox="1"/>
          <p:nvPr/>
        </p:nvSpPr>
        <p:spPr>
          <a:xfrm>
            <a:off x="804672" y="5212080"/>
            <a:ext cx="384048" cy="384048"/>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5</a:t>
            </a:r>
            <a:endParaRPr lang="en-US" sz="1200" dirty="0"/>
          </a:p>
        </p:txBody>
      </p:sp>
      <p:sp>
        <p:nvSpPr>
          <p:cNvPr id="37" name="Text 35"/>
          <p:cNvSpPr txBox="1"/>
          <p:nvPr/>
        </p:nvSpPr>
        <p:spPr>
          <a:xfrm>
            <a:off x="1335024" y="5148072"/>
            <a:ext cx="3017520" cy="292608"/>
          </a:xfrm>
          <a:prstGeom prst="rect">
            <a:avLst/>
          </a:prstGeom>
          <a:noFill/>
          <a:ln/>
        </p:spPr>
        <p:txBody>
          <a:bodyPr wrap="square" lIns="0" tIns="0" rIns="0" bIns="0" rtlCol="0" anchor="ctr"/>
          <a:lstStyle/>
          <a:p>
            <a:pPr indent="0" marL="0">
              <a:buNone/>
            </a:pPr>
            <a:r>
              <a:rPr lang="en-US" sz="1350" b="1" dirty="0">
                <a:solidFill>
                  <a:srgbClr val="16191D"/>
                </a:solidFill>
                <a:latin typeface="Calibri" pitchFamily="34" charset="0"/>
                <a:ea typeface="Calibri" pitchFamily="34" charset="-122"/>
                <a:cs typeface="Calibri" pitchFamily="34" charset="-120"/>
              </a:rPr>
              <a:t>Executive</a:t>
            </a:r>
            <a:endParaRPr lang="en-US" sz="1350" dirty="0"/>
          </a:p>
        </p:txBody>
      </p:sp>
      <p:sp>
        <p:nvSpPr>
          <p:cNvPr id="38" name="Shape 36"/>
          <p:cNvSpPr/>
          <p:nvPr/>
        </p:nvSpPr>
        <p:spPr>
          <a:xfrm>
            <a:off x="4480560" y="5276088"/>
            <a:ext cx="786384" cy="256032"/>
          </a:xfrm>
          <a:prstGeom prst="roundRect">
            <a:avLst>
              <a:gd name="adj" fmla="val 42857"/>
            </a:avLst>
          </a:prstGeom>
          <a:solidFill>
            <a:srgbClr val="2A3138"/>
          </a:solidFill>
          <a:ln/>
        </p:spPr>
      </p:sp>
      <p:sp>
        <p:nvSpPr>
          <p:cNvPr id="39" name="Text 37"/>
          <p:cNvSpPr txBox="1"/>
          <p:nvPr/>
        </p:nvSpPr>
        <p:spPr>
          <a:xfrm>
            <a:off x="4480560" y="5276088"/>
            <a:ext cx="786384" cy="25603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WEB</a:t>
            </a:r>
            <a:endParaRPr lang="en-US" sz="950" dirty="0"/>
          </a:p>
        </p:txBody>
      </p:sp>
      <p:sp>
        <p:nvSpPr>
          <p:cNvPr id="40" name="Text 38"/>
          <p:cNvSpPr txBox="1"/>
          <p:nvPr/>
        </p:nvSpPr>
        <p:spPr>
          <a:xfrm>
            <a:off x="5440680" y="5175504"/>
            <a:ext cx="5928055" cy="512064"/>
          </a:xfrm>
          <a:prstGeom prst="rect">
            <a:avLst/>
          </a:prstGeom>
          <a:noFill/>
          <a:ln/>
        </p:spPr>
        <p:txBody>
          <a:bodyPr wrap="square" lIns="0" tIns="0" rIns="0" bIns="0" rtlCol="0" anchor="ctr"/>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Reviews labor cost analytics, site punctuality and the audit trail. Read-only access.</a:t>
            </a:r>
            <a:endParaRPr lang="en-US" sz="1100" dirty="0"/>
          </a:p>
        </p:txBody>
      </p:sp>
      <p:sp>
        <p:nvSpPr>
          <p:cNvPr id="41" name="Shape 39"/>
          <p:cNvSpPr/>
          <p:nvPr/>
        </p:nvSpPr>
        <p:spPr>
          <a:xfrm>
            <a:off x="548640" y="5888736"/>
            <a:ext cx="11094415" cy="420624"/>
          </a:xfrm>
          <a:prstGeom prst="roundRect">
            <a:avLst>
              <a:gd name="adj" fmla="val 13043"/>
            </a:avLst>
          </a:prstGeom>
          <a:solidFill>
            <a:srgbClr val="FDF1DA"/>
          </a:solidFill>
          <a:ln/>
        </p:spPr>
      </p:sp>
      <p:sp>
        <p:nvSpPr>
          <p:cNvPr id="42" name="Text 40"/>
          <p:cNvSpPr txBox="1"/>
          <p:nvPr/>
        </p:nvSpPr>
        <p:spPr>
          <a:xfrm>
            <a:off x="822960" y="5980176"/>
            <a:ext cx="9722815" cy="256032"/>
          </a:xfrm>
          <a:prstGeom prst="rect">
            <a:avLst/>
          </a:prstGeom>
          <a:noFill/>
          <a:ln/>
        </p:spPr>
        <p:txBody>
          <a:bodyPr wrap="square" lIns="0" tIns="0" rIns="0" bIns="0" rtlCol="0" anchor="t"/>
          <a:lstStyle/>
          <a:p>
            <a:pPr algn="l" indent="0" marL="0">
              <a:lnSpc>
                <a:spcPct val="108000"/>
              </a:lnSpc>
              <a:buNone/>
            </a:pPr>
            <a:r>
              <a:rPr lang="en-US" sz="1050" dirty="0">
                <a:solidFill>
                  <a:srgbClr val="9C6A08"/>
                </a:solidFill>
                <a:latin typeface="Calibri" pitchFamily="34" charset="0"/>
                <a:ea typeface="Calibri" pitchFamily="34" charset="-122"/>
                <a:cs typeface="Calibri" pitchFamily="34" charset="-120"/>
              </a:rPr>
              <a:t>Worker and Operator are record-only classifications. They appear on rosters and payroll but have no system login of their own.</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OVERVIEW OF THE SOLUTION</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Major Components and Modules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11</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Efren S. Cabudbud Jr.  ·  Database &amp; QA Lead</a:t>
            </a:r>
            <a:endParaRPr lang="en-US" sz="900" dirty="0"/>
          </a:p>
        </p:txBody>
      </p:sp>
      <p:sp>
        <p:nvSpPr>
          <p:cNvPr id="6" name="Shape 4"/>
          <p:cNvSpPr/>
          <p:nvPr/>
        </p:nvSpPr>
        <p:spPr>
          <a:xfrm>
            <a:off x="548640" y="1371600"/>
            <a:ext cx="3484778" cy="1371600"/>
          </a:xfrm>
          <a:prstGeom prst="roundRect">
            <a:avLst>
              <a:gd name="adj" fmla="val 4000"/>
            </a:avLst>
          </a:prstGeom>
          <a:solidFill>
            <a:srgbClr val="FFFFFF"/>
          </a:solidFill>
          <a:ln w="12700">
            <a:solidFill>
              <a:srgbClr val="DCD7D0"/>
            </a:solidFill>
            <a:prstDash val="solid"/>
          </a:ln>
        </p:spPr>
      </p:sp>
      <p:sp>
        <p:nvSpPr>
          <p:cNvPr id="7" name="Shape 5"/>
          <p:cNvSpPr/>
          <p:nvPr/>
        </p:nvSpPr>
        <p:spPr>
          <a:xfrm>
            <a:off x="786384" y="1591056"/>
            <a:ext cx="384048" cy="384048"/>
          </a:xfrm>
          <a:prstGeom prst="ellipse">
            <a:avLst/>
          </a:prstGeom>
          <a:solidFill>
            <a:srgbClr val="F2A413"/>
          </a:solidFill>
          <a:ln/>
        </p:spPr>
      </p:sp>
      <p:sp>
        <p:nvSpPr>
          <p:cNvPr id="8" name="Text 6"/>
          <p:cNvSpPr txBox="1"/>
          <p:nvPr/>
        </p:nvSpPr>
        <p:spPr>
          <a:xfrm>
            <a:off x="786384" y="1591056"/>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1280160" y="1591056"/>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Employee &amp; Workforce Management</a:t>
            </a:r>
            <a:endParaRPr lang="en-US" sz="1250" dirty="0"/>
          </a:p>
        </p:txBody>
      </p:sp>
      <p:sp>
        <p:nvSpPr>
          <p:cNvPr id="10" name="Text 8"/>
          <p:cNvSpPr txBox="1"/>
          <p:nvPr/>
        </p:nvSpPr>
        <p:spPr>
          <a:xfrm>
            <a:off x="786384" y="2139696"/>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Profiles, trade skills, certifications, pay rates, emergency contacts, employment status.</a:t>
            </a:r>
            <a:endParaRPr lang="en-US" sz="1050" dirty="0"/>
          </a:p>
        </p:txBody>
      </p:sp>
      <p:sp>
        <p:nvSpPr>
          <p:cNvPr id="11" name="Shape 9"/>
          <p:cNvSpPr/>
          <p:nvPr/>
        </p:nvSpPr>
        <p:spPr>
          <a:xfrm>
            <a:off x="4353458" y="1371600"/>
            <a:ext cx="3484778" cy="1371600"/>
          </a:xfrm>
          <a:prstGeom prst="roundRect">
            <a:avLst>
              <a:gd name="adj" fmla="val 4000"/>
            </a:avLst>
          </a:prstGeom>
          <a:solidFill>
            <a:srgbClr val="FFFFFF"/>
          </a:solidFill>
          <a:ln w="12700">
            <a:solidFill>
              <a:srgbClr val="DCD7D0"/>
            </a:solidFill>
            <a:prstDash val="solid"/>
          </a:ln>
        </p:spPr>
      </p:sp>
      <p:sp>
        <p:nvSpPr>
          <p:cNvPr id="12" name="Shape 10"/>
          <p:cNvSpPr/>
          <p:nvPr/>
        </p:nvSpPr>
        <p:spPr>
          <a:xfrm>
            <a:off x="4591202" y="1591056"/>
            <a:ext cx="384048" cy="384048"/>
          </a:xfrm>
          <a:prstGeom prst="ellipse">
            <a:avLst/>
          </a:prstGeom>
          <a:solidFill>
            <a:srgbClr val="F2A413"/>
          </a:solidFill>
          <a:ln/>
        </p:spPr>
      </p:sp>
      <p:sp>
        <p:nvSpPr>
          <p:cNvPr id="13" name="Text 11"/>
          <p:cNvSpPr txBox="1"/>
          <p:nvPr/>
        </p:nvSpPr>
        <p:spPr>
          <a:xfrm>
            <a:off x="4591202" y="1591056"/>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02</a:t>
            </a:r>
            <a:endParaRPr lang="en-US" sz="1100" dirty="0"/>
          </a:p>
        </p:txBody>
      </p:sp>
      <p:sp>
        <p:nvSpPr>
          <p:cNvPr id="14" name="Text 12"/>
          <p:cNvSpPr txBox="1"/>
          <p:nvPr/>
        </p:nvSpPr>
        <p:spPr>
          <a:xfrm>
            <a:off x="5084978" y="1591056"/>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Crew Assignment &amp; Site Deployment</a:t>
            </a:r>
            <a:endParaRPr lang="en-US" sz="1250" dirty="0"/>
          </a:p>
        </p:txBody>
      </p:sp>
      <p:sp>
        <p:nvSpPr>
          <p:cNvPr id="15" name="Text 13"/>
          <p:cNvSpPr txBox="1"/>
          <p:nvPr/>
        </p:nvSpPr>
        <p:spPr>
          <a:xfrm>
            <a:off x="4591202" y="2139696"/>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Crew formation, deployment to project sites, foreman designation.</a:t>
            </a:r>
            <a:endParaRPr lang="en-US" sz="1050" dirty="0"/>
          </a:p>
        </p:txBody>
      </p:sp>
      <p:sp>
        <p:nvSpPr>
          <p:cNvPr id="16" name="Shape 14"/>
          <p:cNvSpPr/>
          <p:nvPr/>
        </p:nvSpPr>
        <p:spPr>
          <a:xfrm>
            <a:off x="8158277" y="1371600"/>
            <a:ext cx="3484778" cy="1371600"/>
          </a:xfrm>
          <a:prstGeom prst="roundRect">
            <a:avLst>
              <a:gd name="adj" fmla="val 4000"/>
            </a:avLst>
          </a:prstGeom>
          <a:solidFill>
            <a:srgbClr val="FFFFFF"/>
          </a:solidFill>
          <a:ln w="12700">
            <a:solidFill>
              <a:srgbClr val="DCD7D0"/>
            </a:solidFill>
            <a:prstDash val="solid"/>
          </a:ln>
        </p:spPr>
      </p:sp>
      <p:sp>
        <p:nvSpPr>
          <p:cNvPr id="17" name="Shape 15"/>
          <p:cNvSpPr/>
          <p:nvPr/>
        </p:nvSpPr>
        <p:spPr>
          <a:xfrm>
            <a:off x="8396021" y="1591056"/>
            <a:ext cx="384048" cy="384048"/>
          </a:xfrm>
          <a:prstGeom prst="ellipse">
            <a:avLst/>
          </a:prstGeom>
          <a:solidFill>
            <a:srgbClr val="F2A413"/>
          </a:solidFill>
          <a:ln/>
        </p:spPr>
      </p:sp>
      <p:sp>
        <p:nvSpPr>
          <p:cNvPr id="18" name="Text 16"/>
          <p:cNvSpPr txBox="1"/>
          <p:nvPr/>
        </p:nvSpPr>
        <p:spPr>
          <a:xfrm>
            <a:off x="8396021" y="1591056"/>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03</a:t>
            </a:r>
            <a:endParaRPr lang="en-US" sz="1100" dirty="0"/>
          </a:p>
        </p:txBody>
      </p:sp>
      <p:sp>
        <p:nvSpPr>
          <p:cNvPr id="19" name="Text 17"/>
          <p:cNvSpPr txBox="1"/>
          <p:nvPr/>
        </p:nvSpPr>
        <p:spPr>
          <a:xfrm>
            <a:off x="8889797" y="1591056"/>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Offline Mobile Attendance Checklist</a:t>
            </a:r>
            <a:endParaRPr lang="en-US" sz="1250" dirty="0"/>
          </a:p>
        </p:txBody>
      </p:sp>
      <p:sp>
        <p:nvSpPr>
          <p:cNvPr id="20" name="Text 18"/>
          <p:cNvSpPr txBox="1"/>
          <p:nvPr/>
        </p:nvSpPr>
        <p:spPr>
          <a:xfrm>
            <a:off x="8396021" y="2139696"/>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Tap-based roll call on React Native, writing to encrypted local storage.</a:t>
            </a:r>
            <a:endParaRPr lang="en-US" sz="1050" dirty="0"/>
          </a:p>
        </p:txBody>
      </p:sp>
      <p:sp>
        <p:nvSpPr>
          <p:cNvPr id="21" name="Shape 19"/>
          <p:cNvSpPr/>
          <p:nvPr/>
        </p:nvSpPr>
        <p:spPr>
          <a:xfrm>
            <a:off x="548640" y="2962656"/>
            <a:ext cx="3484778" cy="1371600"/>
          </a:xfrm>
          <a:prstGeom prst="roundRect">
            <a:avLst>
              <a:gd name="adj" fmla="val 4000"/>
            </a:avLst>
          </a:prstGeom>
          <a:solidFill>
            <a:srgbClr val="FFFFFF"/>
          </a:solidFill>
          <a:ln w="12700">
            <a:solidFill>
              <a:srgbClr val="DCD7D0"/>
            </a:solidFill>
            <a:prstDash val="solid"/>
          </a:ln>
        </p:spPr>
      </p:sp>
      <p:sp>
        <p:nvSpPr>
          <p:cNvPr id="22" name="Shape 20"/>
          <p:cNvSpPr/>
          <p:nvPr/>
        </p:nvSpPr>
        <p:spPr>
          <a:xfrm>
            <a:off x="786384" y="3182112"/>
            <a:ext cx="384048" cy="384048"/>
          </a:xfrm>
          <a:prstGeom prst="ellipse">
            <a:avLst/>
          </a:prstGeom>
          <a:solidFill>
            <a:srgbClr val="F2A413"/>
          </a:solidFill>
          <a:ln/>
        </p:spPr>
      </p:sp>
      <p:sp>
        <p:nvSpPr>
          <p:cNvPr id="23" name="Text 21"/>
          <p:cNvSpPr txBox="1"/>
          <p:nvPr/>
        </p:nvSpPr>
        <p:spPr>
          <a:xfrm>
            <a:off x="786384" y="3182112"/>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04</a:t>
            </a:r>
            <a:endParaRPr lang="en-US" sz="1100" dirty="0"/>
          </a:p>
        </p:txBody>
      </p:sp>
      <p:sp>
        <p:nvSpPr>
          <p:cNvPr id="24" name="Text 22"/>
          <p:cNvSpPr txBox="1"/>
          <p:nvPr/>
        </p:nvSpPr>
        <p:spPr>
          <a:xfrm>
            <a:off x="1280160" y="3182112"/>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Cryptographic Integrity Engine</a:t>
            </a:r>
            <a:endParaRPr lang="en-US" sz="1250" dirty="0"/>
          </a:p>
        </p:txBody>
      </p:sp>
      <p:sp>
        <p:nvSpPr>
          <p:cNvPr id="25" name="Text 23"/>
          <p:cNvSpPr txBox="1"/>
          <p:nvPr/>
        </p:nvSpPr>
        <p:spPr>
          <a:xfrm>
            <a:off x="786384" y="3730752"/>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Four layers: monotonic clock, HMAC-SHA256 chain, TEE signing, server verification.</a:t>
            </a:r>
            <a:endParaRPr lang="en-US" sz="1050" dirty="0"/>
          </a:p>
        </p:txBody>
      </p:sp>
      <p:sp>
        <p:nvSpPr>
          <p:cNvPr id="26" name="Shape 24"/>
          <p:cNvSpPr/>
          <p:nvPr/>
        </p:nvSpPr>
        <p:spPr>
          <a:xfrm>
            <a:off x="4353458" y="2962656"/>
            <a:ext cx="3484778" cy="1371600"/>
          </a:xfrm>
          <a:prstGeom prst="roundRect">
            <a:avLst>
              <a:gd name="adj" fmla="val 4000"/>
            </a:avLst>
          </a:prstGeom>
          <a:solidFill>
            <a:srgbClr val="FFFFFF"/>
          </a:solidFill>
          <a:ln w="12700">
            <a:solidFill>
              <a:srgbClr val="DCD7D0"/>
            </a:solidFill>
            <a:prstDash val="solid"/>
          </a:ln>
        </p:spPr>
      </p:sp>
      <p:sp>
        <p:nvSpPr>
          <p:cNvPr id="27" name="Shape 25"/>
          <p:cNvSpPr/>
          <p:nvPr/>
        </p:nvSpPr>
        <p:spPr>
          <a:xfrm>
            <a:off x="4591202" y="3182112"/>
            <a:ext cx="384048" cy="384048"/>
          </a:xfrm>
          <a:prstGeom prst="ellipse">
            <a:avLst/>
          </a:prstGeom>
          <a:solidFill>
            <a:srgbClr val="F2A413"/>
          </a:solidFill>
          <a:ln/>
        </p:spPr>
      </p:sp>
      <p:sp>
        <p:nvSpPr>
          <p:cNvPr id="28" name="Text 26"/>
          <p:cNvSpPr txBox="1"/>
          <p:nvPr/>
        </p:nvSpPr>
        <p:spPr>
          <a:xfrm>
            <a:off x="4591202" y="3182112"/>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5084978" y="3182112"/>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Automated Background Sync Engine</a:t>
            </a:r>
            <a:endParaRPr lang="en-US" sz="1250" dirty="0"/>
          </a:p>
        </p:txBody>
      </p:sp>
      <p:sp>
        <p:nvSpPr>
          <p:cNvPr id="30" name="Text 28"/>
          <p:cNvSpPr txBox="1"/>
          <p:nvPr/>
        </p:nvSpPr>
        <p:spPr>
          <a:xfrm>
            <a:off x="4591202" y="3730752"/>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Detects reconnection and pushes the queued batch with retry and backoff.</a:t>
            </a:r>
            <a:endParaRPr lang="en-US" sz="1050" dirty="0"/>
          </a:p>
        </p:txBody>
      </p:sp>
      <p:sp>
        <p:nvSpPr>
          <p:cNvPr id="31" name="Shape 29"/>
          <p:cNvSpPr/>
          <p:nvPr/>
        </p:nvSpPr>
        <p:spPr>
          <a:xfrm>
            <a:off x="8158277" y="2962656"/>
            <a:ext cx="3484778" cy="1371600"/>
          </a:xfrm>
          <a:prstGeom prst="roundRect">
            <a:avLst>
              <a:gd name="adj" fmla="val 4000"/>
            </a:avLst>
          </a:prstGeom>
          <a:solidFill>
            <a:srgbClr val="FFFFFF"/>
          </a:solidFill>
          <a:ln w="12700">
            <a:solidFill>
              <a:srgbClr val="DCD7D0"/>
            </a:solidFill>
            <a:prstDash val="solid"/>
          </a:ln>
        </p:spPr>
      </p:sp>
      <p:sp>
        <p:nvSpPr>
          <p:cNvPr id="32" name="Shape 30"/>
          <p:cNvSpPr/>
          <p:nvPr/>
        </p:nvSpPr>
        <p:spPr>
          <a:xfrm>
            <a:off x="8396021" y="3182112"/>
            <a:ext cx="384048" cy="384048"/>
          </a:xfrm>
          <a:prstGeom prst="ellipse">
            <a:avLst/>
          </a:prstGeom>
          <a:solidFill>
            <a:srgbClr val="F2A413"/>
          </a:solidFill>
          <a:ln/>
        </p:spPr>
      </p:sp>
      <p:sp>
        <p:nvSpPr>
          <p:cNvPr id="33" name="Text 31"/>
          <p:cNvSpPr txBox="1"/>
          <p:nvPr/>
        </p:nvSpPr>
        <p:spPr>
          <a:xfrm>
            <a:off x="8396021" y="3182112"/>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06</a:t>
            </a:r>
            <a:endParaRPr lang="en-US" sz="1100" dirty="0"/>
          </a:p>
        </p:txBody>
      </p:sp>
      <p:sp>
        <p:nvSpPr>
          <p:cNvPr id="34" name="Text 32"/>
          <p:cNvSpPr txBox="1"/>
          <p:nvPr/>
        </p:nvSpPr>
        <p:spPr>
          <a:xfrm>
            <a:off x="8889797" y="3182112"/>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Foreman Edge Case Handling</a:t>
            </a:r>
            <a:endParaRPr lang="en-US" sz="1250" dirty="0"/>
          </a:p>
        </p:txBody>
      </p:sp>
      <p:sp>
        <p:nvSpPr>
          <p:cNvPr id="35" name="Text 33"/>
          <p:cNvSpPr txBox="1"/>
          <p:nvPr/>
        </p:nvSpPr>
        <p:spPr>
          <a:xfrm>
            <a:off x="8396021" y="3730752"/>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Late override, one-click re-assignment, retroactive recovery sign-off.</a:t>
            </a:r>
            <a:endParaRPr lang="en-US" sz="1050" dirty="0"/>
          </a:p>
        </p:txBody>
      </p:sp>
      <p:sp>
        <p:nvSpPr>
          <p:cNvPr id="36" name="Shape 34"/>
          <p:cNvSpPr/>
          <p:nvPr/>
        </p:nvSpPr>
        <p:spPr>
          <a:xfrm>
            <a:off x="548640" y="4553712"/>
            <a:ext cx="3484778" cy="1371600"/>
          </a:xfrm>
          <a:prstGeom prst="roundRect">
            <a:avLst>
              <a:gd name="adj" fmla="val 4000"/>
            </a:avLst>
          </a:prstGeom>
          <a:solidFill>
            <a:srgbClr val="FFFFFF"/>
          </a:solidFill>
          <a:ln w="12700">
            <a:solidFill>
              <a:srgbClr val="DCD7D0"/>
            </a:solidFill>
            <a:prstDash val="solid"/>
          </a:ln>
        </p:spPr>
      </p:sp>
      <p:sp>
        <p:nvSpPr>
          <p:cNvPr id="37" name="Shape 35"/>
          <p:cNvSpPr/>
          <p:nvPr/>
        </p:nvSpPr>
        <p:spPr>
          <a:xfrm>
            <a:off x="786384" y="4773168"/>
            <a:ext cx="384048" cy="384048"/>
          </a:xfrm>
          <a:prstGeom prst="ellipse">
            <a:avLst/>
          </a:prstGeom>
          <a:solidFill>
            <a:srgbClr val="F2A413"/>
          </a:solidFill>
          <a:ln/>
        </p:spPr>
      </p:sp>
      <p:sp>
        <p:nvSpPr>
          <p:cNvPr id="38" name="Text 36"/>
          <p:cNvSpPr txBox="1"/>
          <p:nvPr/>
        </p:nvSpPr>
        <p:spPr>
          <a:xfrm>
            <a:off x="786384" y="477316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07</a:t>
            </a:r>
            <a:endParaRPr lang="en-US" sz="1100" dirty="0"/>
          </a:p>
        </p:txBody>
      </p:sp>
      <p:sp>
        <p:nvSpPr>
          <p:cNvPr id="39" name="Text 37"/>
          <p:cNvSpPr txBox="1"/>
          <p:nvPr/>
        </p:nvSpPr>
        <p:spPr>
          <a:xfrm>
            <a:off x="1280160" y="4773168"/>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Philippine Labor Code Payroll Engine</a:t>
            </a:r>
            <a:endParaRPr lang="en-US" sz="1250" dirty="0"/>
          </a:p>
        </p:txBody>
      </p:sp>
      <p:sp>
        <p:nvSpPr>
          <p:cNvPr id="40" name="Text 38"/>
          <p:cNvSpPr txBox="1"/>
          <p:nvPr/>
        </p:nvSpPr>
        <p:spPr>
          <a:xfrm>
            <a:off x="786384" y="5321808"/>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Regular, overtime, night differential, rest day and holiday pay, plus deductions.</a:t>
            </a:r>
            <a:endParaRPr lang="en-US" sz="1050" dirty="0"/>
          </a:p>
        </p:txBody>
      </p:sp>
      <p:sp>
        <p:nvSpPr>
          <p:cNvPr id="41" name="Shape 39"/>
          <p:cNvSpPr/>
          <p:nvPr/>
        </p:nvSpPr>
        <p:spPr>
          <a:xfrm>
            <a:off x="4353458" y="4553712"/>
            <a:ext cx="3484778" cy="1371600"/>
          </a:xfrm>
          <a:prstGeom prst="roundRect">
            <a:avLst>
              <a:gd name="adj" fmla="val 4000"/>
            </a:avLst>
          </a:prstGeom>
          <a:solidFill>
            <a:srgbClr val="FFFFFF"/>
          </a:solidFill>
          <a:ln w="12700">
            <a:solidFill>
              <a:srgbClr val="DCD7D0"/>
            </a:solidFill>
            <a:prstDash val="solid"/>
          </a:ln>
        </p:spPr>
      </p:sp>
      <p:sp>
        <p:nvSpPr>
          <p:cNvPr id="42" name="Shape 40"/>
          <p:cNvSpPr/>
          <p:nvPr/>
        </p:nvSpPr>
        <p:spPr>
          <a:xfrm>
            <a:off x="4591202" y="4773168"/>
            <a:ext cx="384048" cy="384048"/>
          </a:xfrm>
          <a:prstGeom prst="ellipse">
            <a:avLst/>
          </a:prstGeom>
          <a:solidFill>
            <a:srgbClr val="F2A413"/>
          </a:solidFill>
          <a:ln/>
        </p:spPr>
      </p:sp>
      <p:sp>
        <p:nvSpPr>
          <p:cNvPr id="43" name="Text 41"/>
          <p:cNvSpPr txBox="1"/>
          <p:nvPr/>
        </p:nvSpPr>
        <p:spPr>
          <a:xfrm>
            <a:off x="4591202" y="477316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08</a:t>
            </a:r>
            <a:endParaRPr lang="en-US" sz="1100" dirty="0"/>
          </a:p>
        </p:txBody>
      </p:sp>
      <p:sp>
        <p:nvSpPr>
          <p:cNvPr id="44" name="Text 42"/>
          <p:cNvSpPr txBox="1"/>
          <p:nvPr/>
        </p:nvSpPr>
        <p:spPr>
          <a:xfrm>
            <a:off x="5084978" y="4773168"/>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Leave &amp; Overtime Filing Workflow</a:t>
            </a:r>
            <a:endParaRPr lang="en-US" sz="1250" dirty="0"/>
          </a:p>
        </p:txBody>
      </p:sp>
      <p:sp>
        <p:nvSpPr>
          <p:cNvPr id="45" name="Text 43"/>
          <p:cNvSpPr txBox="1"/>
          <p:nvPr/>
        </p:nvSpPr>
        <p:spPr>
          <a:xfrm>
            <a:off x="4591202" y="5321808"/>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Multi-tier filing and approval for leave and overtime requests.</a:t>
            </a:r>
            <a:endParaRPr lang="en-US" sz="1050" dirty="0"/>
          </a:p>
        </p:txBody>
      </p:sp>
      <p:sp>
        <p:nvSpPr>
          <p:cNvPr id="46" name="Shape 44"/>
          <p:cNvSpPr/>
          <p:nvPr/>
        </p:nvSpPr>
        <p:spPr>
          <a:xfrm>
            <a:off x="8158277" y="4553712"/>
            <a:ext cx="3484778" cy="1371600"/>
          </a:xfrm>
          <a:prstGeom prst="roundRect">
            <a:avLst>
              <a:gd name="adj" fmla="val 4000"/>
            </a:avLst>
          </a:prstGeom>
          <a:solidFill>
            <a:srgbClr val="FFFFFF"/>
          </a:solidFill>
          <a:ln w="12700">
            <a:solidFill>
              <a:srgbClr val="DCD7D0"/>
            </a:solidFill>
            <a:prstDash val="solid"/>
          </a:ln>
        </p:spPr>
      </p:sp>
      <p:sp>
        <p:nvSpPr>
          <p:cNvPr id="47" name="Shape 45"/>
          <p:cNvSpPr/>
          <p:nvPr/>
        </p:nvSpPr>
        <p:spPr>
          <a:xfrm>
            <a:off x="8396021" y="4773168"/>
            <a:ext cx="384048" cy="384048"/>
          </a:xfrm>
          <a:prstGeom prst="ellipse">
            <a:avLst/>
          </a:prstGeom>
          <a:solidFill>
            <a:srgbClr val="F2A413"/>
          </a:solidFill>
          <a:ln/>
        </p:spPr>
      </p:sp>
      <p:sp>
        <p:nvSpPr>
          <p:cNvPr id="48" name="Text 46"/>
          <p:cNvSpPr txBox="1"/>
          <p:nvPr/>
        </p:nvSpPr>
        <p:spPr>
          <a:xfrm>
            <a:off x="8396021" y="477316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09</a:t>
            </a:r>
            <a:endParaRPr lang="en-US" sz="1100" dirty="0"/>
          </a:p>
        </p:txBody>
      </p:sp>
      <p:sp>
        <p:nvSpPr>
          <p:cNvPr id="49" name="Text 47"/>
          <p:cNvSpPr txBox="1"/>
          <p:nvPr/>
        </p:nvSpPr>
        <p:spPr>
          <a:xfrm>
            <a:off x="8889797" y="4773168"/>
            <a:ext cx="2515514" cy="45720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Compliance &amp; Analytics</a:t>
            </a:r>
            <a:endParaRPr lang="en-US" sz="1250" dirty="0"/>
          </a:p>
        </p:txBody>
      </p:sp>
      <p:sp>
        <p:nvSpPr>
          <p:cNvPr id="50" name="Text 48"/>
          <p:cNvSpPr txBox="1"/>
          <p:nvPr/>
        </p:nvSpPr>
        <p:spPr>
          <a:xfrm>
            <a:off x="8396021" y="5321808"/>
            <a:ext cx="3009290" cy="512064"/>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Labor cost breakdowns, site punctuality, and a reviewable audit event log.</a:t>
            </a:r>
            <a:endParaRPr lang="en-US" sz="1050" dirty="0"/>
          </a:p>
        </p:txBody>
      </p:sp>
      <p:sp>
        <p:nvSpPr>
          <p:cNvPr id="51" name="Text 49"/>
          <p:cNvSpPr txBox="1"/>
          <p:nvPr/>
        </p:nvSpPr>
        <p:spPr>
          <a:xfrm>
            <a:off x="548640" y="6071616"/>
            <a:ext cx="10271455" cy="274320"/>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Modules 3 to 6 are the field side of the system. Modules 1, 2 and 7 to 9 run in the web portal.</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OVERVIEW OF THE SOLUTION</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General System Workflow</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12</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Shape 4"/>
          <p:cNvSpPr/>
          <p:nvPr/>
        </p:nvSpPr>
        <p:spPr>
          <a:xfrm>
            <a:off x="548640" y="1572768"/>
            <a:ext cx="2606040" cy="1600200"/>
          </a:xfrm>
          <a:prstGeom prst="roundRect">
            <a:avLst>
              <a:gd name="adj" fmla="val 3429"/>
            </a:avLst>
          </a:prstGeom>
          <a:solidFill>
            <a:srgbClr val="FFFFFF"/>
          </a:solidFill>
          <a:ln w="12700">
            <a:solidFill>
              <a:srgbClr val="DCD7D0"/>
            </a:solidFill>
            <a:prstDash val="solid"/>
          </a:ln>
        </p:spPr>
      </p:sp>
      <p:sp>
        <p:nvSpPr>
          <p:cNvPr id="7" name="Shape 5"/>
          <p:cNvSpPr/>
          <p:nvPr/>
        </p:nvSpPr>
        <p:spPr>
          <a:xfrm>
            <a:off x="768096" y="1773936"/>
            <a:ext cx="365760" cy="365760"/>
          </a:xfrm>
          <a:prstGeom prst="ellipse">
            <a:avLst/>
          </a:prstGeom>
          <a:solidFill>
            <a:srgbClr val="F2A413"/>
          </a:solidFill>
          <a:ln/>
        </p:spPr>
      </p:sp>
      <p:sp>
        <p:nvSpPr>
          <p:cNvPr id="8" name="Text 6"/>
          <p:cNvSpPr txBox="1"/>
          <p:nvPr/>
        </p:nvSpPr>
        <p:spPr>
          <a:xfrm>
            <a:off x="768096" y="1773936"/>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768096" y="2249424"/>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Deploy the crew</a:t>
            </a:r>
            <a:endParaRPr lang="en-US" sz="1300" dirty="0"/>
          </a:p>
        </p:txBody>
      </p:sp>
      <p:sp>
        <p:nvSpPr>
          <p:cNvPr id="10" name="Text 8"/>
          <p:cNvSpPr txBox="1"/>
          <p:nvPr/>
        </p:nvSpPr>
        <p:spPr>
          <a:xfrm>
            <a:off x="768096" y="2560320"/>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A Site Engineer forms a crew, assigns it to a site and designates the foreman.</a:t>
            </a:r>
            <a:endParaRPr lang="en-US" sz="1000" dirty="0"/>
          </a:p>
        </p:txBody>
      </p:sp>
      <p:sp>
        <p:nvSpPr>
          <p:cNvPr id="11" name="Shape 9"/>
          <p:cNvSpPr/>
          <p:nvPr/>
        </p:nvSpPr>
        <p:spPr>
          <a:xfrm>
            <a:off x="3200400" y="2372868"/>
            <a:ext cx="128016" cy="0"/>
          </a:xfrm>
          <a:prstGeom prst="line">
            <a:avLst/>
          </a:prstGeom>
          <a:noFill/>
          <a:ln w="25400">
            <a:solidFill>
              <a:srgbClr val="F2A413"/>
            </a:solidFill>
            <a:prstDash val="solid"/>
            <a:tailEnd type="triangle"/>
          </a:ln>
        </p:spPr>
      </p:sp>
      <p:sp>
        <p:nvSpPr>
          <p:cNvPr id="12" name="Shape 10"/>
          <p:cNvSpPr/>
          <p:nvPr/>
        </p:nvSpPr>
        <p:spPr>
          <a:xfrm>
            <a:off x="3374136" y="1572768"/>
            <a:ext cx="2606040" cy="1600200"/>
          </a:xfrm>
          <a:prstGeom prst="roundRect">
            <a:avLst>
              <a:gd name="adj" fmla="val 3429"/>
            </a:avLst>
          </a:prstGeom>
          <a:solidFill>
            <a:srgbClr val="FFFFFF"/>
          </a:solidFill>
          <a:ln w="12700">
            <a:solidFill>
              <a:srgbClr val="DCD7D0"/>
            </a:solidFill>
            <a:prstDash val="solid"/>
          </a:ln>
        </p:spPr>
      </p:sp>
      <p:sp>
        <p:nvSpPr>
          <p:cNvPr id="13" name="Shape 11"/>
          <p:cNvSpPr/>
          <p:nvPr/>
        </p:nvSpPr>
        <p:spPr>
          <a:xfrm>
            <a:off x="3593592" y="1773936"/>
            <a:ext cx="365760" cy="365760"/>
          </a:xfrm>
          <a:prstGeom prst="ellipse">
            <a:avLst/>
          </a:prstGeom>
          <a:solidFill>
            <a:srgbClr val="F2A413"/>
          </a:solidFill>
          <a:ln/>
        </p:spPr>
      </p:sp>
      <p:sp>
        <p:nvSpPr>
          <p:cNvPr id="14" name="Text 12"/>
          <p:cNvSpPr txBox="1"/>
          <p:nvPr/>
        </p:nvSpPr>
        <p:spPr>
          <a:xfrm>
            <a:off x="3593592" y="1773936"/>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3593592" y="2249424"/>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Open the app on site</a:t>
            </a:r>
            <a:endParaRPr lang="en-US" sz="1300" dirty="0"/>
          </a:p>
        </p:txBody>
      </p:sp>
      <p:sp>
        <p:nvSpPr>
          <p:cNvPr id="16" name="Text 14"/>
          <p:cNvSpPr txBox="1"/>
          <p:nvPr/>
        </p:nvSpPr>
        <p:spPr>
          <a:xfrm>
            <a:off x="3593592" y="2560320"/>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The foreman opens the mobile app. The crew roster is already cached on the device.</a:t>
            </a:r>
            <a:endParaRPr lang="en-US" sz="1000" dirty="0"/>
          </a:p>
        </p:txBody>
      </p:sp>
      <p:sp>
        <p:nvSpPr>
          <p:cNvPr id="17" name="Shape 15"/>
          <p:cNvSpPr/>
          <p:nvPr/>
        </p:nvSpPr>
        <p:spPr>
          <a:xfrm>
            <a:off x="6025896" y="2372868"/>
            <a:ext cx="128016" cy="0"/>
          </a:xfrm>
          <a:prstGeom prst="line">
            <a:avLst/>
          </a:prstGeom>
          <a:noFill/>
          <a:ln w="25400">
            <a:solidFill>
              <a:srgbClr val="F2A413"/>
            </a:solidFill>
            <a:prstDash val="solid"/>
            <a:tailEnd type="triangle"/>
          </a:ln>
        </p:spPr>
      </p:sp>
      <p:sp>
        <p:nvSpPr>
          <p:cNvPr id="18" name="Shape 16"/>
          <p:cNvSpPr/>
          <p:nvPr/>
        </p:nvSpPr>
        <p:spPr>
          <a:xfrm>
            <a:off x="6199632" y="1572768"/>
            <a:ext cx="2606040" cy="1600200"/>
          </a:xfrm>
          <a:prstGeom prst="roundRect">
            <a:avLst>
              <a:gd name="adj" fmla="val 3429"/>
            </a:avLst>
          </a:prstGeom>
          <a:solidFill>
            <a:srgbClr val="FFFFFF"/>
          </a:solidFill>
          <a:ln w="12700">
            <a:solidFill>
              <a:srgbClr val="DCD7D0"/>
            </a:solidFill>
            <a:prstDash val="solid"/>
          </a:ln>
        </p:spPr>
      </p:sp>
      <p:sp>
        <p:nvSpPr>
          <p:cNvPr id="19" name="Shape 17"/>
          <p:cNvSpPr/>
          <p:nvPr/>
        </p:nvSpPr>
        <p:spPr>
          <a:xfrm>
            <a:off x="6419088" y="1773936"/>
            <a:ext cx="365760" cy="365760"/>
          </a:xfrm>
          <a:prstGeom prst="ellipse">
            <a:avLst/>
          </a:prstGeom>
          <a:solidFill>
            <a:srgbClr val="F2A413"/>
          </a:solidFill>
          <a:ln/>
        </p:spPr>
      </p:sp>
      <p:sp>
        <p:nvSpPr>
          <p:cNvPr id="20" name="Text 18"/>
          <p:cNvSpPr txBox="1"/>
          <p:nvPr/>
        </p:nvSpPr>
        <p:spPr>
          <a:xfrm>
            <a:off x="6419088" y="1773936"/>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3</a:t>
            </a:r>
            <a:endParaRPr lang="en-US" sz="1200" dirty="0"/>
          </a:p>
        </p:txBody>
      </p:sp>
      <p:sp>
        <p:nvSpPr>
          <p:cNvPr id="21" name="Text 19"/>
          <p:cNvSpPr txBox="1"/>
          <p:nvPr/>
        </p:nvSpPr>
        <p:spPr>
          <a:xfrm>
            <a:off x="6419088" y="2249424"/>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Tap the roll call</a:t>
            </a:r>
            <a:endParaRPr lang="en-US" sz="1300" dirty="0"/>
          </a:p>
        </p:txBody>
      </p:sp>
      <p:sp>
        <p:nvSpPr>
          <p:cNvPr id="22" name="Text 20"/>
          <p:cNvSpPr txBox="1"/>
          <p:nvPr/>
        </p:nvSpPr>
        <p:spPr>
          <a:xfrm>
            <a:off x="6419088" y="2560320"/>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Present, Late or Absent for each worker. Written straight to encrypted local storage.</a:t>
            </a:r>
            <a:endParaRPr lang="en-US" sz="1000" dirty="0"/>
          </a:p>
        </p:txBody>
      </p:sp>
      <p:sp>
        <p:nvSpPr>
          <p:cNvPr id="23" name="Shape 21"/>
          <p:cNvSpPr/>
          <p:nvPr/>
        </p:nvSpPr>
        <p:spPr>
          <a:xfrm>
            <a:off x="8851392" y="2372868"/>
            <a:ext cx="128016" cy="0"/>
          </a:xfrm>
          <a:prstGeom prst="line">
            <a:avLst/>
          </a:prstGeom>
          <a:noFill/>
          <a:ln w="25400">
            <a:solidFill>
              <a:srgbClr val="F2A413"/>
            </a:solidFill>
            <a:prstDash val="solid"/>
            <a:tailEnd type="triangle"/>
          </a:ln>
        </p:spPr>
      </p:sp>
      <p:sp>
        <p:nvSpPr>
          <p:cNvPr id="24" name="Shape 22"/>
          <p:cNvSpPr/>
          <p:nvPr/>
        </p:nvSpPr>
        <p:spPr>
          <a:xfrm>
            <a:off x="9025128" y="1572768"/>
            <a:ext cx="2606040" cy="1600200"/>
          </a:xfrm>
          <a:prstGeom prst="roundRect">
            <a:avLst>
              <a:gd name="adj" fmla="val 3429"/>
            </a:avLst>
          </a:prstGeom>
          <a:solidFill>
            <a:srgbClr val="FFFFFF"/>
          </a:solidFill>
          <a:ln w="12700">
            <a:solidFill>
              <a:srgbClr val="DCD7D0"/>
            </a:solidFill>
            <a:prstDash val="solid"/>
          </a:ln>
        </p:spPr>
      </p:sp>
      <p:sp>
        <p:nvSpPr>
          <p:cNvPr id="25" name="Shape 23"/>
          <p:cNvSpPr/>
          <p:nvPr/>
        </p:nvSpPr>
        <p:spPr>
          <a:xfrm>
            <a:off x="9244584" y="1773936"/>
            <a:ext cx="365760" cy="365760"/>
          </a:xfrm>
          <a:prstGeom prst="ellipse">
            <a:avLst/>
          </a:prstGeom>
          <a:solidFill>
            <a:srgbClr val="F2A413"/>
          </a:solidFill>
          <a:ln/>
        </p:spPr>
      </p:sp>
      <p:sp>
        <p:nvSpPr>
          <p:cNvPr id="26" name="Text 24"/>
          <p:cNvSpPr txBox="1"/>
          <p:nvPr/>
        </p:nvSpPr>
        <p:spPr>
          <a:xfrm>
            <a:off x="9244584" y="1773936"/>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9244584" y="2249424"/>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Sign and chain</a:t>
            </a:r>
            <a:endParaRPr lang="en-US" sz="1300" dirty="0"/>
          </a:p>
        </p:txBody>
      </p:sp>
      <p:sp>
        <p:nvSpPr>
          <p:cNvPr id="28" name="Text 26"/>
          <p:cNvSpPr txBox="1"/>
          <p:nvPr/>
        </p:nvSpPr>
        <p:spPr>
          <a:xfrm>
            <a:off x="9244584" y="2560320"/>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Each record is time-anchored, linked to the previous one and signed in the phone's security chip.</a:t>
            </a:r>
            <a:endParaRPr lang="en-US" sz="1000" dirty="0"/>
          </a:p>
        </p:txBody>
      </p:sp>
      <p:sp>
        <p:nvSpPr>
          <p:cNvPr id="29" name="Shape 27"/>
          <p:cNvSpPr/>
          <p:nvPr/>
        </p:nvSpPr>
        <p:spPr>
          <a:xfrm>
            <a:off x="548640" y="3794760"/>
            <a:ext cx="2606040" cy="1600200"/>
          </a:xfrm>
          <a:prstGeom prst="roundRect">
            <a:avLst>
              <a:gd name="adj" fmla="val 3429"/>
            </a:avLst>
          </a:prstGeom>
          <a:solidFill>
            <a:srgbClr val="FFFFFF"/>
          </a:solidFill>
          <a:ln w="12700">
            <a:solidFill>
              <a:srgbClr val="DCD7D0"/>
            </a:solidFill>
            <a:prstDash val="solid"/>
          </a:ln>
        </p:spPr>
      </p:sp>
      <p:sp>
        <p:nvSpPr>
          <p:cNvPr id="30" name="Shape 28"/>
          <p:cNvSpPr/>
          <p:nvPr/>
        </p:nvSpPr>
        <p:spPr>
          <a:xfrm>
            <a:off x="768096" y="3995928"/>
            <a:ext cx="365760" cy="365760"/>
          </a:xfrm>
          <a:prstGeom prst="ellipse">
            <a:avLst/>
          </a:prstGeom>
          <a:solidFill>
            <a:srgbClr val="F2A413"/>
          </a:solidFill>
          <a:ln/>
        </p:spPr>
      </p:sp>
      <p:sp>
        <p:nvSpPr>
          <p:cNvPr id="31" name="Text 29"/>
          <p:cNvSpPr txBox="1"/>
          <p:nvPr/>
        </p:nvSpPr>
        <p:spPr>
          <a:xfrm>
            <a:off x="768096" y="399592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5</a:t>
            </a:r>
            <a:endParaRPr lang="en-US" sz="1200" dirty="0"/>
          </a:p>
        </p:txBody>
      </p:sp>
      <p:sp>
        <p:nvSpPr>
          <p:cNvPr id="32" name="Text 30"/>
          <p:cNvSpPr txBox="1"/>
          <p:nvPr/>
        </p:nvSpPr>
        <p:spPr>
          <a:xfrm>
            <a:off x="768096" y="4471416"/>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Sync and verify</a:t>
            </a:r>
            <a:endParaRPr lang="en-US" sz="1300" dirty="0"/>
          </a:p>
        </p:txBody>
      </p:sp>
      <p:sp>
        <p:nvSpPr>
          <p:cNvPr id="33" name="Text 31"/>
          <p:cNvSpPr txBox="1"/>
          <p:nvPr/>
        </p:nvSpPr>
        <p:spPr>
          <a:xfrm>
            <a:off x="768096" y="4782312"/>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On reconnection the queued batch is sent. The server re-computes the chain and checks the signature.</a:t>
            </a:r>
            <a:endParaRPr lang="en-US" sz="1000" dirty="0"/>
          </a:p>
        </p:txBody>
      </p:sp>
      <p:sp>
        <p:nvSpPr>
          <p:cNvPr id="34" name="Shape 32"/>
          <p:cNvSpPr/>
          <p:nvPr/>
        </p:nvSpPr>
        <p:spPr>
          <a:xfrm>
            <a:off x="3200400" y="4594860"/>
            <a:ext cx="128016" cy="0"/>
          </a:xfrm>
          <a:prstGeom prst="line">
            <a:avLst/>
          </a:prstGeom>
          <a:noFill/>
          <a:ln w="25400">
            <a:solidFill>
              <a:srgbClr val="F2A413"/>
            </a:solidFill>
            <a:prstDash val="solid"/>
            <a:tailEnd type="triangle"/>
          </a:ln>
        </p:spPr>
      </p:sp>
      <p:sp>
        <p:nvSpPr>
          <p:cNvPr id="35" name="Shape 33"/>
          <p:cNvSpPr/>
          <p:nvPr/>
        </p:nvSpPr>
        <p:spPr>
          <a:xfrm>
            <a:off x="3374136" y="3794760"/>
            <a:ext cx="2606040" cy="1600200"/>
          </a:xfrm>
          <a:prstGeom prst="roundRect">
            <a:avLst>
              <a:gd name="adj" fmla="val 3429"/>
            </a:avLst>
          </a:prstGeom>
          <a:solidFill>
            <a:srgbClr val="FFFFFF"/>
          </a:solidFill>
          <a:ln w="12700">
            <a:solidFill>
              <a:srgbClr val="DCD7D0"/>
            </a:solidFill>
            <a:prstDash val="solid"/>
          </a:ln>
        </p:spPr>
      </p:sp>
      <p:sp>
        <p:nvSpPr>
          <p:cNvPr id="36" name="Shape 34"/>
          <p:cNvSpPr/>
          <p:nvPr/>
        </p:nvSpPr>
        <p:spPr>
          <a:xfrm>
            <a:off x="3593592" y="3995928"/>
            <a:ext cx="365760" cy="365760"/>
          </a:xfrm>
          <a:prstGeom prst="ellipse">
            <a:avLst/>
          </a:prstGeom>
          <a:solidFill>
            <a:srgbClr val="F2A413"/>
          </a:solidFill>
          <a:ln/>
        </p:spPr>
      </p:sp>
      <p:sp>
        <p:nvSpPr>
          <p:cNvPr id="37" name="Text 35"/>
          <p:cNvSpPr txBox="1"/>
          <p:nvPr/>
        </p:nvSpPr>
        <p:spPr>
          <a:xfrm>
            <a:off x="3593592" y="399592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6</a:t>
            </a:r>
            <a:endParaRPr lang="en-US" sz="1200" dirty="0"/>
          </a:p>
        </p:txBody>
      </p:sp>
      <p:sp>
        <p:nvSpPr>
          <p:cNvPr id="38" name="Text 36"/>
          <p:cNvSpPr txBox="1"/>
          <p:nvPr/>
        </p:nvSpPr>
        <p:spPr>
          <a:xfrm>
            <a:off x="3593592" y="4471416"/>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Compute payroll</a:t>
            </a:r>
            <a:endParaRPr lang="en-US" sz="1300" dirty="0"/>
          </a:p>
        </p:txBody>
      </p:sp>
      <p:sp>
        <p:nvSpPr>
          <p:cNvPr id="39" name="Text 37"/>
          <p:cNvSpPr txBox="1"/>
          <p:nvPr/>
        </p:nvSpPr>
        <p:spPr>
          <a:xfrm>
            <a:off x="3593592" y="4782312"/>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Only verified attendance feeds the Labor Code payroll engine for the cutoff.</a:t>
            </a:r>
            <a:endParaRPr lang="en-US" sz="1000" dirty="0"/>
          </a:p>
        </p:txBody>
      </p:sp>
      <p:sp>
        <p:nvSpPr>
          <p:cNvPr id="40" name="Shape 38"/>
          <p:cNvSpPr/>
          <p:nvPr/>
        </p:nvSpPr>
        <p:spPr>
          <a:xfrm>
            <a:off x="6025896" y="4594860"/>
            <a:ext cx="128016" cy="0"/>
          </a:xfrm>
          <a:prstGeom prst="line">
            <a:avLst/>
          </a:prstGeom>
          <a:noFill/>
          <a:ln w="25400">
            <a:solidFill>
              <a:srgbClr val="F2A413"/>
            </a:solidFill>
            <a:prstDash val="solid"/>
            <a:tailEnd type="triangle"/>
          </a:ln>
        </p:spPr>
      </p:sp>
      <p:sp>
        <p:nvSpPr>
          <p:cNvPr id="41" name="Shape 39"/>
          <p:cNvSpPr/>
          <p:nvPr/>
        </p:nvSpPr>
        <p:spPr>
          <a:xfrm>
            <a:off x="6199632" y="3794760"/>
            <a:ext cx="2606040" cy="1600200"/>
          </a:xfrm>
          <a:prstGeom prst="roundRect">
            <a:avLst>
              <a:gd name="adj" fmla="val 3429"/>
            </a:avLst>
          </a:prstGeom>
          <a:solidFill>
            <a:srgbClr val="FFFFFF"/>
          </a:solidFill>
          <a:ln w="12700">
            <a:solidFill>
              <a:srgbClr val="DCD7D0"/>
            </a:solidFill>
            <a:prstDash val="solid"/>
          </a:ln>
        </p:spPr>
      </p:sp>
      <p:sp>
        <p:nvSpPr>
          <p:cNvPr id="42" name="Shape 40"/>
          <p:cNvSpPr/>
          <p:nvPr/>
        </p:nvSpPr>
        <p:spPr>
          <a:xfrm>
            <a:off x="6419088" y="3995928"/>
            <a:ext cx="365760" cy="365760"/>
          </a:xfrm>
          <a:prstGeom prst="ellipse">
            <a:avLst/>
          </a:prstGeom>
          <a:solidFill>
            <a:srgbClr val="F2A413"/>
          </a:solidFill>
          <a:ln/>
        </p:spPr>
      </p:sp>
      <p:sp>
        <p:nvSpPr>
          <p:cNvPr id="43" name="Text 41"/>
          <p:cNvSpPr txBox="1"/>
          <p:nvPr/>
        </p:nvSpPr>
        <p:spPr>
          <a:xfrm>
            <a:off x="6419088" y="3995928"/>
            <a:ext cx="365760" cy="365760"/>
          </a:xfrm>
          <a:prstGeom prst="rect">
            <a:avLst/>
          </a:prstGeom>
          <a:noFill/>
          <a:ln/>
        </p:spPr>
        <p:txBody>
          <a:bodyPr wrap="square" lIns="0" tIns="0" rIns="0" bIns="0" rtlCol="0" anchor="ctr"/>
          <a:lstStyle/>
          <a:p>
            <a:pPr algn="ctr" indent="0" marL="0">
              <a:buNone/>
            </a:pPr>
            <a:r>
              <a:rPr lang="en-US" sz="1200" b="1" dirty="0">
                <a:solidFill>
                  <a:srgbClr val="16191D"/>
                </a:solidFill>
                <a:latin typeface="Calibri" pitchFamily="34" charset="0"/>
                <a:ea typeface="Calibri" pitchFamily="34" charset="-122"/>
                <a:cs typeface="Calibri" pitchFamily="34" charset="-120"/>
              </a:rPr>
              <a:t>7</a:t>
            </a:r>
            <a:endParaRPr lang="en-US" sz="1200" dirty="0"/>
          </a:p>
        </p:txBody>
      </p:sp>
      <p:sp>
        <p:nvSpPr>
          <p:cNvPr id="44" name="Text 42"/>
          <p:cNvSpPr txBox="1"/>
          <p:nvPr/>
        </p:nvSpPr>
        <p:spPr>
          <a:xfrm>
            <a:off x="6419088" y="4471416"/>
            <a:ext cx="2167128" cy="27432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Review and audit</a:t>
            </a:r>
            <a:endParaRPr lang="en-US" sz="1300" dirty="0"/>
          </a:p>
        </p:txBody>
      </p:sp>
      <p:sp>
        <p:nvSpPr>
          <p:cNvPr id="45" name="Text 43"/>
          <p:cNvSpPr txBox="1"/>
          <p:nvPr/>
        </p:nvSpPr>
        <p:spPr>
          <a:xfrm>
            <a:off x="6419088" y="4782312"/>
            <a:ext cx="2167128" cy="530352"/>
          </a:xfrm>
          <a:prstGeom prst="rect">
            <a:avLst/>
          </a:prstGeom>
          <a:noFill/>
          <a:ln/>
        </p:spPr>
        <p:txBody>
          <a:bodyPr wrap="square" lIns="0" tIns="0" rIns="0" bIns="0" rtlCol="0" anchor="t"/>
          <a:lstStyle/>
          <a:p>
            <a:pPr algn="l" indent="0" marL="0">
              <a:lnSpc>
                <a:spcPct val="108000"/>
              </a:lnSpc>
              <a:buNone/>
            </a:pPr>
            <a:r>
              <a:rPr lang="en-US" sz="1000" dirty="0">
                <a:solidFill>
                  <a:srgbClr val="5A656F"/>
                </a:solidFill>
                <a:latin typeface="Calibri" pitchFamily="34" charset="0"/>
                <a:ea typeface="Calibri" pitchFamily="34" charset="-122"/>
                <a:cs typeface="Calibri" pitchFamily="34" charset="-120"/>
              </a:rPr>
              <a:t>HR reviews, management sees labor cost and punctuality, and every override is in the audit log.</a:t>
            </a:r>
            <a:endParaRPr lang="en-US" sz="1000" dirty="0"/>
          </a:p>
        </p:txBody>
      </p:sp>
      <p:sp>
        <p:nvSpPr>
          <p:cNvPr id="46" name="Shape 44"/>
          <p:cNvSpPr/>
          <p:nvPr/>
        </p:nvSpPr>
        <p:spPr>
          <a:xfrm>
            <a:off x="10328148" y="3218688"/>
            <a:ext cx="0" cy="274320"/>
          </a:xfrm>
          <a:prstGeom prst="line">
            <a:avLst/>
          </a:prstGeom>
          <a:noFill/>
          <a:ln w="25400">
            <a:solidFill>
              <a:srgbClr val="F2A413"/>
            </a:solidFill>
            <a:prstDash val="solid"/>
            <a:tailEnd type="triangle"/>
          </a:ln>
        </p:spPr>
      </p:sp>
      <p:sp>
        <p:nvSpPr>
          <p:cNvPr id="47" name="Shape 45"/>
          <p:cNvSpPr/>
          <p:nvPr/>
        </p:nvSpPr>
        <p:spPr>
          <a:xfrm>
            <a:off x="9025128" y="3794760"/>
            <a:ext cx="2606040" cy="1600200"/>
          </a:xfrm>
          <a:prstGeom prst="roundRect">
            <a:avLst>
              <a:gd name="adj" fmla="val 3429"/>
            </a:avLst>
          </a:prstGeom>
          <a:solidFill>
            <a:srgbClr val="16191D"/>
          </a:solidFill>
          <a:ln/>
        </p:spPr>
      </p:sp>
      <p:sp>
        <p:nvSpPr>
          <p:cNvPr id="48" name="Text 46"/>
          <p:cNvSpPr txBox="1"/>
          <p:nvPr/>
        </p:nvSpPr>
        <p:spPr>
          <a:xfrm>
            <a:off x="9244584" y="4023360"/>
            <a:ext cx="2167128"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KEY PROPERTY</a:t>
            </a:r>
            <a:endParaRPr lang="en-US" sz="1050" dirty="0"/>
          </a:p>
        </p:txBody>
      </p:sp>
      <p:sp>
        <p:nvSpPr>
          <p:cNvPr id="49" name="Text 47"/>
          <p:cNvSpPr txBox="1"/>
          <p:nvPr/>
        </p:nvSpPr>
        <p:spPr>
          <a:xfrm>
            <a:off x="9244584" y="4315968"/>
            <a:ext cx="2167128" cy="914400"/>
          </a:xfrm>
          <a:prstGeom prst="rect">
            <a:avLst/>
          </a:prstGeom>
          <a:noFill/>
          <a:ln/>
        </p:spPr>
        <p:txBody>
          <a:bodyPr wrap="square" lIns="0" tIns="0" rIns="0" bIns="0" rtlCol="0" anchor="t"/>
          <a:lstStyle/>
          <a:p>
            <a:pPr algn="l" indent="0" marL="0">
              <a:lnSpc>
                <a:spcPct val="110000"/>
              </a:lnSpc>
              <a:buNone/>
            </a:pPr>
            <a:r>
              <a:rPr lang="en-US" sz="1100" dirty="0">
                <a:solidFill>
                  <a:srgbClr val="FFFFFF"/>
                </a:solidFill>
                <a:latin typeface="Calibri" pitchFamily="34" charset="0"/>
                <a:ea typeface="Calibri" pitchFamily="34" charset="-122"/>
                <a:cs typeface="Calibri" pitchFamily="34" charset="-120"/>
              </a:rPr>
              <a:t>Steps 2, 3 and 4 need no internet at all. Step 5 happens by itself, whenever signal returns.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OVERVIEW OF THE SOLUTION</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How the Solution Addresses Each Problem</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13</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Liza Mae C. Sugala  ·  Systems Analyst</a:t>
            </a:r>
            <a:endParaRPr lang="en-US" sz="900" dirty="0"/>
          </a:p>
        </p:txBody>
      </p:sp>
      <p:sp>
        <p:nvSpPr>
          <p:cNvPr id="6" name="Text 4"/>
          <p:cNvSpPr txBox="1"/>
          <p:nvPr/>
        </p:nvSpPr>
        <p:spPr>
          <a:xfrm>
            <a:off x="548640" y="1298448"/>
            <a:ext cx="3977640" cy="219456"/>
          </a:xfrm>
          <a:prstGeom prst="rect">
            <a:avLst/>
          </a:prstGeom>
          <a:noFill/>
          <a:ln/>
        </p:spPr>
        <p:txBody>
          <a:bodyPr wrap="square" lIns="0" tIns="0" rIns="0" bIns="0" rtlCol="0" anchor="ctr"/>
          <a:lstStyle/>
          <a:p>
            <a:pPr indent="0" marL="0">
              <a:buNone/>
            </a:pPr>
            <a:r>
              <a:rPr lang="en-US" sz="1050" b="1" spc="120" kern="0" dirty="0">
                <a:solidFill>
                  <a:srgbClr val="B8352B"/>
                </a:solidFill>
                <a:latin typeface="Calibri" pitchFamily="34" charset="0"/>
                <a:ea typeface="Calibri" pitchFamily="34" charset="-122"/>
                <a:cs typeface="Calibri" pitchFamily="34" charset="-120"/>
              </a:rPr>
              <a:t>PROBLEM</a:t>
            </a:r>
            <a:endParaRPr lang="en-US" sz="1050" dirty="0"/>
          </a:p>
        </p:txBody>
      </p:sp>
      <p:sp>
        <p:nvSpPr>
          <p:cNvPr id="7" name="Text 5"/>
          <p:cNvSpPr txBox="1"/>
          <p:nvPr/>
        </p:nvSpPr>
        <p:spPr>
          <a:xfrm>
            <a:off x="4937760" y="1298448"/>
            <a:ext cx="6705295"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HOW HRIS ADDRESSES IT</a:t>
            </a:r>
            <a:endParaRPr lang="en-US" sz="1050" dirty="0"/>
          </a:p>
        </p:txBody>
      </p:sp>
      <p:sp>
        <p:nvSpPr>
          <p:cNvPr id="8" name="Shape 6"/>
          <p:cNvSpPr/>
          <p:nvPr/>
        </p:nvSpPr>
        <p:spPr>
          <a:xfrm>
            <a:off x="548640" y="1609344"/>
            <a:ext cx="3977640" cy="676656"/>
          </a:xfrm>
          <a:prstGeom prst="roundRect">
            <a:avLst>
              <a:gd name="adj" fmla="val 8108"/>
            </a:avLst>
          </a:prstGeom>
          <a:solidFill>
            <a:srgbClr val="F8E6E4"/>
          </a:solidFill>
          <a:ln/>
        </p:spPr>
      </p:sp>
      <p:sp>
        <p:nvSpPr>
          <p:cNvPr id="9" name="Text 7"/>
          <p:cNvSpPr txBox="1"/>
          <p:nvPr/>
        </p:nvSpPr>
        <p:spPr>
          <a:xfrm>
            <a:off x="786384" y="1700784"/>
            <a:ext cx="3520440" cy="493776"/>
          </a:xfrm>
          <a:prstGeom prst="rect">
            <a:avLst/>
          </a:prstGeom>
          <a:noFill/>
          <a:ln/>
        </p:spPr>
        <p:txBody>
          <a:bodyPr wrap="square" lIns="0" tIns="0" rIns="0" bIns="0" rtlCol="0" anchor="ctr"/>
          <a:lstStyle/>
          <a:p>
            <a:pPr algn="l" indent="0" marL="0">
              <a:lnSpc>
                <a:spcPct val="108000"/>
              </a:lnSpc>
              <a:buNone/>
            </a:pPr>
            <a:r>
              <a:rPr lang="en-US" sz="1200" dirty="0">
                <a:solidFill>
                  <a:srgbClr val="16191D"/>
                </a:solidFill>
                <a:latin typeface="Calibri" pitchFamily="34" charset="0"/>
                <a:ea typeface="Calibri" pitchFamily="34" charset="-122"/>
                <a:cs typeface="Calibri" pitchFamily="34" charset="-120"/>
              </a:rPr>
              <a:t>No signal at remote sites</a:t>
            </a:r>
            <a:endParaRPr lang="en-US" sz="1200" dirty="0"/>
          </a:p>
        </p:txBody>
      </p:sp>
      <p:sp>
        <p:nvSpPr>
          <p:cNvPr id="10" name="Shape 8"/>
          <p:cNvSpPr/>
          <p:nvPr/>
        </p:nvSpPr>
        <p:spPr>
          <a:xfrm>
            <a:off x="4599432" y="1947672"/>
            <a:ext cx="274320" cy="0"/>
          </a:xfrm>
          <a:prstGeom prst="line">
            <a:avLst/>
          </a:prstGeom>
          <a:noFill/>
          <a:ln w="25400">
            <a:solidFill>
              <a:srgbClr val="F2A413"/>
            </a:solidFill>
            <a:prstDash val="solid"/>
            <a:tailEnd type="triangle"/>
          </a:ln>
        </p:spPr>
      </p:sp>
      <p:sp>
        <p:nvSpPr>
          <p:cNvPr id="11" name="Shape 9"/>
          <p:cNvSpPr/>
          <p:nvPr/>
        </p:nvSpPr>
        <p:spPr>
          <a:xfrm>
            <a:off x="4937760" y="1609344"/>
            <a:ext cx="6705295" cy="676656"/>
          </a:xfrm>
          <a:prstGeom prst="roundRect">
            <a:avLst>
              <a:gd name="adj" fmla="val 8108"/>
            </a:avLst>
          </a:prstGeom>
          <a:solidFill>
            <a:srgbClr val="FFFFFF"/>
          </a:solidFill>
          <a:ln w="12700">
            <a:solidFill>
              <a:srgbClr val="DCD7D0"/>
            </a:solidFill>
            <a:prstDash val="solid"/>
          </a:ln>
        </p:spPr>
      </p:sp>
      <p:sp>
        <p:nvSpPr>
          <p:cNvPr id="12" name="Text 10"/>
          <p:cNvSpPr txBox="1"/>
          <p:nvPr/>
        </p:nvSpPr>
        <p:spPr>
          <a:xfrm>
            <a:off x="5184648" y="1700784"/>
            <a:ext cx="6211519" cy="493776"/>
          </a:xfrm>
          <a:prstGeom prst="rect">
            <a:avLst/>
          </a:prstGeom>
          <a:noFill/>
          <a:ln/>
        </p:spPr>
        <p:txBody>
          <a:bodyPr wrap="square" lIns="0" tIns="0" rIns="0" bIns="0" rtlCol="0" anchor="ctr"/>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Offline-first mobile app on encrypted SQLite, plus an automatic background sync engine on reconnection.</a:t>
            </a:r>
            <a:endParaRPr lang="en-US" sz="1150" dirty="0"/>
          </a:p>
        </p:txBody>
      </p:sp>
      <p:sp>
        <p:nvSpPr>
          <p:cNvPr id="13" name="Shape 11"/>
          <p:cNvSpPr/>
          <p:nvPr/>
        </p:nvSpPr>
        <p:spPr>
          <a:xfrm>
            <a:off x="548640" y="2377440"/>
            <a:ext cx="3977640" cy="676656"/>
          </a:xfrm>
          <a:prstGeom prst="roundRect">
            <a:avLst>
              <a:gd name="adj" fmla="val 8108"/>
            </a:avLst>
          </a:prstGeom>
          <a:solidFill>
            <a:srgbClr val="F8E6E4"/>
          </a:solidFill>
          <a:ln/>
        </p:spPr>
      </p:sp>
      <p:sp>
        <p:nvSpPr>
          <p:cNvPr id="14" name="Text 12"/>
          <p:cNvSpPr txBox="1"/>
          <p:nvPr/>
        </p:nvSpPr>
        <p:spPr>
          <a:xfrm>
            <a:off x="786384" y="2468880"/>
            <a:ext cx="3520440" cy="493776"/>
          </a:xfrm>
          <a:prstGeom prst="rect">
            <a:avLst/>
          </a:prstGeom>
          <a:noFill/>
          <a:ln/>
        </p:spPr>
        <p:txBody>
          <a:bodyPr wrap="square" lIns="0" tIns="0" rIns="0" bIns="0" rtlCol="0" anchor="ctr"/>
          <a:lstStyle/>
          <a:p>
            <a:pPr algn="l" indent="0" marL="0">
              <a:lnSpc>
                <a:spcPct val="108000"/>
              </a:lnSpc>
              <a:buNone/>
            </a:pPr>
            <a:r>
              <a:rPr lang="en-US" sz="1200" dirty="0">
                <a:solidFill>
                  <a:srgbClr val="16191D"/>
                </a:solidFill>
                <a:latin typeface="Calibri" pitchFamily="34" charset="0"/>
                <a:ea typeface="Calibri" pitchFamily="34" charset="-122"/>
                <a:cs typeface="Calibri" pitchFamily="34" charset="-120"/>
              </a:rPr>
              <a:t>Timestamps can be altered</a:t>
            </a:r>
            <a:endParaRPr lang="en-US" sz="1200" dirty="0"/>
          </a:p>
        </p:txBody>
      </p:sp>
      <p:sp>
        <p:nvSpPr>
          <p:cNvPr id="15" name="Shape 13"/>
          <p:cNvSpPr/>
          <p:nvPr/>
        </p:nvSpPr>
        <p:spPr>
          <a:xfrm>
            <a:off x="4599432" y="2715768"/>
            <a:ext cx="274320" cy="0"/>
          </a:xfrm>
          <a:prstGeom prst="line">
            <a:avLst/>
          </a:prstGeom>
          <a:noFill/>
          <a:ln w="25400">
            <a:solidFill>
              <a:srgbClr val="F2A413"/>
            </a:solidFill>
            <a:prstDash val="solid"/>
            <a:tailEnd type="triangle"/>
          </a:ln>
        </p:spPr>
      </p:sp>
      <p:sp>
        <p:nvSpPr>
          <p:cNvPr id="16" name="Shape 14"/>
          <p:cNvSpPr/>
          <p:nvPr/>
        </p:nvSpPr>
        <p:spPr>
          <a:xfrm>
            <a:off x="4937760" y="2377440"/>
            <a:ext cx="6705295" cy="676656"/>
          </a:xfrm>
          <a:prstGeom prst="roundRect">
            <a:avLst>
              <a:gd name="adj" fmla="val 8108"/>
            </a:avLst>
          </a:prstGeom>
          <a:solidFill>
            <a:srgbClr val="FFFFFF"/>
          </a:solidFill>
          <a:ln w="12700">
            <a:solidFill>
              <a:srgbClr val="DCD7D0"/>
            </a:solidFill>
            <a:prstDash val="solid"/>
          </a:ln>
        </p:spPr>
      </p:sp>
      <p:sp>
        <p:nvSpPr>
          <p:cNvPr id="17" name="Text 15"/>
          <p:cNvSpPr txBox="1"/>
          <p:nvPr/>
        </p:nvSpPr>
        <p:spPr>
          <a:xfrm>
            <a:off x="5184648" y="2468880"/>
            <a:ext cx="6211519" cy="493776"/>
          </a:xfrm>
          <a:prstGeom prst="rect">
            <a:avLst/>
          </a:prstGeom>
          <a:noFill/>
          <a:ln/>
        </p:spPr>
        <p:txBody>
          <a:bodyPr wrap="square" lIns="0" tIns="0" rIns="0" bIns="0" rtlCol="0" anchor="ctr"/>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Monotonic hardware clock, HMAC-SHA256 hash chaining and ECDSA P-256 signing inside the device security chip.</a:t>
            </a:r>
            <a:endParaRPr lang="en-US" sz="1150" dirty="0"/>
          </a:p>
        </p:txBody>
      </p:sp>
      <p:sp>
        <p:nvSpPr>
          <p:cNvPr id="18" name="Shape 16"/>
          <p:cNvSpPr/>
          <p:nvPr/>
        </p:nvSpPr>
        <p:spPr>
          <a:xfrm>
            <a:off x="548640" y="3145536"/>
            <a:ext cx="3977640" cy="676656"/>
          </a:xfrm>
          <a:prstGeom prst="roundRect">
            <a:avLst>
              <a:gd name="adj" fmla="val 8108"/>
            </a:avLst>
          </a:prstGeom>
          <a:solidFill>
            <a:srgbClr val="F8E6E4"/>
          </a:solidFill>
          <a:ln/>
        </p:spPr>
      </p:sp>
      <p:sp>
        <p:nvSpPr>
          <p:cNvPr id="19" name="Text 17"/>
          <p:cNvSpPr txBox="1"/>
          <p:nvPr/>
        </p:nvSpPr>
        <p:spPr>
          <a:xfrm>
            <a:off x="786384" y="3236976"/>
            <a:ext cx="3520440" cy="493776"/>
          </a:xfrm>
          <a:prstGeom prst="rect">
            <a:avLst/>
          </a:prstGeom>
          <a:noFill/>
          <a:ln/>
        </p:spPr>
        <p:txBody>
          <a:bodyPr wrap="square" lIns="0" tIns="0" rIns="0" bIns="0" rtlCol="0" anchor="ctr"/>
          <a:lstStyle/>
          <a:p>
            <a:pPr algn="l" indent="0" marL="0">
              <a:lnSpc>
                <a:spcPct val="108000"/>
              </a:lnSpc>
              <a:buNone/>
            </a:pPr>
            <a:r>
              <a:rPr lang="en-US" sz="1200" dirty="0">
                <a:solidFill>
                  <a:srgbClr val="16191D"/>
                </a:solidFill>
                <a:latin typeface="Calibri" pitchFamily="34" charset="0"/>
                <a:ea typeface="Calibri" pitchFamily="34" charset="-122"/>
                <a:cs typeface="Calibri" pitchFamily="34" charset="-120"/>
              </a:rPr>
              <a:t>Late, duplicated encoding</a:t>
            </a:r>
            <a:endParaRPr lang="en-US" sz="1200" dirty="0"/>
          </a:p>
        </p:txBody>
      </p:sp>
      <p:sp>
        <p:nvSpPr>
          <p:cNvPr id="20" name="Shape 18"/>
          <p:cNvSpPr/>
          <p:nvPr/>
        </p:nvSpPr>
        <p:spPr>
          <a:xfrm>
            <a:off x="4599432" y="3483864"/>
            <a:ext cx="274320" cy="0"/>
          </a:xfrm>
          <a:prstGeom prst="line">
            <a:avLst/>
          </a:prstGeom>
          <a:noFill/>
          <a:ln w="25400">
            <a:solidFill>
              <a:srgbClr val="F2A413"/>
            </a:solidFill>
            <a:prstDash val="solid"/>
            <a:tailEnd type="triangle"/>
          </a:ln>
        </p:spPr>
      </p:sp>
      <p:sp>
        <p:nvSpPr>
          <p:cNvPr id="21" name="Shape 19"/>
          <p:cNvSpPr/>
          <p:nvPr/>
        </p:nvSpPr>
        <p:spPr>
          <a:xfrm>
            <a:off x="4937760" y="3145536"/>
            <a:ext cx="6705295" cy="676656"/>
          </a:xfrm>
          <a:prstGeom prst="roundRect">
            <a:avLst>
              <a:gd name="adj" fmla="val 8108"/>
            </a:avLst>
          </a:prstGeom>
          <a:solidFill>
            <a:srgbClr val="FFFFFF"/>
          </a:solidFill>
          <a:ln w="12700">
            <a:solidFill>
              <a:srgbClr val="DCD7D0"/>
            </a:solidFill>
            <a:prstDash val="solid"/>
          </a:ln>
        </p:spPr>
      </p:sp>
      <p:sp>
        <p:nvSpPr>
          <p:cNvPr id="22" name="Text 20"/>
          <p:cNvSpPr txBox="1"/>
          <p:nvPr/>
        </p:nvSpPr>
        <p:spPr>
          <a:xfrm>
            <a:off x="5184648" y="3236976"/>
            <a:ext cx="6211519" cy="493776"/>
          </a:xfrm>
          <a:prstGeom prst="rect">
            <a:avLst/>
          </a:prstGeom>
          <a:noFill/>
          <a:ln/>
        </p:spPr>
        <p:txBody>
          <a:bodyPr wrap="square" lIns="0" tIns="0" rIns="0" bIns="0" rtlCol="0" anchor="ctr"/>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The record is created once, digitally, at the site. HR never re-keys it.</a:t>
            </a:r>
            <a:endParaRPr lang="en-US" sz="1150" dirty="0"/>
          </a:p>
        </p:txBody>
      </p:sp>
      <p:sp>
        <p:nvSpPr>
          <p:cNvPr id="23" name="Shape 21"/>
          <p:cNvSpPr/>
          <p:nvPr/>
        </p:nvSpPr>
        <p:spPr>
          <a:xfrm>
            <a:off x="548640" y="3913632"/>
            <a:ext cx="3977640" cy="676656"/>
          </a:xfrm>
          <a:prstGeom prst="roundRect">
            <a:avLst>
              <a:gd name="adj" fmla="val 8108"/>
            </a:avLst>
          </a:prstGeom>
          <a:solidFill>
            <a:srgbClr val="F8E6E4"/>
          </a:solidFill>
          <a:ln/>
        </p:spPr>
      </p:sp>
      <p:sp>
        <p:nvSpPr>
          <p:cNvPr id="24" name="Text 22"/>
          <p:cNvSpPr txBox="1"/>
          <p:nvPr/>
        </p:nvSpPr>
        <p:spPr>
          <a:xfrm>
            <a:off x="786384" y="4005072"/>
            <a:ext cx="3520440" cy="493776"/>
          </a:xfrm>
          <a:prstGeom prst="rect">
            <a:avLst/>
          </a:prstGeom>
          <a:noFill/>
          <a:ln/>
        </p:spPr>
        <p:txBody>
          <a:bodyPr wrap="square" lIns="0" tIns="0" rIns="0" bIns="0" rtlCol="0" anchor="ctr"/>
          <a:lstStyle/>
          <a:p>
            <a:pPr algn="l" indent="0" marL="0">
              <a:lnSpc>
                <a:spcPct val="108000"/>
              </a:lnSpc>
              <a:buNone/>
            </a:pPr>
            <a:r>
              <a:rPr lang="en-US" sz="1200" dirty="0">
                <a:solidFill>
                  <a:srgbClr val="16191D"/>
                </a:solidFill>
                <a:latin typeface="Calibri" pitchFamily="34" charset="0"/>
                <a:ea typeface="Calibri" pitchFamily="34" charset="-122"/>
                <a:cs typeface="Calibri" pitchFamily="34" charset="-120"/>
              </a:rPr>
              <a:t>Manual payroll computation</a:t>
            </a:r>
            <a:endParaRPr lang="en-US" sz="1200" dirty="0"/>
          </a:p>
        </p:txBody>
      </p:sp>
      <p:sp>
        <p:nvSpPr>
          <p:cNvPr id="25" name="Shape 23"/>
          <p:cNvSpPr/>
          <p:nvPr/>
        </p:nvSpPr>
        <p:spPr>
          <a:xfrm>
            <a:off x="4599432" y="4251960"/>
            <a:ext cx="274320" cy="0"/>
          </a:xfrm>
          <a:prstGeom prst="line">
            <a:avLst/>
          </a:prstGeom>
          <a:noFill/>
          <a:ln w="25400">
            <a:solidFill>
              <a:srgbClr val="F2A413"/>
            </a:solidFill>
            <a:prstDash val="solid"/>
            <a:tailEnd type="triangle"/>
          </a:ln>
        </p:spPr>
      </p:sp>
      <p:sp>
        <p:nvSpPr>
          <p:cNvPr id="26" name="Shape 24"/>
          <p:cNvSpPr/>
          <p:nvPr/>
        </p:nvSpPr>
        <p:spPr>
          <a:xfrm>
            <a:off x="4937760" y="3913632"/>
            <a:ext cx="6705295" cy="676656"/>
          </a:xfrm>
          <a:prstGeom prst="roundRect">
            <a:avLst>
              <a:gd name="adj" fmla="val 8108"/>
            </a:avLst>
          </a:prstGeom>
          <a:solidFill>
            <a:srgbClr val="FFFFFF"/>
          </a:solidFill>
          <a:ln w="12700">
            <a:solidFill>
              <a:srgbClr val="DCD7D0"/>
            </a:solidFill>
            <a:prstDash val="solid"/>
          </a:ln>
        </p:spPr>
      </p:sp>
      <p:sp>
        <p:nvSpPr>
          <p:cNvPr id="27" name="Text 25"/>
          <p:cNvSpPr txBox="1"/>
          <p:nvPr/>
        </p:nvSpPr>
        <p:spPr>
          <a:xfrm>
            <a:off x="5184648" y="4005072"/>
            <a:ext cx="6211519" cy="493776"/>
          </a:xfrm>
          <a:prstGeom prst="rect">
            <a:avLst/>
          </a:prstGeom>
          <a:noFill/>
          <a:ln/>
        </p:spPr>
        <p:txBody>
          <a:bodyPr wrap="square" lIns="0" tIns="0" rIns="0" bIns="0" rtlCol="0" anchor="ctr"/>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A payroll engine that applies Labor Code premium rates automatically to verified attendance.</a:t>
            </a:r>
            <a:endParaRPr lang="en-US" sz="1150" dirty="0"/>
          </a:p>
        </p:txBody>
      </p:sp>
      <p:sp>
        <p:nvSpPr>
          <p:cNvPr id="28" name="Shape 26"/>
          <p:cNvSpPr/>
          <p:nvPr/>
        </p:nvSpPr>
        <p:spPr>
          <a:xfrm>
            <a:off x="548640" y="4681728"/>
            <a:ext cx="3977640" cy="676656"/>
          </a:xfrm>
          <a:prstGeom prst="roundRect">
            <a:avLst>
              <a:gd name="adj" fmla="val 8108"/>
            </a:avLst>
          </a:prstGeom>
          <a:solidFill>
            <a:srgbClr val="F8E6E4"/>
          </a:solidFill>
          <a:ln/>
        </p:spPr>
      </p:sp>
      <p:sp>
        <p:nvSpPr>
          <p:cNvPr id="29" name="Text 27"/>
          <p:cNvSpPr txBox="1"/>
          <p:nvPr/>
        </p:nvSpPr>
        <p:spPr>
          <a:xfrm>
            <a:off x="786384" y="4773168"/>
            <a:ext cx="3520440" cy="493776"/>
          </a:xfrm>
          <a:prstGeom prst="rect">
            <a:avLst/>
          </a:prstGeom>
          <a:noFill/>
          <a:ln/>
        </p:spPr>
        <p:txBody>
          <a:bodyPr wrap="square" lIns="0" tIns="0" rIns="0" bIns="0" rtlCol="0" anchor="ctr"/>
          <a:lstStyle/>
          <a:p>
            <a:pPr algn="l" indent="0" marL="0">
              <a:lnSpc>
                <a:spcPct val="108000"/>
              </a:lnSpc>
              <a:buNone/>
            </a:pPr>
            <a:r>
              <a:rPr lang="en-US" sz="1200" dirty="0">
                <a:solidFill>
                  <a:srgbClr val="16191D"/>
                </a:solidFill>
                <a:latin typeface="Calibri" pitchFamily="34" charset="0"/>
                <a:ea typeface="Calibri" pitchFamily="34" charset="-122"/>
                <a:cs typeface="Calibri" pitchFamily="34" charset="-120"/>
              </a:rPr>
              <a:t>Field edge cases unhandled</a:t>
            </a:r>
            <a:endParaRPr lang="en-US" sz="1200" dirty="0"/>
          </a:p>
        </p:txBody>
      </p:sp>
      <p:sp>
        <p:nvSpPr>
          <p:cNvPr id="30" name="Shape 28"/>
          <p:cNvSpPr/>
          <p:nvPr/>
        </p:nvSpPr>
        <p:spPr>
          <a:xfrm>
            <a:off x="4599432" y="5020056"/>
            <a:ext cx="274320" cy="0"/>
          </a:xfrm>
          <a:prstGeom prst="line">
            <a:avLst/>
          </a:prstGeom>
          <a:noFill/>
          <a:ln w="25400">
            <a:solidFill>
              <a:srgbClr val="F2A413"/>
            </a:solidFill>
            <a:prstDash val="solid"/>
            <a:tailEnd type="triangle"/>
          </a:ln>
        </p:spPr>
      </p:sp>
      <p:sp>
        <p:nvSpPr>
          <p:cNvPr id="31" name="Shape 29"/>
          <p:cNvSpPr/>
          <p:nvPr/>
        </p:nvSpPr>
        <p:spPr>
          <a:xfrm>
            <a:off x="4937760" y="4681728"/>
            <a:ext cx="6705295" cy="676656"/>
          </a:xfrm>
          <a:prstGeom prst="roundRect">
            <a:avLst>
              <a:gd name="adj" fmla="val 8108"/>
            </a:avLst>
          </a:prstGeom>
          <a:solidFill>
            <a:srgbClr val="FFFFFF"/>
          </a:solidFill>
          <a:ln w="12700">
            <a:solidFill>
              <a:srgbClr val="DCD7D0"/>
            </a:solidFill>
            <a:prstDash val="solid"/>
          </a:ln>
        </p:spPr>
      </p:sp>
      <p:sp>
        <p:nvSpPr>
          <p:cNvPr id="32" name="Text 30"/>
          <p:cNvSpPr txBox="1"/>
          <p:nvPr/>
        </p:nvSpPr>
        <p:spPr>
          <a:xfrm>
            <a:off x="5184648" y="4773168"/>
            <a:ext cx="6211519" cy="493776"/>
          </a:xfrm>
          <a:prstGeom prst="rect">
            <a:avLst/>
          </a:prstGeom>
          <a:noFill/>
          <a:ln/>
        </p:spPr>
        <p:txBody>
          <a:bodyPr wrap="square" lIns="0" tIns="0" rIns="0" bIns="0" rtlCol="0" anchor="ctr"/>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Late foreman override, one-click absent foreman re-assignment and retroactive recovery sign-off.</a:t>
            </a:r>
            <a:endParaRPr lang="en-US" sz="1150" dirty="0"/>
          </a:p>
        </p:txBody>
      </p:sp>
      <p:sp>
        <p:nvSpPr>
          <p:cNvPr id="33" name="Shape 31"/>
          <p:cNvSpPr/>
          <p:nvPr/>
        </p:nvSpPr>
        <p:spPr>
          <a:xfrm>
            <a:off x="548640" y="5449824"/>
            <a:ext cx="3977640" cy="676656"/>
          </a:xfrm>
          <a:prstGeom prst="roundRect">
            <a:avLst>
              <a:gd name="adj" fmla="val 8108"/>
            </a:avLst>
          </a:prstGeom>
          <a:solidFill>
            <a:srgbClr val="F8E6E4"/>
          </a:solidFill>
          <a:ln/>
        </p:spPr>
      </p:sp>
      <p:sp>
        <p:nvSpPr>
          <p:cNvPr id="34" name="Text 32"/>
          <p:cNvSpPr txBox="1"/>
          <p:nvPr/>
        </p:nvSpPr>
        <p:spPr>
          <a:xfrm>
            <a:off x="786384" y="5541264"/>
            <a:ext cx="3520440" cy="493776"/>
          </a:xfrm>
          <a:prstGeom prst="rect">
            <a:avLst/>
          </a:prstGeom>
          <a:noFill/>
          <a:ln/>
        </p:spPr>
        <p:txBody>
          <a:bodyPr wrap="square" lIns="0" tIns="0" rIns="0" bIns="0" rtlCol="0" anchor="ctr"/>
          <a:lstStyle/>
          <a:p>
            <a:pPr algn="l" indent="0" marL="0">
              <a:lnSpc>
                <a:spcPct val="108000"/>
              </a:lnSpc>
              <a:buNone/>
            </a:pPr>
            <a:r>
              <a:rPr lang="en-US" sz="1200" dirty="0">
                <a:solidFill>
                  <a:srgbClr val="16191D"/>
                </a:solidFill>
                <a:latin typeface="Calibri" pitchFamily="34" charset="0"/>
                <a:ea typeface="Calibri" pitchFamily="34" charset="-122"/>
                <a:cs typeface="Calibri" pitchFamily="34" charset="-120"/>
              </a:rPr>
              <a:t>No audit trail</a:t>
            </a:r>
            <a:endParaRPr lang="en-US" sz="1200" dirty="0"/>
          </a:p>
        </p:txBody>
      </p:sp>
      <p:sp>
        <p:nvSpPr>
          <p:cNvPr id="35" name="Shape 33"/>
          <p:cNvSpPr/>
          <p:nvPr/>
        </p:nvSpPr>
        <p:spPr>
          <a:xfrm>
            <a:off x="4599432" y="5788152"/>
            <a:ext cx="274320" cy="0"/>
          </a:xfrm>
          <a:prstGeom prst="line">
            <a:avLst/>
          </a:prstGeom>
          <a:noFill/>
          <a:ln w="25400">
            <a:solidFill>
              <a:srgbClr val="F2A413"/>
            </a:solidFill>
            <a:prstDash val="solid"/>
            <a:tailEnd type="triangle"/>
          </a:ln>
        </p:spPr>
      </p:sp>
      <p:sp>
        <p:nvSpPr>
          <p:cNvPr id="36" name="Shape 34"/>
          <p:cNvSpPr/>
          <p:nvPr/>
        </p:nvSpPr>
        <p:spPr>
          <a:xfrm>
            <a:off x="4937760" y="5449824"/>
            <a:ext cx="6705295" cy="676656"/>
          </a:xfrm>
          <a:prstGeom prst="roundRect">
            <a:avLst>
              <a:gd name="adj" fmla="val 8108"/>
            </a:avLst>
          </a:prstGeom>
          <a:solidFill>
            <a:srgbClr val="FFFFFF"/>
          </a:solidFill>
          <a:ln w="12700">
            <a:solidFill>
              <a:srgbClr val="DCD7D0"/>
            </a:solidFill>
            <a:prstDash val="solid"/>
          </a:ln>
        </p:spPr>
      </p:sp>
      <p:sp>
        <p:nvSpPr>
          <p:cNvPr id="37" name="Text 35"/>
          <p:cNvSpPr txBox="1"/>
          <p:nvPr/>
        </p:nvSpPr>
        <p:spPr>
          <a:xfrm>
            <a:off x="5184648" y="5541264"/>
            <a:ext cx="6211519" cy="493776"/>
          </a:xfrm>
          <a:prstGeom prst="rect">
            <a:avLst/>
          </a:prstGeom>
          <a:noFill/>
          <a:ln/>
        </p:spPr>
        <p:txBody>
          <a:bodyPr wrap="square" lIns="0" tIns="0" rIns="0" bIns="0" rtlCol="0" anchor="ctr"/>
          <a:lstStyle/>
          <a:p>
            <a:pPr algn="l" indent="0" marL="0">
              <a:lnSpc>
                <a:spcPct val="108000"/>
              </a:lnSpc>
              <a:buNone/>
            </a:pPr>
            <a:r>
              <a:rPr lang="en-US" sz="1150" dirty="0">
                <a:solidFill>
                  <a:srgbClr val="5A656F"/>
                </a:solidFill>
                <a:latin typeface="Calibri" pitchFamily="34" charset="0"/>
                <a:ea typeface="Calibri" pitchFamily="34" charset="-122"/>
                <a:cs typeface="Calibri" pitchFamily="34" charset="-120"/>
              </a:rPr>
              <a:t>Every override, re-assignment and correction writes an audit log entry with actor, time and reason.</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59775" y="914400"/>
            <a:ext cx="3383280" cy="3108960"/>
          </a:xfrm>
          <a:prstGeom prst="rect">
            <a:avLst/>
          </a:prstGeom>
          <a:noFill/>
          <a:ln/>
        </p:spPr>
        <p:txBody>
          <a:bodyPr wrap="square" lIns="0" tIns="0" rIns="0" bIns="0" rtlCol="0" anchor="ctr"/>
          <a:lstStyle/>
          <a:p>
            <a:pPr algn="r" indent="0" marL="0">
              <a:buNone/>
            </a:pPr>
            <a:r>
              <a:rPr lang="en-US" sz="16000" b="1" dirty="0">
                <a:solidFill>
                  <a:srgbClr val="2A3138"/>
                </a:solidFill>
                <a:latin typeface="Cambria" pitchFamily="34" charset="0"/>
                <a:ea typeface="Cambria" pitchFamily="34" charset="-122"/>
                <a:cs typeface="Cambria" pitchFamily="34" charset="-120"/>
              </a:rPr>
              <a:t>05</a:t>
            </a:r>
            <a:endParaRPr lang="en-US" sz="16000" dirty="0"/>
          </a:p>
        </p:txBody>
      </p:sp>
      <p:sp>
        <p:nvSpPr>
          <p:cNvPr id="3" name="Text 1"/>
          <p:cNvSpPr txBox="1"/>
          <p:nvPr/>
        </p:nvSpPr>
        <p:spPr>
          <a:xfrm>
            <a:off x="822960" y="2240280"/>
            <a:ext cx="6949440" cy="274320"/>
          </a:xfrm>
          <a:prstGeom prst="rect">
            <a:avLst/>
          </a:prstGeom>
          <a:noFill/>
          <a:ln/>
        </p:spPr>
        <p:txBody>
          <a:bodyPr wrap="square" lIns="0" tIns="0" rIns="0" bIns="0" rtlCol="0" anchor="ctr"/>
          <a:lstStyle/>
          <a:p>
            <a:pPr indent="0" marL="0">
              <a:buNone/>
            </a:pPr>
            <a:r>
              <a:rPr lang="en-US" sz="1200" b="1" spc="160" kern="0" dirty="0">
                <a:solidFill>
                  <a:srgbClr val="F2A413"/>
                </a:solidFill>
                <a:latin typeface="Calibri" pitchFamily="34" charset="0"/>
                <a:ea typeface="Calibri" pitchFamily="34" charset="-122"/>
                <a:cs typeface="Calibri" pitchFamily="34" charset="-120"/>
              </a:rPr>
              <a:t>SECTION 5</a:t>
            </a:r>
            <a:endParaRPr lang="en-US" sz="1200" dirty="0"/>
          </a:p>
        </p:txBody>
      </p:sp>
      <p:sp>
        <p:nvSpPr>
          <p:cNvPr id="4" name="Text 2"/>
          <p:cNvSpPr txBox="1"/>
          <p:nvPr/>
        </p:nvSpPr>
        <p:spPr>
          <a:xfrm>
            <a:off x="822960" y="2487168"/>
            <a:ext cx="7315200" cy="138988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Methodology</a:t>
            </a:r>
            <a:endParaRPr lang="en-US" sz="4000" dirty="0"/>
          </a:p>
        </p:txBody>
      </p:sp>
      <p:sp>
        <p:nvSpPr>
          <p:cNvPr id="5" name="Text 3"/>
          <p:cNvSpPr txBox="1"/>
          <p:nvPr/>
        </p:nvSpPr>
        <p:spPr>
          <a:xfrm>
            <a:off x="822960" y="3968496"/>
            <a:ext cx="6766560" cy="777240"/>
          </a:xfrm>
          <a:prstGeom prst="rect">
            <a:avLst/>
          </a:prstGeom>
          <a:noFill/>
          <a:ln/>
        </p:spPr>
        <p:txBody>
          <a:bodyPr wrap="square" lIns="0" tIns="0" rIns="0" bIns="0" rtlCol="0" anchor="ctr"/>
          <a:lstStyle/>
          <a:p>
            <a:pPr indent="0" marL="0">
              <a:buNone/>
            </a:pPr>
            <a:r>
              <a:rPr lang="en-US" sz="1500" dirty="0">
                <a:solidFill>
                  <a:srgbClr val="8A949D"/>
                </a:solidFill>
                <a:latin typeface="Calibri" pitchFamily="34" charset="0"/>
                <a:ea typeface="Calibri" pitchFamily="34" charset="-122"/>
                <a:cs typeface="Calibri" pitchFamily="34" charset="-120"/>
              </a:rPr>
              <a:t>How the system will be built: the development model, the fixed technology stack, and the resources the project requires.</a:t>
            </a:r>
            <a:endParaRPr lang="en-US" sz="1500" dirty="0"/>
          </a:p>
        </p:txBody>
      </p:sp>
      <p:sp>
        <p:nvSpPr>
          <p:cNvPr id="6" name="Shape 4"/>
          <p:cNvSpPr/>
          <p:nvPr/>
        </p:nvSpPr>
        <p:spPr>
          <a:xfrm>
            <a:off x="822960" y="4956048"/>
            <a:ext cx="310896" cy="310896"/>
          </a:xfrm>
          <a:prstGeom prst="ellipse">
            <a:avLst/>
          </a:prstGeom>
          <a:solidFill>
            <a:srgbClr val="F2A413"/>
          </a:solidFill>
          <a:ln/>
        </p:spPr>
      </p:sp>
      <p:sp>
        <p:nvSpPr>
          <p:cNvPr id="7" name="Text 5"/>
          <p:cNvSpPr txBox="1"/>
          <p:nvPr/>
        </p:nvSpPr>
        <p:spPr>
          <a:xfrm>
            <a:off x="1261872" y="4965192"/>
            <a:ext cx="6400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8 minutes</a:t>
            </a:r>
            <a:endParaRPr lang="en-US" sz="1300" dirty="0"/>
          </a:p>
        </p:txBody>
      </p:sp>
      <p:sp>
        <p:nvSpPr>
          <p:cNvPr id="8" name="Text 6"/>
          <p:cNvSpPr txBox="1"/>
          <p:nvPr/>
        </p:nvSpPr>
        <p:spPr>
          <a:xfrm>
            <a:off x="822960" y="5486400"/>
            <a:ext cx="1828800" cy="237744"/>
          </a:xfrm>
          <a:prstGeom prst="rect">
            <a:avLst/>
          </a:prstGeom>
          <a:noFill/>
          <a:ln/>
        </p:spPr>
        <p:txBody>
          <a:bodyPr wrap="square" lIns="0" tIns="0" rIns="0" bIns="0" rtlCol="0" anchor="ctr"/>
          <a:lstStyle/>
          <a:p>
            <a:pPr indent="0" marL="0">
              <a:buNone/>
            </a:pPr>
            <a:r>
              <a:rPr lang="en-US" sz="1000" b="1" spc="120" kern="0" dirty="0">
                <a:solidFill>
                  <a:srgbClr val="8A949D"/>
                </a:solidFill>
                <a:latin typeface="Calibri" pitchFamily="34" charset="0"/>
                <a:ea typeface="Calibri" pitchFamily="34" charset="-122"/>
                <a:cs typeface="Calibri" pitchFamily="34" charset="-120"/>
              </a:rPr>
              <a:t>Presented by</a:t>
            </a:r>
            <a:endParaRPr lang="en-US" sz="1000" dirty="0"/>
          </a:p>
        </p:txBody>
      </p:sp>
      <p:sp>
        <p:nvSpPr>
          <p:cNvPr id="9" name="Text 7"/>
          <p:cNvSpPr txBox="1"/>
          <p:nvPr/>
        </p:nvSpPr>
        <p:spPr>
          <a:xfrm>
            <a:off x="822960" y="5742432"/>
            <a:ext cx="6766560" cy="292608"/>
          </a:xfrm>
          <a:prstGeom prst="rect">
            <a:avLst/>
          </a:prstGeom>
          <a:noFill/>
          <a:ln/>
        </p:spPr>
        <p:txBody>
          <a:bodyPr wrap="square" lIns="0" tIns="0" rIns="0" bIns="0" rtlCol="0" anchor="ctr"/>
          <a:lstStyle/>
          <a:p>
            <a:pPr indent="0" marL="0">
              <a:buNone/>
            </a:pPr>
            <a:r>
              <a:rPr lang="en-US" sz="1400" b="1" dirty="0">
                <a:solidFill>
                  <a:srgbClr val="F2A413"/>
                </a:solidFill>
                <a:latin typeface="Calibri" pitchFamily="34" charset="0"/>
                <a:ea typeface="Calibri" pitchFamily="34" charset="-122"/>
                <a:cs typeface="Calibri" pitchFamily="34" charset="-120"/>
              </a:rPr>
              <a:t>Rayla G. Lanaza  —  Documentation Lead</a:t>
            </a:r>
            <a:endParaRPr lang="en-US" sz="1400" dirty="0"/>
          </a:p>
        </p:txBody>
      </p:sp>
      <p:sp>
        <p:nvSpPr>
          <p:cNvPr id="10" name="Text 8"/>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14</a:t>
            </a:r>
            <a:endParaRPr lang="en-US" sz="900" dirty="0"/>
          </a:p>
        </p:txBody>
      </p:sp>
      <p:sp>
        <p:nvSpPr>
          <p:cNvPr id="11" name="Text 9"/>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Rayla G. Lanaza  ·  Documentation Lead</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Development Methodology</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15</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Rayla G. Lanaza  ·  Documentation Lead</a:t>
            </a:r>
            <a:endParaRPr lang="en-US" sz="900" dirty="0"/>
          </a:p>
        </p:txBody>
      </p:sp>
      <p:sp>
        <p:nvSpPr>
          <p:cNvPr id="6" name="Text 4"/>
          <p:cNvSpPr txBox="1"/>
          <p:nvPr/>
        </p:nvSpPr>
        <p:spPr>
          <a:xfrm>
            <a:off x="548640" y="1280160"/>
            <a:ext cx="11094415" cy="310896"/>
          </a:xfrm>
          <a:prstGeom prst="rect">
            <a:avLst/>
          </a:prstGeom>
          <a:noFill/>
          <a:ln/>
        </p:spPr>
        <p:txBody>
          <a:bodyPr wrap="square" lIns="0" tIns="0" rIns="0" bIns="0" rtlCol="0" anchor="t"/>
          <a:lstStyle/>
          <a:p>
            <a:pPr algn="l" indent="0" marL="0">
              <a:lnSpc>
                <a:spcPct val="108000"/>
              </a:lnSpc>
              <a:buNone/>
            </a:pPr>
            <a:r>
              <a:rPr lang="en-US" sz="1350" dirty="0">
                <a:solidFill>
                  <a:srgbClr val="2A3138"/>
                </a:solidFill>
                <a:latin typeface="Calibri" pitchFamily="34" charset="0"/>
                <a:ea typeface="Calibri" pitchFamily="34" charset="-122"/>
                <a:cs typeface="Calibri" pitchFamily="34" charset="-120"/>
              </a:rPr>
              <a:t>An Agile-Waterfall hybrid: documentation is sequential and approved in order, development runs in two-week sprints.</a:t>
            </a:r>
            <a:endParaRPr lang="en-US" sz="1350" dirty="0"/>
          </a:p>
        </p:txBody>
      </p:sp>
      <p:sp>
        <p:nvSpPr>
          <p:cNvPr id="7" name="Shape 5"/>
          <p:cNvSpPr/>
          <p:nvPr/>
        </p:nvSpPr>
        <p:spPr>
          <a:xfrm>
            <a:off x="548640" y="1755648"/>
            <a:ext cx="5212080" cy="4160520"/>
          </a:xfrm>
          <a:prstGeom prst="roundRect">
            <a:avLst>
              <a:gd name="adj" fmla="val 1319"/>
            </a:avLst>
          </a:prstGeom>
          <a:solidFill>
            <a:srgbClr val="FFFFFF"/>
          </a:solidFill>
          <a:ln w="12700">
            <a:solidFill>
              <a:srgbClr val="DCD7D0"/>
            </a:solidFill>
            <a:prstDash val="solid"/>
          </a:ln>
        </p:spPr>
      </p:sp>
      <p:sp>
        <p:nvSpPr>
          <p:cNvPr id="8" name="Shape 6"/>
          <p:cNvSpPr/>
          <p:nvPr/>
        </p:nvSpPr>
        <p:spPr>
          <a:xfrm>
            <a:off x="841248" y="2011680"/>
            <a:ext cx="1371600" cy="274320"/>
          </a:xfrm>
          <a:prstGeom prst="roundRect">
            <a:avLst>
              <a:gd name="adj" fmla="val 40000"/>
            </a:avLst>
          </a:prstGeom>
          <a:solidFill>
            <a:srgbClr val="2A3138"/>
          </a:solidFill>
          <a:ln/>
        </p:spPr>
      </p:sp>
      <p:sp>
        <p:nvSpPr>
          <p:cNvPr id="9" name="Text 7"/>
          <p:cNvSpPr txBox="1"/>
          <p:nvPr/>
        </p:nvSpPr>
        <p:spPr>
          <a:xfrm>
            <a:off x="841248" y="2011680"/>
            <a:ext cx="13716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WATERFALL</a:t>
            </a:r>
            <a:endParaRPr lang="en-US" sz="1000" dirty="0"/>
          </a:p>
        </p:txBody>
      </p:sp>
      <p:sp>
        <p:nvSpPr>
          <p:cNvPr id="10" name="Text 8"/>
          <p:cNvSpPr txBox="1"/>
          <p:nvPr/>
        </p:nvSpPr>
        <p:spPr>
          <a:xfrm>
            <a:off x="841248" y="2395728"/>
            <a:ext cx="4626864"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For the documentation phases</a:t>
            </a:r>
            <a:endParaRPr lang="en-US" sz="1350" dirty="0"/>
          </a:p>
        </p:txBody>
      </p:sp>
      <p:sp>
        <p:nvSpPr>
          <p:cNvPr id="11" name="Text 9"/>
          <p:cNvSpPr txBox="1"/>
          <p:nvPr/>
        </p:nvSpPr>
        <p:spPr>
          <a:xfrm>
            <a:off x="841248" y="2697480"/>
            <a:ext cx="4626864" cy="493776"/>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Each document is reviewed and approved before the next begins, so development starts from a settled specification.</a:t>
            </a:r>
            <a:endParaRPr lang="en-US" sz="1100" dirty="0"/>
          </a:p>
        </p:txBody>
      </p:sp>
      <p:sp>
        <p:nvSpPr>
          <p:cNvPr id="12" name="Shape 10"/>
          <p:cNvSpPr/>
          <p:nvPr/>
        </p:nvSpPr>
        <p:spPr>
          <a:xfrm>
            <a:off x="841248" y="3310128"/>
            <a:ext cx="4626864" cy="457200"/>
          </a:xfrm>
          <a:prstGeom prst="roundRect">
            <a:avLst>
              <a:gd name="adj" fmla="val 16000"/>
            </a:avLst>
          </a:prstGeom>
          <a:solidFill>
            <a:srgbClr val="F4F2EF"/>
          </a:solidFill>
          <a:ln/>
        </p:spPr>
      </p:sp>
      <p:sp>
        <p:nvSpPr>
          <p:cNvPr id="13" name="Text 11"/>
          <p:cNvSpPr txBox="1"/>
          <p:nvPr/>
        </p:nvSpPr>
        <p:spPr>
          <a:xfrm>
            <a:off x="1024128" y="3429000"/>
            <a:ext cx="4261104"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SRS - Software Requirements Specification</a:t>
            </a:r>
            <a:endParaRPr lang="en-US" sz="1100" dirty="0"/>
          </a:p>
        </p:txBody>
      </p:sp>
      <p:sp>
        <p:nvSpPr>
          <p:cNvPr id="14" name="Shape 12"/>
          <p:cNvSpPr/>
          <p:nvPr/>
        </p:nvSpPr>
        <p:spPr>
          <a:xfrm>
            <a:off x="1234440" y="3785616"/>
            <a:ext cx="0" cy="109728"/>
          </a:xfrm>
          <a:prstGeom prst="line">
            <a:avLst/>
          </a:prstGeom>
          <a:noFill/>
          <a:ln w="25400">
            <a:solidFill>
              <a:srgbClr val="F2A413"/>
            </a:solidFill>
            <a:prstDash val="solid"/>
            <a:tailEnd type="triangle"/>
          </a:ln>
        </p:spPr>
      </p:sp>
      <p:sp>
        <p:nvSpPr>
          <p:cNvPr id="15" name="Shape 13"/>
          <p:cNvSpPr/>
          <p:nvPr/>
        </p:nvSpPr>
        <p:spPr>
          <a:xfrm>
            <a:off x="841248" y="3913632"/>
            <a:ext cx="4626864" cy="457200"/>
          </a:xfrm>
          <a:prstGeom prst="roundRect">
            <a:avLst>
              <a:gd name="adj" fmla="val 16000"/>
            </a:avLst>
          </a:prstGeom>
          <a:solidFill>
            <a:srgbClr val="F4F2EF"/>
          </a:solidFill>
          <a:ln/>
        </p:spPr>
      </p:sp>
      <p:sp>
        <p:nvSpPr>
          <p:cNvPr id="16" name="Text 14"/>
          <p:cNvSpPr txBox="1"/>
          <p:nvPr/>
        </p:nvSpPr>
        <p:spPr>
          <a:xfrm>
            <a:off x="1024128" y="4032504"/>
            <a:ext cx="4261104"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SDD - Software Design Description</a:t>
            </a:r>
            <a:endParaRPr lang="en-US" sz="1100" dirty="0"/>
          </a:p>
        </p:txBody>
      </p:sp>
      <p:sp>
        <p:nvSpPr>
          <p:cNvPr id="17" name="Shape 15"/>
          <p:cNvSpPr/>
          <p:nvPr/>
        </p:nvSpPr>
        <p:spPr>
          <a:xfrm>
            <a:off x="1234440" y="4389120"/>
            <a:ext cx="0" cy="109728"/>
          </a:xfrm>
          <a:prstGeom prst="line">
            <a:avLst/>
          </a:prstGeom>
          <a:noFill/>
          <a:ln w="25400">
            <a:solidFill>
              <a:srgbClr val="F2A413"/>
            </a:solidFill>
            <a:prstDash val="solid"/>
            <a:tailEnd type="triangle"/>
          </a:ln>
        </p:spPr>
      </p:sp>
      <p:sp>
        <p:nvSpPr>
          <p:cNvPr id="18" name="Shape 16"/>
          <p:cNvSpPr/>
          <p:nvPr/>
        </p:nvSpPr>
        <p:spPr>
          <a:xfrm>
            <a:off x="841248" y="4517136"/>
            <a:ext cx="4626864" cy="457200"/>
          </a:xfrm>
          <a:prstGeom prst="roundRect">
            <a:avLst>
              <a:gd name="adj" fmla="val 16000"/>
            </a:avLst>
          </a:prstGeom>
          <a:solidFill>
            <a:srgbClr val="F4F2EF"/>
          </a:solidFill>
          <a:ln/>
        </p:spPr>
      </p:sp>
      <p:sp>
        <p:nvSpPr>
          <p:cNvPr id="19" name="Text 17"/>
          <p:cNvSpPr txBox="1"/>
          <p:nvPr/>
        </p:nvSpPr>
        <p:spPr>
          <a:xfrm>
            <a:off x="1024128" y="4636008"/>
            <a:ext cx="4261104"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SPMP - Software Project Management Plan</a:t>
            </a:r>
            <a:endParaRPr lang="en-US" sz="1100" dirty="0"/>
          </a:p>
        </p:txBody>
      </p:sp>
      <p:sp>
        <p:nvSpPr>
          <p:cNvPr id="20" name="Shape 18"/>
          <p:cNvSpPr/>
          <p:nvPr/>
        </p:nvSpPr>
        <p:spPr>
          <a:xfrm>
            <a:off x="1234440" y="4992624"/>
            <a:ext cx="0" cy="109728"/>
          </a:xfrm>
          <a:prstGeom prst="line">
            <a:avLst/>
          </a:prstGeom>
          <a:noFill/>
          <a:ln w="25400">
            <a:solidFill>
              <a:srgbClr val="F2A413"/>
            </a:solidFill>
            <a:prstDash val="solid"/>
            <a:tailEnd type="triangle"/>
          </a:ln>
        </p:spPr>
      </p:sp>
      <p:sp>
        <p:nvSpPr>
          <p:cNvPr id="21" name="Shape 19"/>
          <p:cNvSpPr/>
          <p:nvPr/>
        </p:nvSpPr>
        <p:spPr>
          <a:xfrm>
            <a:off x="841248" y="5120640"/>
            <a:ext cx="4626864" cy="457200"/>
          </a:xfrm>
          <a:prstGeom prst="roundRect">
            <a:avLst>
              <a:gd name="adj" fmla="val 16000"/>
            </a:avLst>
          </a:prstGeom>
          <a:solidFill>
            <a:srgbClr val="F4F2EF"/>
          </a:solidFill>
          <a:ln/>
        </p:spPr>
      </p:sp>
      <p:sp>
        <p:nvSpPr>
          <p:cNvPr id="22" name="Text 20"/>
          <p:cNvSpPr txBox="1"/>
          <p:nvPr/>
        </p:nvSpPr>
        <p:spPr>
          <a:xfrm>
            <a:off x="1024128" y="5239512"/>
            <a:ext cx="4261104"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STD - Software Test Document</a:t>
            </a:r>
            <a:endParaRPr lang="en-US" sz="1100" dirty="0"/>
          </a:p>
        </p:txBody>
      </p:sp>
      <p:sp>
        <p:nvSpPr>
          <p:cNvPr id="23" name="Shape 21"/>
          <p:cNvSpPr/>
          <p:nvPr/>
        </p:nvSpPr>
        <p:spPr>
          <a:xfrm>
            <a:off x="6126480" y="1755648"/>
            <a:ext cx="5516575" cy="4160520"/>
          </a:xfrm>
          <a:prstGeom prst="roundRect">
            <a:avLst>
              <a:gd name="adj" fmla="val 1319"/>
            </a:avLst>
          </a:prstGeom>
          <a:solidFill>
            <a:srgbClr val="FFFFFF"/>
          </a:solidFill>
          <a:ln w="12700">
            <a:solidFill>
              <a:srgbClr val="DCD7D0"/>
            </a:solidFill>
            <a:prstDash val="solid"/>
          </a:ln>
        </p:spPr>
      </p:sp>
      <p:sp>
        <p:nvSpPr>
          <p:cNvPr id="24" name="Shape 22"/>
          <p:cNvSpPr/>
          <p:nvPr/>
        </p:nvSpPr>
        <p:spPr>
          <a:xfrm>
            <a:off x="6419088" y="2011680"/>
            <a:ext cx="1005840" cy="274320"/>
          </a:xfrm>
          <a:prstGeom prst="roundRect">
            <a:avLst>
              <a:gd name="adj" fmla="val 40000"/>
            </a:avLst>
          </a:prstGeom>
          <a:solidFill>
            <a:srgbClr val="F2A413"/>
          </a:solidFill>
          <a:ln/>
        </p:spPr>
      </p:sp>
      <p:sp>
        <p:nvSpPr>
          <p:cNvPr id="25" name="Text 23"/>
          <p:cNvSpPr txBox="1"/>
          <p:nvPr/>
        </p:nvSpPr>
        <p:spPr>
          <a:xfrm>
            <a:off x="6419088" y="2011680"/>
            <a:ext cx="1005840" cy="274320"/>
          </a:xfrm>
          <a:prstGeom prst="rect">
            <a:avLst/>
          </a:prstGeom>
          <a:noFill/>
          <a:ln/>
        </p:spPr>
        <p:txBody>
          <a:bodyPr wrap="square" lIns="0" tIns="0" rIns="0" bIns="0" rtlCol="0" anchor="ctr"/>
          <a:lstStyle/>
          <a:p>
            <a:pPr algn="ctr" indent="0" marL="0">
              <a:buNone/>
            </a:pPr>
            <a:r>
              <a:rPr lang="en-US" sz="1000" b="1" dirty="0">
                <a:solidFill>
                  <a:srgbClr val="16191D"/>
                </a:solidFill>
                <a:latin typeface="Calibri" pitchFamily="34" charset="0"/>
                <a:ea typeface="Calibri" pitchFamily="34" charset="-122"/>
                <a:cs typeface="Calibri" pitchFamily="34" charset="-120"/>
              </a:rPr>
              <a:t>AGILE</a:t>
            </a:r>
            <a:endParaRPr lang="en-US" sz="1000" dirty="0"/>
          </a:p>
        </p:txBody>
      </p:sp>
      <p:sp>
        <p:nvSpPr>
          <p:cNvPr id="26" name="Text 24"/>
          <p:cNvSpPr txBox="1"/>
          <p:nvPr/>
        </p:nvSpPr>
        <p:spPr>
          <a:xfrm>
            <a:off x="6419088" y="2395728"/>
            <a:ext cx="4931359"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For the development phases</a:t>
            </a:r>
            <a:endParaRPr lang="en-US" sz="1350" dirty="0"/>
          </a:p>
        </p:txBody>
      </p:sp>
      <p:sp>
        <p:nvSpPr>
          <p:cNvPr id="27" name="Text 25"/>
          <p:cNvSpPr txBox="1"/>
          <p:nvPr/>
        </p:nvSpPr>
        <p:spPr>
          <a:xfrm>
            <a:off x="6419088" y="2697480"/>
            <a:ext cx="4931359" cy="493776"/>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Web, mobile and cryptographic modules are built in two-week sprints with a review at the end of each one.</a:t>
            </a:r>
            <a:endParaRPr lang="en-US" sz="1100" dirty="0"/>
          </a:p>
        </p:txBody>
      </p:sp>
      <p:sp>
        <p:nvSpPr>
          <p:cNvPr id="28" name="Shape 26"/>
          <p:cNvSpPr/>
          <p:nvPr/>
        </p:nvSpPr>
        <p:spPr>
          <a:xfrm>
            <a:off x="6419088" y="3310128"/>
            <a:ext cx="2319376" cy="1024128"/>
          </a:xfrm>
          <a:prstGeom prst="roundRect">
            <a:avLst>
              <a:gd name="adj" fmla="val 7143"/>
            </a:avLst>
          </a:prstGeom>
          <a:solidFill>
            <a:srgbClr val="F4F2EF"/>
          </a:solidFill>
          <a:ln/>
        </p:spPr>
      </p:sp>
      <p:sp>
        <p:nvSpPr>
          <p:cNvPr id="29" name="Shape 27"/>
          <p:cNvSpPr/>
          <p:nvPr/>
        </p:nvSpPr>
        <p:spPr>
          <a:xfrm>
            <a:off x="6583680" y="3474720"/>
            <a:ext cx="310896" cy="310896"/>
          </a:xfrm>
          <a:prstGeom prst="ellipse">
            <a:avLst/>
          </a:prstGeom>
          <a:solidFill>
            <a:srgbClr val="F2A413"/>
          </a:solidFill>
          <a:ln/>
        </p:spPr>
      </p:sp>
      <p:sp>
        <p:nvSpPr>
          <p:cNvPr id="30" name="Text 28"/>
          <p:cNvSpPr txBox="1"/>
          <p:nvPr/>
        </p:nvSpPr>
        <p:spPr>
          <a:xfrm>
            <a:off x="6583680" y="3474720"/>
            <a:ext cx="310896" cy="310896"/>
          </a:xfrm>
          <a:prstGeom prst="rect">
            <a:avLst/>
          </a:prstGeom>
          <a:noFill/>
          <a:ln/>
        </p:spPr>
        <p:txBody>
          <a:bodyPr wrap="square" lIns="0" tIns="0" rIns="0" bIns="0" rtlCol="0" anchor="ctr"/>
          <a:lstStyle/>
          <a:p>
            <a:pPr algn="ctr" indent="0" marL="0">
              <a:buNone/>
            </a:pPr>
            <a:r>
              <a:rPr lang="en-US" sz="1000" b="1" dirty="0">
                <a:solidFill>
                  <a:srgbClr val="16191D"/>
                </a:solidFill>
                <a:latin typeface="Calibri" pitchFamily="34" charset="0"/>
                <a:ea typeface="Calibri" pitchFamily="34" charset="-122"/>
                <a:cs typeface="Calibri" pitchFamily="34" charset="-120"/>
              </a:rPr>
              <a:t>1</a:t>
            </a:r>
            <a:endParaRPr lang="en-US" sz="1000" dirty="0"/>
          </a:p>
        </p:txBody>
      </p:sp>
      <p:sp>
        <p:nvSpPr>
          <p:cNvPr id="31" name="Text 29"/>
          <p:cNvSpPr txBox="1"/>
          <p:nvPr/>
        </p:nvSpPr>
        <p:spPr>
          <a:xfrm>
            <a:off x="6986016" y="3493008"/>
            <a:ext cx="1587856" cy="256032"/>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Plan</a:t>
            </a:r>
            <a:endParaRPr lang="en-US" sz="1250" dirty="0"/>
          </a:p>
        </p:txBody>
      </p:sp>
      <p:sp>
        <p:nvSpPr>
          <p:cNvPr id="32" name="Text 30"/>
          <p:cNvSpPr txBox="1"/>
          <p:nvPr/>
        </p:nvSpPr>
        <p:spPr>
          <a:xfrm>
            <a:off x="6583680" y="3840480"/>
            <a:ext cx="1990192" cy="40233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Pick the sprint's use cases from the SRS and the WBS.</a:t>
            </a:r>
            <a:endParaRPr lang="en-US" sz="950" dirty="0"/>
          </a:p>
        </p:txBody>
      </p:sp>
      <p:sp>
        <p:nvSpPr>
          <p:cNvPr id="33" name="Shape 31"/>
          <p:cNvSpPr/>
          <p:nvPr/>
        </p:nvSpPr>
        <p:spPr>
          <a:xfrm>
            <a:off x="9031072" y="3310128"/>
            <a:ext cx="2319376" cy="1024128"/>
          </a:xfrm>
          <a:prstGeom prst="roundRect">
            <a:avLst>
              <a:gd name="adj" fmla="val 7143"/>
            </a:avLst>
          </a:prstGeom>
          <a:solidFill>
            <a:srgbClr val="F4F2EF"/>
          </a:solidFill>
          <a:ln/>
        </p:spPr>
      </p:sp>
      <p:sp>
        <p:nvSpPr>
          <p:cNvPr id="34" name="Shape 32"/>
          <p:cNvSpPr/>
          <p:nvPr/>
        </p:nvSpPr>
        <p:spPr>
          <a:xfrm>
            <a:off x="9195664" y="3474720"/>
            <a:ext cx="310896" cy="310896"/>
          </a:xfrm>
          <a:prstGeom prst="ellipse">
            <a:avLst/>
          </a:prstGeom>
          <a:solidFill>
            <a:srgbClr val="F2A413"/>
          </a:solidFill>
          <a:ln/>
        </p:spPr>
      </p:sp>
      <p:sp>
        <p:nvSpPr>
          <p:cNvPr id="35" name="Text 33"/>
          <p:cNvSpPr txBox="1"/>
          <p:nvPr/>
        </p:nvSpPr>
        <p:spPr>
          <a:xfrm>
            <a:off x="9195664" y="3474720"/>
            <a:ext cx="310896" cy="310896"/>
          </a:xfrm>
          <a:prstGeom prst="rect">
            <a:avLst/>
          </a:prstGeom>
          <a:noFill/>
          <a:ln/>
        </p:spPr>
        <p:txBody>
          <a:bodyPr wrap="square" lIns="0" tIns="0" rIns="0" bIns="0" rtlCol="0" anchor="ctr"/>
          <a:lstStyle/>
          <a:p>
            <a:pPr algn="ctr" indent="0" marL="0">
              <a:buNone/>
            </a:pPr>
            <a:r>
              <a:rPr lang="en-US" sz="1000" b="1" dirty="0">
                <a:solidFill>
                  <a:srgbClr val="16191D"/>
                </a:solidFill>
                <a:latin typeface="Calibri" pitchFamily="34" charset="0"/>
                <a:ea typeface="Calibri" pitchFamily="34" charset="-122"/>
                <a:cs typeface="Calibri" pitchFamily="34" charset="-120"/>
              </a:rPr>
              <a:t>2</a:t>
            </a:r>
            <a:endParaRPr lang="en-US" sz="1000" dirty="0"/>
          </a:p>
        </p:txBody>
      </p:sp>
      <p:sp>
        <p:nvSpPr>
          <p:cNvPr id="36" name="Text 34"/>
          <p:cNvSpPr txBox="1"/>
          <p:nvPr/>
        </p:nvSpPr>
        <p:spPr>
          <a:xfrm>
            <a:off x="9598000" y="3493008"/>
            <a:ext cx="1587856" cy="256032"/>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Build</a:t>
            </a:r>
            <a:endParaRPr lang="en-US" sz="1250" dirty="0"/>
          </a:p>
        </p:txBody>
      </p:sp>
      <p:sp>
        <p:nvSpPr>
          <p:cNvPr id="37" name="Text 35"/>
          <p:cNvSpPr txBox="1"/>
          <p:nvPr/>
        </p:nvSpPr>
        <p:spPr>
          <a:xfrm>
            <a:off x="9195664" y="3840480"/>
            <a:ext cx="1990192" cy="40233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Implement against the SDD design and the coding standards.</a:t>
            </a:r>
            <a:endParaRPr lang="en-US" sz="950" dirty="0"/>
          </a:p>
        </p:txBody>
      </p:sp>
      <p:sp>
        <p:nvSpPr>
          <p:cNvPr id="38" name="Shape 36"/>
          <p:cNvSpPr/>
          <p:nvPr/>
        </p:nvSpPr>
        <p:spPr>
          <a:xfrm>
            <a:off x="6419088" y="4498848"/>
            <a:ext cx="2319376" cy="1024128"/>
          </a:xfrm>
          <a:prstGeom prst="roundRect">
            <a:avLst>
              <a:gd name="adj" fmla="val 7143"/>
            </a:avLst>
          </a:prstGeom>
          <a:solidFill>
            <a:srgbClr val="F4F2EF"/>
          </a:solidFill>
          <a:ln/>
        </p:spPr>
      </p:sp>
      <p:sp>
        <p:nvSpPr>
          <p:cNvPr id="39" name="Shape 37"/>
          <p:cNvSpPr/>
          <p:nvPr/>
        </p:nvSpPr>
        <p:spPr>
          <a:xfrm>
            <a:off x="6583680" y="4663440"/>
            <a:ext cx="310896" cy="310896"/>
          </a:xfrm>
          <a:prstGeom prst="ellipse">
            <a:avLst/>
          </a:prstGeom>
          <a:solidFill>
            <a:srgbClr val="F2A413"/>
          </a:solidFill>
          <a:ln/>
        </p:spPr>
      </p:sp>
      <p:sp>
        <p:nvSpPr>
          <p:cNvPr id="40" name="Text 38"/>
          <p:cNvSpPr txBox="1"/>
          <p:nvPr/>
        </p:nvSpPr>
        <p:spPr>
          <a:xfrm>
            <a:off x="6583680" y="4663440"/>
            <a:ext cx="310896" cy="310896"/>
          </a:xfrm>
          <a:prstGeom prst="rect">
            <a:avLst/>
          </a:prstGeom>
          <a:noFill/>
          <a:ln/>
        </p:spPr>
        <p:txBody>
          <a:bodyPr wrap="square" lIns="0" tIns="0" rIns="0" bIns="0" rtlCol="0" anchor="ctr"/>
          <a:lstStyle/>
          <a:p>
            <a:pPr algn="ctr" indent="0" marL="0">
              <a:buNone/>
            </a:pPr>
            <a:r>
              <a:rPr lang="en-US" sz="1000" b="1" dirty="0">
                <a:solidFill>
                  <a:srgbClr val="16191D"/>
                </a:solidFill>
                <a:latin typeface="Calibri" pitchFamily="34" charset="0"/>
                <a:ea typeface="Calibri" pitchFamily="34" charset="-122"/>
                <a:cs typeface="Calibri" pitchFamily="34" charset="-120"/>
              </a:rPr>
              <a:t>3</a:t>
            </a:r>
            <a:endParaRPr lang="en-US" sz="1000" dirty="0"/>
          </a:p>
        </p:txBody>
      </p:sp>
      <p:sp>
        <p:nvSpPr>
          <p:cNvPr id="41" name="Text 39"/>
          <p:cNvSpPr txBox="1"/>
          <p:nvPr/>
        </p:nvSpPr>
        <p:spPr>
          <a:xfrm>
            <a:off x="6986016" y="4681728"/>
            <a:ext cx="1587856" cy="256032"/>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Test</a:t>
            </a:r>
            <a:endParaRPr lang="en-US" sz="1250" dirty="0"/>
          </a:p>
        </p:txBody>
      </p:sp>
      <p:sp>
        <p:nvSpPr>
          <p:cNvPr id="42" name="Text 40"/>
          <p:cNvSpPr txBox="1"/>
          <p:nvPr/>
        </p:nvSpPr>
        <p:spPr>
          <a:xfrm>
            <a:off x="6583680" y="5029200"/>
            <a:ext cx="1990192" cy="40233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Unit tests, then the relevant STD test cases.</a:t>
            </a:r>
            <a:endParaRPr lang="en-US" sz="950" dirty="0"/>
          </a:p>
        </p:txBody>
      </p:sp>
      <p:sp>
        <p:nvSpPr>
          <p:cNvPr id="43" name="Shape 41"/>
          <p:cNvSpPr/>
          <p:nvPr/>
        </p:nvSpPr>
        <p:spPr>
          <a:xfrm>
            <a:off x="9031072" y="4498848"/>
            <a:ext cx="2319376" cy="1024128"/>
          </a:xfrm>
          <a:prstGeom prst="roundRect">
            <a:avLst>
              <a:gd name="adj" fmla="val 7143"/>
            </a:avLst>
          </a:prstGeom>
          <a:solidFill>
            <a:srgbClr val="F4F2EF"/>
          </a:solidFill>
          <a:ln/>
        </p:spPr>
      </p:sp>
      <p:sp>
        <p:nvSpPr>
          <p:cNvPr id="44" name="Shape 42"/>
          <p:cNvSpPr/>
          <p:nvPr/>
        </p:nvSpPr>
        <p:spPr>
          <a:xfrm>
            <a:off x="9195664" y="4663440"/>
            <a:ext cx="310896" cy="310896"/>
          </a:xfrm>
          <a:prstGeom prst="ellipse">
            <a:avLst/>
          </a:prstGeom>
          <a:solidFill>
            <a:srgbClr val="F2A413"/>
          </a:solidFill>
          <a:ln/>
        </p:spPr>
      </p:sp>
      <p:sp>
        <p:nvSpPr>
          <p:cNvPr id="45" name="Text 43"/>
          <p:cNvSpPr txBox="1"/>
          <p:nvPr/>
        </p:nvSpPr>
        <p:spPr>
          <a:xfrm>
            <a:off x="9195664" y="4663440"/>
            <a:ext cx="310896" cy="310896"/>
          </a:xfrm>
          <a:prstGeom prst="rect">
            <a:avLst/>
          </a:prstGeom>
          <a:noFill/>
          <a:ln/>
        </p:spPr>
        <p:txBody>
          <a:bodyPr wrap="square" lIns="0" tIns="0" rIns="0" bIns="0" rtlCol="0" anchor="ctr"/>
          <a:lstStyle/>
          <a:p>
            <a:pPr algn="ctr" indent="0" marL="0">
              <a:buNone/>
            </a:pPr>
            <a:r>
              <a:rPr lang="en-US" sz="1000" b="1" dirty="0">
                <a:solidFill>
                  <a:srgbClr val="16191D"/>
                </a:solidFill>
                <a:latin typeface="Calibri" pitchFamily="34" charset="0"/>
                <a:ea typeface="Calibri" pitchFamily="34" charset="-122"/>
                <a:cs typeface="Calibri" pitchFamily="34" charset="-120"/>
              </a:rPr>
              <a:t>4</a:t>
            </a:r>
            <a:endParaRPr lang="en-US" sz="1000" dirty="0"/>
          </a:p>
        </p:txBody>
      </p:sp>
      <p:sp>
        <p:nvSpPr>
          <p:cNvPr id="46" name="Text 44"/>
          <p:cNvSpPr txBox="1"/>
          <p:nvPr/>
        </p:nvSpPr>
        <p:spPr>
          <a:xfrm>
            <a:off x="9598000" y="4681728"/>
            <a:ext cx="1587856" cy="256032"/>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Review</a:t>
            </a:r>
            <a:endParaRPr lang="en-US" sz="1250" dirty="0"/>
          </a:p>
        </p:txBody>
      </p:sp>
      <p:sp>
        <p:nvSpPr>
          <p:cNvPr id="47" name="Text 45"/>
          <p:cNvSpPr txBox="1"/>
          <p:nvPr/>
        </p:nvSpPr>
        <p:spPr>
          <a:xfrm>
            <a:off x="9195664" y="5029200"/>
            <a:ext cx="1990192" cy="40233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Demo, adviser feedback, re-prioritise the next sprint.</a:t>
            </a:r>
            <a:endParaRPr lang="en-US" sz="950" dirty="0"/>
          </a:p>
        </p:txBody>
      </p:sp>
      <p:sp>
        <p:nvSpPr>
          <p:cNvPr id="48" name="Text 46"/>
          <p:cNvSpPr txBox="1"/>
          <p:nvPr/>
        </p:nvSpPr>
        <p:spPr>
          <a:xfrm>
            <a:off x="548640" y="6053328"/>
            <a:ext cx="11094415" cy="274320"/>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Reference: SPMP Section 4.1 Process Model. Weekly Friday stand-ups; any delay beyond five days escalates to the Project Manager.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Technology Stack</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16</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280160"/>
            <a:ext cx="11094415" cy="310896"/>
          </a:xfrm>
          <a:prstGeom prst="rect">
            <a:avLst/>
          </a:prstGeom>
          <a:noFill/>
          <a:ln/>
        </p:spPr>
        <p:txBody>
          <a:bodyPr wrap="square" lIns="0" tIns="0" rIns="0" bIns="0" rtlCol="0" anchor="t"/>
          <a:lstStyle/>
          <a:p>
            <a:pPr algn="l" indent="0" marL="0">
              <a:lnSpc>
                <a:spcPct val="108000"/>
              </a:lnSpc>
              <a:buNone/>
            </a:pPr>
            <a:r>
              <a:rPr lang="en-US" sz="1350" dirty="0">
                <a:solidFill>
                  <a:srgbClr val="2A3138"/>
                </a:solidFill>
                <a:latin typeface="Calibri" pitchFamily="34" charset="0"/>
                <a:ea typeface="Calibri" pitchFamily="34" charset="-122"/>
                <a:cs typeface="Calibri" pitchFamily="34" charset="-120"/>
              </a:rPr>
              <a:t>The stack is fixed by the SPMP and is not changed without team sign-off.</a:t>
            </a:r>
            <a:endParaRPr lang="en-US" sz="1350" dirty="0"/>
          </a:p>
        </p:txBody>
      </p:sp>
      <p:sp>
        <p:nvSpPr>
          <p:cNvPr id="7" name="Shape 5"/>
          <p:cNvSpPr/>
          <p:nvPr/>
        </p:nvSpPr>
        <p:spPr>
          <a:xfrm>
            <a:off x="548640" y="1700784"/>
            <a:ext cx="3484778" cy="2057400"/>
          </a:xfrm>
          <a:prstGeom prst="roundRect">
            <a:avLst>
              <a:gd name="adj" fmla="val 2667"/>
            </a:avLst>
          </a:prstGeom>
          <a:solidFill>
            <a:srgbClr val="FFFFFF"/>
          </a:solidFill>
          <a:ln w="12700">
            <a:solidFill>
              <a:srgbClr val="DCD7D0"/>
            </a:solidFill>
            <a:prstDash val="solid"/>
          </a:ln>
        </p:spPr>
      </p:sp>
      <p:sp>
        <p:nvSpPr>
          <p:cNvPr id="8" name="Shape 6"/>
          <p:cNvSpPr/>
          <p:nvPr/>
        </p:nvSpPr>
        <p:spPr>
          <a:xfrm>
            <a:off x="804672" y="1920240"/>
            <a:ext cx="365760" cy="365760"/>
          </a:xfrm>
          <a:prstGeom prst="ellipse">
            <a:avLst/>
          </a:prstGeom>
          <a:solidFill>
            <a:srgbClr val="F2A413"/>
          </a:solidFill>
          <a:ln/>
        </p:spPr>
      </p:sp>
      <p:sp>
        <p:nvSpPr>
          <p:cNvPr id="9" name="Text 7"/>
          <p:cNvSpPr txBox="1"/>
          <p:nvPr/>
        </p:nvSpPr>
        <p:spPr>
          <a:xfrm>
            <a:off x="804672" y="1920240"/>
            <a:ext cx="365760" cy="365760"/>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01</a:t>
            </a:r>
            <a:endParaRPr lang="en-US" sz="1100" dirty="0"/>
          </a:p>
        </p:txBody>
      </p:sp>
      <p:sp>
        <p:nvSpPr>
          <p:cNvPr id="10" name="Text 8"/>
          <p:cNvSpPr txBox="1"/>
          <p:nvPr/>
        </p:nvSpPr>
        <p:spPr>
          <a:xfrm>
            <a:off x="1280160" y="1956816"/>
            <a:ext cx="2515514"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Backend / API</a:t>
            </a:r>
            <a:endParaRPr lang="en-US" sz="1350" dirty="0"/>
          </a:p>
        </p:txBody>
      </p:sp>
      <p:sp>
        <p:nvSpPr>
          <p:cNvPr id="11" name="Text 9"/>
          <p:cNvSpPr txBox="1"/>
          <p:nvPr/>
        </p:nvSpPr>
        <p:spPr>
          <a:xfrm>
            <a:off x="822960" y="2432304"/>
            <a:ext cx="2936138" cy="118872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Laravel (PHP 8.x)</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RESTful API</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Role-based access control</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PSR-12 coding standard</a:t>
            </a:r>
            <a:endParaRPr lang="en-US" sz="1100" dirty="0"/>
          </a:p>
        </p:txBody>
      </p:sp>
      <p:sp>
        <p:nvSpPr>
          <p:cNvPr id="12" name="Shape 10"/>
          <p:cNvSpPr/>
          <p:nvPr/>
        </p:nvSpPr>
        <p:spPr>
          <a:xfrm>
            <a:off x="4353458" y="1700784"/>
            <a:ext cx="3484778" cy="2057400"/>
          </a:xfrm>
          <a:prstGeom prst="roundRect">
            <a:avLst>
              <a:gd name="adj" fmla="val 2667"/>
            </a:avLst>
          </a:prstGeom>
          <a:solidFill>
            <a:srgbClr val="FFFFFF"/>
          </a:solidFill>
          <a:ln w="12700">
            <a:solidFill>
              <a:srgbClr val="DCD7D0"/>
            </a:solidFill>
            <a:prstDash val="solid"/>
          </a:ln>
        </p:spPr>
      </p:sp>
      <p:sp>
        <p:nvSpPr>
          <p:cNvPr id="13" name="Shape 11"/>
          <p:cNvSpPr/>
          <p:nvPr/>
        </p:nvSpPr>
        <p:spPr>
          <a:xfrm>
            <a:off x="4609490" y="1920240"/>
            <a:ext cx="365760" cy="365760"/>
          </a:xfrm>
          <a:prstGeom prst="ellipse">
            <a:avLst/>
          </a:prstGeom>
          <a:solidFill>
            <a:srgbClr val="F2A413"/>
          </a:solidFill>
          <a:ln/>
        </p:spPr>
      </p:sp>
      <p:sp>
        <p:nvSpPr>
          <p:cNvPr id="14" name="Text 12"/>
          <p:cNvSpPr txBox="1"/>
          <p:nvPr/>
        </p:nvSpPr>
        <p:spPr>
          <a:xfrm>
            <a:off x="4609490" y="1920240"/>
            <a:ext cx="365760" cy="365760"/>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02</a:t>
            </a:r>
            <a:endParaRPr lang="en-US" sz="1100" dirty="0"/>
          </a:p>
        </p:txBody>
      </p:sp>
      <p:sp>
        <p:nvSpPr>
          <p:cNvPr id="15" name="Text 13"/>
          <p:cNvSpPr txBox="1"/>
          <p:nvPr/>
        </p:nvSpPr>
        <p:spPr>
          <a:xfrm>
            <a:off x="5084978" y="1956816"/>
            <a:ext cx="2515514"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Web Frontend</a:t>
            </a:r>
            <a:endParaRPr lang="en-US" sz="1350" dirty="0"/>
          </a:p>
        </p:txBody>
      </p:sp>
      <p:sp>
        <p:nvSpPr>
          <p:cNvPr id="16" name="Text 14"/>
          <p:cNvSpPr txBox="1"/>
          <p:nvPr/>
        </p:nvSpPr>
        <p:spPr>
          <a:xfrm>
            <a:off x="4627778" y="2432304"/>
            <a:ext cx="2936138" cy="118872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React.js</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TailwindCSS</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Vite build tooling</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Airbnb style guide</a:t>
            </a:r>
            <a:endParaRPr lang="en-US" sz="1100" dirty="0"/>
          </a:p>
        </p:txBody>
      </p:sp>
      <p:sp>
        <p:nvSpPr>
          <p:cNvPr id="17" name="Shape 15"/>
          <p:cNvSpPr/>
          <p:nvPr/>
        </p:nvSpPr>
        <p:spPr>
          <a:xfrm>
            <a:off x="8158277" y="1700784"/>
            <a:ext cx="3484778" cy="2057400"/>
          </a:xfrm>
          <a:prstGeom prst="roundRect">
            <a:avLst>
              <a:gd name="adj" fmla="val 2667"/>
            </a:avLst>
          </a:prstGeom>
          <a:solidFill>
            <a:srgbClr val="FFFFFF"/>
          </a:solidFill>
          <a:ln w="12700">
            <a:solidFill>
              <a:srgbClr val="DCD7D0"/>
            </a:solidFill>
            <a:prstDash val="solid"/>
          </a:ln>
        </p:spPr>
      </p:sp>
      <p:sp>
        <p:nvSpPr>
          <p:cNvPr id="18" name="Shape 16"/>
          <p:cNvSpPr/>
          <p:nvPr/>
        </p:nvSpPr>
        <p:spPr>
          <a:xfrm>
            <a:off x="8414309" y="1920240"/>
            <a:ext cx="365760" cy="365760"/>
          </a:xfrm>
          <a:prstGeom prst="ellipse">
            <a:avLst/>
          </a:prstGeom>
          <a:solidFill>
            <a:srgbClr val="F2A413"/>
          </a:solidFill>
          <a:ln/>
        </p:spPr>
      </p:sp>
      <p:sp>
        <p:nvSpPr>
          <p:cNvPr id="19" name="Text 17"/>
          <p:cNvSpPr txBox="1"/>
          <p:nvPr/>
        </p:nvSpPr>
        <p:spPr>
          <a:xfrm>
            <a:off x="8414309" y="1920240"/>
            <a:ext cx="365760" cy="365760"/>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03</a:t>
            </a:r>
            <a:endParaRPr lang="en-US" sz="1100" dirty="0"/>
          </a:p>
        </p:txBody>
      </p:sp>
      <p:sp>
        <p:nvSpPr>
          <p:cNvPr id="20" name="Text 18"/>
          <p:cNvSpPr txBox="1"/>
          <p:nvPr/>
        </p:nvSpPr>
        <p:spPr>
          <a:xfrm>
            <a:off x="8889797" y="1956816"/>
            <a:ext cx="2515514"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Mobile</a:t>
            </a:r>
            <a:endParaRPr lang="en-US" sz="1350" dirty="0"/>
          </a:p>
        </p:txBody>
      </p:sp>
      <p:sp>
        <p:nvSpPr>
          <p:cNvPr id="21" name="Text 19"/>
          <p:cNvSpPr txBox="1"/>
          <p:nvPr/>
        </p:nvSpPr>
        <p:spPr>
          <a:xfrm>
            <a:off x="8432597" y="2432304"/>
            <a:ext cx="2936138" cy="118872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React Native</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Android primary</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iOS secondary</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Tap-based offline UI</a:t>
            </a:r>
            <a:endParaRPr lang="en-US" sz="1100" dirty="0"/>
          </a:p>
        </p:txBody>
      </p:sp>
      <p:sp>
        <p:nvSpPr>
          <p:cNvPr id="22" name="Shape 20"/>
          <p:cNvSpPr/>
          <p:nvPr/>
        </p:nvSpPr>
        <p:spPr>
          <a:xfrm>
            <a:off x="548640" y="4023360"/>
            <a:ext cx="5364328" cy="2121408"/>
          </a:xfrm>
          <a:prstGeom prst="roundRect">
            <a:avLst>
              <a:gd name="adj" fmla="val 2586"/>
            </a:avLst>
          </a:prstGeom>
          <a:solidFill>
            <a:srgbClr val="FFFFFF"/>
          </a:solidFill>
          <a:ln w="12700">
            <a:solidFill>
              <a:srgbClr val="DCD7D0"/>
            </a:solidFill>
            <a:prstDash val="solid"/>
          </a:ln>
        </p:spPr>
      </p:sp>
      <p:sp>
        <p:nvSpPr>
          <p:cNvPr id="23" name="Shape 21"/>
          <p:cNvSpPr/>
          <p:nvPr/>
        </p:nvSpPr>
        <p:spPr>
          <a:xfrm>
            <a:off x="804672" y="4242816"/>
            <a:ext cx="365760" cy="365760"/>
          </a:xfrm>
          <a:prstGeom prst="ellipse">
            <a:avLst/>
          </a:prstGeom>
          <a:solidFill>
            <a:srgbClr val="F2A413"/>
          </a:solidFill>
          <a:ln/>
        </p:spPr>
      </p:sp>
      <p:sp>
        <p:nvSpPr>
          <p:cNvPr id="24" name="Text 22"/>
          <p:cNvSpPr txBox="1"/>
          <p:nvPr/>
        </p:nvSpPr>
        <p:spPr>
          <a:xfrm>
            <a:off x="804672" y="4242816"/>
            <a:ext cx="365760" cy="365760"/>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04</a:t>
            </a:r>
            <a:endParaRPr lang="en-US" sz="1100" dirty="0"/>
          </a:p>
        </p:txBody>
      </p:sp>
      <p:sp>
        <p:nvSpPr>
          <p:cNvPr id="25" name="Text 23"/>
          <p:cNvSpPr txBox="1"/>
          <p:nvPr/>
        </p:nvSpPr>
        <p:spPr>
          <a:xfrm>
            <a:off x="1280160" y="4279392"/>
            <a:ext cx="4395064"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Data</a:t>
            </a:r>
            <a:endParaRPr lang="en-US" sz="1350" dirty="0"/>
          </a:p>
        </p:txBody>
      </p:sp>
      <p:sp>
        <p:nvSpPr>
          <p:cNvPr id="26" name="Text 24"/>
          <p:cNvSpPr txBox="1"/>
          <p:nvPr/>
        </p:nvSpPr>
        <p:spPr>
          <a:xfrm>
            <a:off x="822960" y="4736592"/>
            <a:ext cx="4815688" cy="12801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MySQL 8.0 - central database, 13-table schema</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SQLite with SQLCipher (AES-256) - encrypted on-device storage</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Eloquent ORM and Laravel migrations</a:t>
            </a:r>
            <a:endParaRPr lang="en-US" sz="1100" dirty="0"/>
          </a:p>
        </p:txBody>
      </p:sp>
      <p:sp>
        <p:nvSpPr>
          <p:cNvPr id="27" name="Shape 25"/>
          <p:cNvSpPr/>
          <p:nvPr/>
        </p:nvSpPr>
        <p:spPr>
          <a:xfrm>
            <a:off x="6278728" y="4023360"/>
            <a:ext cx="5364328" cy="2121408"/>
          </a:xfrm>
          <a:prstGeom prst="roundRect">
            <a:avLst>
              <a:gd name="adj" fmla="val 2586"/>
            </a:avLst>
          </a:prstGeom>
          <a:solidFill>
            <a:srgbClr val="FFFFFF"/>
          </a:solidFill>
          <a:ln w="12700">
            <a:solidFill>
              <a:srgbClr val="DCD7D0"/>
            </a:solidFill>
            <a:prstDash val="solid"/>
          </a:ln>
        </p:spPr>
      </p:sp>
      <p:sp>
        <p:nvSpPr>
          <p:cNvPr id="28" name="Shape 26"/>
          <p:cNvSpPr/>
          <p:nvPr/>
        </p:nvSpPr>
        <p:spPr>
          <a:xfrm>
            <a:off x="6534760" y="4242816"/>
            <a:ext cx="365760" cy="365760"/>
          </a:xfrm>
          <a:prstGeom prst="ellipse">
            <a:avLst/>
          </a:prstGeom>
          <a:solidFill>
            <a:srgbClr val="F2A413"/>
          </a:solidFill>
          <a:ln/>
        </p:spPr>
      </p:sp>
      <p:sp>
        <p:nvSpPr>
          <p:cNvPr id="29" name="Text 27"/>
          <p:cNvSpPr txBox="1"/>
          <p:nvPr/>
        </p:nvSpPr>
        <p:spPr>
          <a:xfrm>
            <a:off x="6534760" y="4242816"/>
            <a:ext cx="365760" cy="365760"/>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05</a:t>
            </a:r>
            <a:endParaRPr lang="en-US" sz="1100" dirty="0"/>
          </a:p>
        </p:txBody>
      </p:sp>
      <p:sp>
        <p:nvSpPr>
          <p:cNvPr id="30" name="Text 28"/>
          <p:cNvSpPr txBox="1"/>
          <p:nvPr/>
        </p:nvSpPr>
        <p:spPr>
          <a:xfrm>
            <a:off x="7010248" y="4279392"/>
            <a:ext cx="4395064"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Security and Cryptography</a:t>
            </a:r>
            <a:endParaRPr lang="en-US" sz="1350" dirty="0"/>
          </a:p>
        </p:txBody>
      </p:sp>
      <p:sp>
        <p:nvSpPr>
          <p:cNvPr id="31" name="Text 29"/>
          <p:cNvSpPr txBox="1"/>
          <p:nvPr/>
        </p:nvSpPr>
        <p:spPr>
          <a:xfrm>
            <a:off x="6553048" y="4736592"/>
            <a:ext cx="4815688" cy="1280160"/>
          </a:xfrm>
          <a:prstGeom prst="rect">
            <a:avLst/>
          </a:prstGeom>
          <a:noFill/>
          <a:ln/>
        </p:spPr>
        <p:txBody>
          <a:bodyPr wrap="square" lIns="0" tIns="0" rIns="0" bIns="0" rtlCol="0" anchor="ctr"/>
          <a:lstStyle/>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HMAC-SHA256 hash chaining across attendance records</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ECDSA P-256 signing of synced batches</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Android Keystore TEE / iOS Secure Enclave key storage</a:t>
            </a:r>
            <a:endParaRPr lang="en-US" sz="1100" dirty="0"/>
          </a:p>
          <a:p>
            <a:pPr marL="342900" indent="-342900">
              <a:lnSpc>
                <a:spcPct val="105000"/>
              </a:lnSpc>
              <a:spcAft>
                <a:spcPts val="500"/>
              </a:spcAft>
              <a:buSzPct val="100000"/>
              <a:buChar char="▪"/>
            </a:pPr>
            <a:r>
              <a:rPr lang="en-US" sz="1100" dirty="0">
                <a:solidFill>
                  <a:srgbClr val="5A656F"/>
                </a:solidFill>
                <a:latin typeface="Calibri" pitchFamily="34" charset="0"/>
                <a:ea typeface="Calibri" pitchFamily="34" charset="-122"/>
                <a:cs typeface="Calibri" pitchFamily="34" charset="-120"/>
              </a:rPr>
              <a:t>Monotonic clock: elapsedRealtime / mach_continuous_time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Development Resources and Requirements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17</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Jay Mark A. Reños  ·  Project Manager</a:t>
            </a:r>
            <a:endParaRPr lang="en-US" sz="900" dirty="0"/>
          </a:p>
        </p:txBody>
      </p:sp>
      <p:sp>
        <p:nvSpPr>
          <p:cNvPr id="6" name="Shape 4"/>
          <p:cNvSpPr/>
          <p:nvPr/>
        </p:nvSpPr>
        <p:spPr>
          <a:xfrm>
            <a:off x="548640" y="1371600"/>
            <a:ext cx="3484778" cy="3429000"/>
          </a:xfrm>
          <a:prstGeom prst="roundRect">
            <a:avLst>
              <a:gd name="adj" fmla="val 1600"/>
            </a:avLst>
          </a:prstGeom>
          <a:solidFill>
            <a:srgbClr val="FFFFFF"/>
          </a:solidFill>
          <a:ln w="12700">
            <a:solidFill>
              <a:srgbClr val="DCD7D0"/>
            </a:solidFill>
            <a:prstDash val="solid"/>
          </a:ln>
        </p:spPr>
      </p:sp>
      <p:sp>
        <p:nvSpPr>
          <p:cNvPr id="7" name="Shape 5"/>
          <p:cNvSpPr/>
          <p:nvPr/>
        </p:nvSpPr>
        <p:spPr>
          <a:xfrm>
            <a:off x="804672" y="1609344"/>
            <a:ext cx="384048" cy="384048"/>
          </a:xfrm>
          <a:prstGeom prst="ellipse">
            <a:avLst/>
          </a:prstGeom>
          <a:solidFill>
            <a:srgbClr val="F2A413"/>
          </a:solidFill>
          <a:ln/>
        </p:spPr>
      </p:sp>
      <p:sp>
        <p:nvSpPr>
          <p:cNvPr id="8" name="Text 6"/>
          <p:cNvSpPr txBox="1"/>
          <p:nvPr/>
        </p:nvSpPr>
        <p:spPr>
          <a:xfrm>
            <a:off x="804672" y="1609344"/>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1316736" y="1645920"/>
            <a:ext cx="2478938" cy="274320"/>
          </a:xfrm>
          <a:prstGeom prst="rect">
            <a:avLst/>
          </a:prstGeom>
          <a:noFill/>
          <a:ln/>
        </p:spPr>
        <p:txBody>
          <a:bodyPr wrap="square" lIns="0" tIns="0" rIns="0" bIns="0" rtlCol="0" anchor="t"/>
          <a:lstStyle/>
          <a:p>
            <a:pPr indent="0" marL="0">
              <a:buNone/>
            </a:pPr>
            <a:r>
              <a:rPr lang="en-US" sz="1400" b="1" dirty="0">
                <a:solidFill>
                  <a:srgbClr val="16191D"/>
                </a:solidFill>
                <a:latin typeface="Calibri" pitchFamily="34" charset="0"/>
                <a:ea typeface="Calibri" pitchFamily="34" charset="-122"/>
                <a:cs typeface="Calibri" pitchFamily="34" charset="-120"/>
              </a:rPr>
              <a:t>Hardware</a:t>
            </a:r>
            <a:endParaRPr lang="en-US" sz="1400" dirty="0"/>
          </a:p>
        </p:txBody>
      </p:sp>
      <p:sp>
        <p:nvSpPr>
          <p:cNvPr id="10" name="Text 8"/>
          <p:cNvSpPr txBox="1"/>
          <p:nvPr/>
        </p:nvSpPr>
        <p:spPr>
          <a:xfrm>
            <a:off x="822960" y="2157984"/>
            <a:ext cx="2936138" cy="246888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Five developer workstations, one per team member</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Android test smartphone, Android 10 or higher with a hardware-backed keystore</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Local development server for the Laravel API and MySQL</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Minimum client spec: dual-core 2.0 GHz, 4 GB RAM for the web portal</a:t>
            </a:r>
            <a:endParaRPr lang="en-US" sz="1100" dirty="0"/>
          </a:p>
        </p:txBody>
      </p:sp>
      <p:sp>
        <p:nvSpPr>
          <p:cNvPr id="11" name="Shape 9"/>
          <p:cNvSpPr/>
          <p:nvPr/>
        </p:nvSpPr>
        <p:spPr>
          <a:xfrm>
            <a:off x="4353458" y="1371600"/>
            <a:ext cx="3484778" cy="3429000"/>
          </a:xfrm>
          <a:prstGeom prst="roundRect">
            <a:avLst>
              <a:gd name="adj" fmla="val 1600"/>
            </a:avLst>
          </a:prstGeom>
          <a:solidFill>
            <a:srgbClr val="FFFFFF"/>
          </a:solidFill>
          <a:ln w="12700">
            <a:solidFill>
              <a:srgbClr val="DCD7D0"/>
            </a:solidFill>
            <a:prstDash val="solid"/>
          </a:ln>
        </p:spPr>
      </p:sp>
      <p:sp>
        <p:nvSpPr>
          <p:cNvPr id="12" name="Shape 10"/>
          <p:cNvSpPr/>
          <p:nvPr/>
        </p:nvSpPr>
        <p:spPr>
          <a:xfrm>
            <a:off x="4609490" y="1609344"/>
            <a:ext cx="384048" cy="384048"/>
          </a:xfrm>
          <a:prstGeom prst="ellipse">
            <a:avLst/>
          </a:prstGeom>
          <a:solidFill>
            <a:srgbClr val="F2A413"/>
          </a:solidFill>
          <a:ln/>
        </p:spPr>
      </p:sp>
      <p:sp>
        <p:nvSpPr>
          <p:cNvPr id="13" name="Text 11"/>
          <p:cNvSpPr txBox="1"/>
          <p:nvPr/>
        </p:nvSpPr>
        <p:spPr>
          <a:xfrm>
            <a:off x="4609490" y="1609344"/>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02</a:t>
            </a:r>
            <a:endParaRPr lang="en-US" sz="1100" dirty="0"/>
          </a:p>
        </p:txBody>
      </p:sp>
      <p:sp>
        <p:nvSpPr>
          <p:cNvPr id="14" name="Text 12"/>
          <p:cNvSpPr txBox="1"/>
          <p:nvPr/>
        </p:nvSpPr>
        <p:spPr>
          <a:xfrm>
            <a:off x="5121554" y="1645920"/>
            <a:ext cx="2478938" cy="274320"/>
          </a:xfrm>
          <a:prstGeom prst="rect">
            <a:avLst/>
          </a:prstGeom>
          <a:noFill/>
          <a:ln/>
        </p:spPr>
        <p:txBody>
          <a:bodyPr wrap="square" lIns="0" tIns="0" rIns="0" bIns="0" rtlCol="0" anchor="t"/>
          <a:lstStyle/>
          <a:p>
            <a:pPr indent="0" marL="0">
              <a:buNone/>
            </a:pPr>
            <a:r>
              <a:rPr lang="en-US" sz="1400" b="1" dirty="0">
                <a:solidFill>
                  <a:srgbClr val="16191D"/>
                </a:solidFill>
                <a:latin typeface="Calibri" pitchFamily="34" charset="0"/>
                <a:ea typeface="Calibri" pitchFamily="34" charset="-122"/>
                <a:cs typeface="Calibri" pitchFamily="34" charset="-120"/>
              </a:rPr>
              <a:t>Software and Tools</a:t>
            </a:r>
            <a:endParaRPr lang="en-US" sz="1400" dirty="0"/>
          </a:p>
        </p:txBody>
      </p:sp>
      <p:sp>
        <p:nvSpPr>
          <p:cNvPr id="15" name="Text 13"/>
          <p:cNvSpPr txBox="1"/>
          <p:nvPr/>
        </p:nvSpPr>
        <p:spPr>
          <a:xfrm>
            <a:off x="4627778" y="2157984"/>
            <a:ext cx="2936138" cy="246888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Node.js and npm for the React and React Native builds</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PHP 8.x and Composer for Laravel</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MySQL 8.0 and SQLite</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Git with GitHub for version control</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VS Code, Postman, Figma, draw.io</a:t>
            </a:r>
            <a:endParaRPr lang="en-US" sz="1100" dirty="0"/>
          </a:p>
        </p:txBody>
      </p:sp>
      <p:sp>
        <p:nvSpPr>
          <p:cNvPr id="16" name="Shape 14"/>
          <p:cNvSpPr/>
          <p:nvPr/>
        </p:nvSpPr>
        <p:spPr>
          <a:xfrm>
            <a:off x="8158277" y="1371600"/>
            <a:ext cx="3484778" cy="3429000"/>
          </a:xfrm>
          <a:prstGeom prst="roundRect">
            <a:avLst>
              <a:gd name="adj" fmla="val 1600"/>
            </a:avLst>
          </a:prstGeom>
          <a:solidFill>
            <a:srgbClr val="FFFFFF"/>
          </a:solidFill>
          <a:ln w="12700">
            <a:solidFill>
              <a:srgbClr val="DCD7D0"/>
            </a:solidFill>
            <a:prstDash val="solid"/>
          </a:ln>
        </p:spPr>
      </p:sp>
      <p:sp>
        <p:nvSpPr>
          <p:cNvPr id="17" name="Shape 15"/>
          <p:cNvSpPr/>
          <p:nvPr/>
        </p:nvSpPr>
        <p:spPr>
          <a:xfrm>
            <a:off x="8414309" y="1609344"/>
            <a:ext cx="384048" cy="384048"/>
          </a:xfrm>
          <a:prstGeom prst="ellipse">
            <a:avLst/>
          </a:prstGeom>
          <a:solidFill>
            <a:srgbClr val="F2A413"/>
          </a:solidFill>
          <a:ln/>
        </p:spPr>
      </p:sp>
      <p:sp>
        <p:nvSpPr>
          <p:cNvPr id="18" name="Text 16"/>
          <p:cNvSpPr txBox="1"/>
          <p:nvPr/>
        </p:nvSpPr>
        <p:spPr>
          <a:xfrm>
            <a:off x="8414309" y="1609344"/>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03</a:t>
            </a:r>
            <a:endParaRPr lang="en-US" sz="1100" dirty="0"/>
          </a:p>
        </p:txBody>
      </p:sp>
      <p:sp>
        <p:nvSpPr>
          <p:cNvPr id="19" name="Text 17"/>
          <p:cNvSpPr txBox="1"/>
          <p:nvPr/>
        </p:nvSpPr>
        <p:spPr>
          <a:xfrm>
            <a:off x="8926373" y="1645920"/>
            <a:ext cx="2478938" cy="274320"/>
          </a:xfrm>
          <a:prstGeom prst="rect">
            <a:avLst/>
          </a:prstGeom>
          <a:noFill/>
          <a:ln/>
        </p:spPr>
        <p:txBody>
          <a:bodyPr wrap="square" lIns="0" tIns="0" rIns="0" bIns="0" rtlCol="0" anchor="t"/>
          <a:lstStyle/>
          <a:p>
            <a:pPr indent="0" marL="0">
              <a:buNone/>
            </a:pPr>
            <a:r>
              <a:rPr lang="en-US" sz="1400" b="1" dirty="0">
                <a:solidFill>
                  <a:srgbClr val="16191D"/>
                </a:solidFill>
                <a:latin typeface="Calibri" pitchFamily="34" charset="0"/>
                <a:ea typeface="Calibri" pitchFamily="34" charset="-122"/>
                <a:cs typeface="Calibri" pitchFamily="34" charset="-120"/>
              </a:rPr>
              <a:t>Environments and Hosting</a:t>
            </a:r>
            <a:endParaRPr lang="en-US" sz="1400" dirty="0"/>
          </a:p>
        </p:txBody>
      </p:sp>
      <p:sp>
        <p:nvSpPr>
          <p:cNvPr id="20" name="Text 18"/>
          <p:cNvSpPr txBox="1"/>
          <p:nvPr/>
        </p:nvSpPr>
        <p:spPr>
          <a:xfrm>
            <a:off x="8432597" y="2157984"/>
            <a:ext cx="2936138" cy="246888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Local development on XAMPP or Docker</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Staging on a local network server for integration testing</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Production cloud hosting after the capstone, to be selected with the client</a:t>
            </a:r>
            <a:endParaRPr lang="en-US" sz="1100" dirty="0"/>
          </a:p>
          <a:p>
            <a:pPr marL="342900" indent="-342900">
              <a:lnSpc>
                <a:spcPct val="105000"/>
              </a:lnSpc>
              <a:spcAft>
                <a:spcPts val="800"/>
              </a:spcAft>
              <a:buSzPct val="100000"/>
              <a:buChar char="▪"/>
            </a:pPr>
            <a:r>
              <a:rPr lang="en-US" sz="1100" dirty="0">
                <a:solidFill>
                  <a:srgbClr val="5A656F"/>
                </a:solidFill>
                <a:latin typeface="Calibri" pitchFamily="34" charset="0"/>
                <a:ea typeface="Calibri" pitchFamily="34" charset="-122"/>
                <a:cs typeface="Calibri" pitchFamily="34" charset="-120"/>
              </a:rPr>
              <a:t>No paid third-party APIs required</a:t>
            </a:r>
            <a:endParaRPr lang="en-US" sz="1100" dirty="0"/>
          </a:p>
        </p:txBody>
      </p:sp>
      <p:sp>
        <p:nvSpPr>
          <p:cNvPr id="21" name="Shape 19"/>
          <p:cNvSpPr/>
          <p:nvPr/>
        </p:nvSpPr>
        <p:spPr>
          <a:xfrm>
            <a:off x="548640" y="5029200"/>
            <a:ext cx="11094415" cy="1097280"/>
          </a:xfrm>
          <a:prstGeom prst="roundRect">
            <a:avLst>
              <a:gd name="adj" fmla="val 5000"/>
            </a:avLst>
          </a:prstGeom>
          <a:solidFill>
            <a:srgbClr val="16191D"/>
          </a:solidFill>
          <a:ln/>
        </p:spPr>
      </p:sp>
      <p:sp>
        <p:nvSpPr>
          <p:cNvPr id="22" name="Text 20"/>
          <p:cNvSpPr txBox="1"/>
          <p:nvPr/>
        </p:nvSpPr>
        <p:spPr>
          <a:xfrm>
            <a:off x="868680" y="5248656"/>
            <a:ext cx="283464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ESTIMATED BUDGET</a:t>
            </a:r>
            <a:endParaRPr lang="en-US" sz="1050" dirty="0"/>
          </a:p>
        </p:txBody>
      </p:sp>
      <p:sp>
        <p:nvSpPr>
          <p:cNvPr id="23" name="Text 21"/>
          <p:cNvSpPr txBox="1"/>
          <p:nvPr/>
        </p:nvSpPr>
        <p:spPr>
          <a:xfrm>
            <a:off x="868680" y="5504688"/>
            <a:ext cx="3108960" cy="41148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PHP 1,000 - 2,500</a:t>
            </a:r>
            <a:endParaRPr lang="en-US" sz="2200" dirty="0"/>
          </a:p>
        </p:txBody>
      </p:sp>
      <p:sp>
        <p:nvSpPr>
          <p:cNvPr id="24" name="Text 22"/>
          <p:cNvSpPr txBox="1"/>
          <p:nvPr/>
        </p:nvSpPr>
        <p:spPr>
          <a:xfrm>
            <a:off x="4297680" y="5394960"/>
            <a:ext cx="6979615" cy="566928"/>
          </a:xfrm>
          <a:prstGeom prst="rect">
            <a:avLst/>
          </a:prstGeom>
          <a:noFill/>
          <a:ln/>
        </p:spPr>
        <p:txBody>
          <a:bodyPr wrap="square" lIns="0" tIns="0" rIns="0" bIns="0" rtlCol="0" anchor="ctr"/>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All tooling is open-source or free tier, test devices are team-owned, and the defense runs on a local environment. The cost is documentation printing and team coordination.</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59775" y="914400"/>
            <a:ext cx="3383280" cy="3108960"/>
          </a:xfrm>
          <a:prstGeom prst="rect">
            <a:avLst/>
          </a:prstGeom>
          <a:noFill/>
          <a:ln/>
        </p:spPr>
        <p:txBody>
          <a:bodyPr wrap="square" lIns="0" tIns="0" rIns="0" bIns="0" rtlCol="0" anchor="ctr"/>
          <a:lstStyle/>
          <a:p>
            <a:pPr algn="r" indent="0" marL="0">
              <a:buNone/>
            </a:pPr>
            <a:r>
              <a:rPr lang="en-US" sz="16000" b="1" dirty="0">
                <a:solidFill>
                  <a:srgbClr val="2A3138"/>
                </a:solidFill>
                <a:latin typeface="Cambria" pitchFamily="34" charset="0"/>
                <a:ea typeface="Cambria" pitchFamily="34" charset="-122"/>
                <a:cs typeface="Cambria" pitchFamily="34" charset="-120"/>
              </a:rPr>
              <a:t>06</a:t>
            </a:r>
            <a:endParaRPr lang="en-US" sz="16000" dirty="0"/>
          </a:p>
        </p:txBody>
      </p:sp>
      <p:sp>
        <p:nvSpPr>
          <p:cNvPr id="3" name="Text 1"/>
          <p:cNvSpPr txBox="1"/>
          <p:nvPr/>
        </p:nvSpPr>
        <p:spPr>
          <a:xfrm>
            <a:off x="822960" y="2240280"/>
            <a:ext cx="6949440" cy="274320"/>
          </a:xfrm>
          <a:prstGeom prst="rect">
            <a:avLst/>
          </a:prstGeom>
          <a:noFill/>
          <a:ln/>
        </p:spPr>
        <p:txBody>
          <a:bodyPr wrap="square" lIns="0" tIns="0" rIns="0" bIns="0" rtlCol="0" anchor="ctr"/>
          <a:lstStyle/>
          <a:p>
            <a:pPr indent="0" marL="0">
              <a:buNone/>
            </a:pPr>
            <a:r>
              <a:rPr lang="en-US" sz="1200" b="1" spc="160" kern="0" dirty="0">
                <a:solidFill>
                  <a:srgbClr val="F2A413"/>
                </a:solidFill>
                <a:latin typeface="Calibri" pitchFamily="34" charset="0"/>
                <a:ea typeface="Calibri" pitchFamily="34" charset="-122"/>
                <a:cs typeface="Calibri" pitchFamily="34" charset="-120"/>
              </a:rPr>
              <a:t>SECTION 6</a:t>
            </a:r>
            <a:endParaRPr lang="en-US" sz="1200" dirty="0"/>
          </a:p>
        </p:txBody>
      </p:sp>
      <p:sp>
        <p:nvSpPr>
          <p:cNvPr id="4" name="Text 2"/>
          <p:cNvSpPr txBox="1"/>
          <p:nvPr/>
        </p:nvSpPr>
        <p:spPr>
          <a:xfrm>
            <a:off x="822960" y="2487168"/>
            <a:ext cx="7315200" cy="138988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Core Features and Prototype</a:t>
            </a:r>
            <a:endParaRPr lang="en-US" sz="4000" dirty="0"/>
          </a:p>
        </p:txBody>
      </p:sp>
      <p:sp>
        <p:nvSpPr>
          <p:cNvPr id="5" name="Text 3"/>
          <p:cNvSpPr txBox="1"/>
          <p:nvPr/>
        </p:nvSpPr>
        <p:spPr>
          <a:xfrm>
            <a:off x="822960" y="3968496"/>
            <a:ext cx="6766560" cy="777240"/>
          </a:xfrm>
          <a:prstGeom prst="rect">
            <a:avLst/>
          </a:prstGeom>
          <a:noFill/>
          <a:ln/>
        </p:spPr>
        <p:txBody>
          <a:bodyPr wrap="square" lIns="0" tIns="0" rIns="0" bIns="0" rtlCol="0" anchor="ctr"/>
          <a:lstStyle/>
          <a:p>
            <a:pPr indent="0" marL="0">
              <a:buNone/>
            </a:pPr>
            <a:r>
              <a:rPr lang="en-US" sz="1500" dirty="0">
                <a:solidFill>
                  <a:srgbClr val="8A949D"/>
                </a:solidFill>
                <a:latin typeface="Calibri" pitchFamily="34" charset="0"/>
                <a:ea typeface="Calibri" pitchFamily="34" charset="-122"/>
                <a:cs typeface="Calibri" pitchFamily="34" charset="-120"/>
              </a:rPr>
              <a:t>The ten features that do the actual work of solving the problem, then the interface prototype for each part of the system.</a:t>
            </a:r>
            <a:endParaRPr lang="en-US" sz="1500" dirty="0"/>
          </a:p>
        </p:txBody>
      </p:sp>
      <p:sp>
        <p:nvSpPr>
          <p:cNvPr id="6" name="Shape 4"/>
          <p:cNvSpPr/>
          <p:nvPr/>
        </p:nvSpPr>
        <p:spPr>
          <a:xfrm>
            <a:off x="822960" y="4956048"/>
            <a:ext cx="310896" cy="310896"/>
          </a:xfrm>
          <a:prstGeom prst="ellipse">
            <a:avLst/>
          </a:prstGeom>
          <a:solidFill>
            <a:srgbClr val="F2A413"/>
          </a:solidFill>
          <a:ln/>
        </p:spPr>
      </p:sp>
      <p:sp>
        <p:nvSpPr>
          <p:cNvPr id="7" name="Text 5"/>
          <p:cNvSpPr txBox="1"/>
          <p:nvPr/>
        </p:nvSpPr>
        <p:spPr>
          <a:xfrm>
            <a:off x="1261872" y="4965192"/>
            <a:ext cx="6400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25 minutes  ·  16 for the features, 9 for the prototype</a:t>
            </a:r>
            <a:endParaRPr lang="en-US" sz="1300" dirty="0"/>
          </a:p>
        </p:txBody>
      </p:sp>
      <p:sp>
        <p:nvSpPr>
          <p:cNvPr id="8" name="Text 6"/>
          <p:cNvSpPr txBox="1"/>
          <p:nvPr/>
        </p:nvSpPr>
        <p:spPr>
          <a:xfrm>
            <a:off x="822960" y="5486400"/>
            <a:ext cx="1828800" cy="237744"/>
          </a:xfrm>
          <a:prstGeom prst="rect">
            <a:avLst/>
          </a:prstGeom>
          <a:noFill/>
          <a:ln/>
        </p:spPr>
        <p:txBody>
          <a:bodyPr wrap="square" lIns="0" tIns="0" rIns="0" bIns="0" rtlCol="0" anchor="ctr"/>
          <a:lstStyle/>
          <a:p>
            <a:pPr indent="0" marL="0">
              <a:buNone/>
            </a:pPr>
            <a:r>
              <a:rPr lang="en-US" sz="1000" b="1" spc="120" kern="0" dirty="0">
                <a:solidFill>
                  <a:srgbClr val="8A949D"/>
                </a:solidFill>
                <a:latin typeface="Calibri" pitchFamily="34" charset="0"/>
                <a:ea typeface="Calibri" pitchFamily="34" charset="-122"/>
                <a:cs typeface="Calibri" pitchFamily="34" charset="-120"/>
              </a:rPr>
              <a:t>Presented by</a:t>
            </a:r>
            <a:endParaRPr lang="en-US" sz="1000" dirty="0"/>
          </a:p>
        </p:txBody>
      </p:sp>
      <p:sp>
        <p:nvSpPr>
          <p:cNvPr id="9" name="Text 7"/>
          <p:cNvSpPr txBox="1"/>
          <p:nvPr/>
        </p:nvSpPr>
        <p:spPr>
          <a:xfrm>
            <a:off x="822960" y="5742432"/>
            <a:ext cx="6766560" cy="292608"/>
          </a:xfrm>
          <a:prstGeom prst="rect">
            <a:avLst/>
          </a:prstGeom>
          <a:noFill/>
          <a:ln/>
        </p:spPr>
        <p:txBody>
          <a:bodyPr wrap="square" lIns="0" tIns="0" rIns="0" bIns="0" rtlCol="0" anchor="ctr"/>
          <a:lstStyle/>
          <a:p>
            <a:pPr indent="0" marL="0">
              <a:buNone/>
            </a:pPr>
            <a:r>
              <a:rPr lang="en-US" sz="1400" b="1" dirty="0">
                <a:solidFill>
                  <a:srgbClr val="F2A413"/>
                </a:solidFill>
                <a:latin typeface="Calibri" pitchFamily="34" charset="0"/>
                <a:ea typeface="Calibri" pitchFamily="34" charset="-122"/>
                <a:cs typeface="Calibri" pitchFamily="34" charset="-120"/>
              </a:rPr>
              <a:t>Rusel R. Portes  —  Lead Developer</a:t>
            </a:r>
            <a:endParaRPr lang="en-US" sz="1400" dirty="0"/>
          </a:p>
        </p:txBody>
      </p:sp>
      <p:sp>
        <p:nvSpPr>
          <p:cNvPr id="10" name="Text 8"/>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18</a:t>
            </a:r>
            <a:endParaRPr lang="en-US" sz="900" dirty="0"/>
          </a:p>
        </p:txBody>
      </p:sp>
      <p:sp>
        <p:nvSpPr>
          <p:cNvPr id="11" name="Text 9"/>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FEATURES</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The Ten Core Features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19</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280160"/>
            <a:ext cx="11094415" cy="310896"/>
          </a:xfrm>
          <a:prstGeom prst="rect">
            <a:avLst/>
          </a:prstGeom>
          <a:noFill/>
          <a:ln/>
        </p:spPr>
        <p:txBody>
          <a:bodyPr wrap="square" lIns="0" tIns="0" rIns="0" bIns="0" rtlCol="0" anchor="t"/>
          <a:lstStyle/>
          <a:p>
            <a:pPr algn="l" indent="0" marL="0">
              <a:lnSpc>
                <a:spcPct val="108000"/>
              </a:lnSpc>
              <a:buNone/>
            </a:pPr>
            <a:r>
              <a:rPr lang="en-US" sz="1350" dirty="0">
                <a:solidFill>
                  <a:srgbClr val="2A3138"/>
                </a:solidFill>
                <a:latin typeface="Calibri" pitchFamily="34" charset="0"/>
                <a:ea typeface="Calibri" pitchFamily="34" charset="-122"/>
                <a:cs typeface="Calibri" pitchFamily="34" charset="-120"/>
              </a:rPr>
              <a:t>Each one exists to close a specific gap in the current process. We will take them in the order the work happens.</a:t>
            </a:r>
            <a:endParaRPr lang="en-US" sz="1350" dirty="0"/>
          </a:p>
        </p:txBody>
      </p:sp>
      <p:sp>
        <p:nvSpPr>
          <p:cNvPr id="7" name="Shape 5"/>
          <p:cNvSpPr/>
          <p:nvPr/>
        </p:nvSpPr>
        <p:spPr>
          <a:xfrm>
            <a:off x="548640" y="1700784"/>
            <a:ext cx="5364328" cy="822960"/>
          </a:xfrm>
          <a:prstGeom prst="roundRect">
            <a:avLst>
              <a:gd name="adj" fmla="val 6667"/>
            </a:avLst>
          </a:prstGeom>
          <a:solidFill>
            <a:srgbClr val="FFFFFF"/>
          </a:solidFill>
          <a:ln w="12700">
            <a:solidFill>
              <a:srgbClr val="DCD7D0"/>
            </a:solidFill>
            <a:prstDash val="solid"/>
          </a:ln>
        </p:spPr>
      </p:sp>
      <p:sp>
        <p:nvSpPr>
          <p:cNvPr id="8" name="Shape 6"/>
          <p:cNvSpPr/>
          <p:nvPr/>
        </p:nvSpPr>
        <p:spPr>
          <a:xfrm>
            <a:off x="786384" y="1938528"/>
            <a:ext cx="384048" cy="384048"/>
          </a:xfrm>
          <a:prstGeom prst="ellipse">
            <a:avLst/>
          </a:prstGeom>
          <a:solidFill>
            <a:srgbClr val="F2A413"/>
          </a:solidFill>
          <a:ln/>
        </p:spPr>
      </p:sp>
      <p:sp>
        <p:nvSpPr>
          <p:cNvPr id="9" name="Text 7"/>
          <p:cNvSpPr txBox="1"/>
          <p:nvPr/>
        </p:nvSpPr>
        <p:spPr>
          <a:xfrm>
            <a:off x="786384" y="19385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01</a:t>
            </a:r>
            <a:endParaRPr lang="en-US" sz="1100" dirty="0"/>
          </a:p>
        </p:txBody>
      </p:sp>
      <p:sp>
        <p:nvSpPr>
          <p:cNvPr id="10" name="Text 8"/>
          <p:cNvSpPr txBox="1"/>
          <p:nvPr/>
        </p:nvSpPr>
        <p:spPr>
          <a:xfrm>
            <a:off x="1298448" y="18470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Crew Assignment and Site Deployment</a:t>
            </a:r>
            <a:endParaRPr lang="en-US" sz="1250" dirty="0"/>
          </a:p>
        </p:txBody>
      </p:sp>
      <p:sp>
        <p:nvSpPr>
          <p:cNvPr id="11" name="Text 9"/>
          <p:cNvSpPr txBox="1"/>
          <p:nvPr/>
        </p:nvSpPr>
        <p:spPr>
          <a:xfrm>
            <a:off x="1298448" y="21396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Who is on which crew, at which site, under which foreman.</a:t>
            </a:r>
            <a:endParaRPr lang="en-US" sz="1050" dirty="0"/>
          </a:p>
        </p:txBody>
      </p:sp>
      <p:sp>
        <p:nvSpPr>
          <p:cNvPr id="12" name="Shape 10"/>
          <p:cNvSpPr/>
          <p:nvPr/>
        </p:nvSpPr>
        <p:spPr>
          <a:xfrm>
            <a:off x="6278728" y="1700784"/>
            <a:ext cx="5364328" cy="822960"/>
          </a:xfrm>
          <a:prstGeom prst="roundRect">
            <a:avLst>
              <a:gd name="adj" fmla="val 6667"/>
            </a:avLst>
          </a:prstGeom>
          <a:solidFill>
            <a:srgbClr val="FFFFFF"/>
          </a:solidFill>
          <a:ln w="12700">
            <a:solidFill>
              <a:srgbClr val="DCD7D0"/>
            </a:solidFill>
            <a:prstDash val="solid"/>
          </a:ln>
        </p:spPr>
      </p:sp>
      <p:sp>
        <p:nvSpPr>
          <p:cNvPr id="13" name="Shape 11"/>
          <p:cNvSpPr/>
          <p:nvPr/>
        </p:nvSpPr>
        <p:spPr>
          <a:xfrm>
            <a:off x="6516472" y="1938528"/>
            <a:ext cx="384048" cy="384048"/>
          </a:xfrm>
          <a:prstGeom prst="ellipse">
            <a:avLst/>
          </a:prstGeom>
          <a:solidFill>
            <a:srgbClr val="F2A413"/>
          </a:solidFill>
          <a:ln/>
        </p:spPr>
      </p:sp>
      <p:sp>
        <p:nvSpPr>
          <p:cNvPr id="14" name="Text 12"/>
          <p:cNvSpPr txBox="1"/>
          <p:nvPr/>
        </p:nvSpPr>
        <p:spPr>
          <a:xfrm>
            <a:off x="6516472" y="19385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02</a:t>
            </a:r>
            <a:endParaRPr lang="en-US" sz="1100" dirty="0"/>
          </a:p>
        </p:txBody>
      </p:sp>
      <p:sp>
        <p:nvSpPr>
          <p:cNvPr id="15" name="Text 13"/>
          <p:cNvSpPr txBox="1"/>
          <p:nvPr/>
        </p:nvSpPr>
        <p:spPr>
          <a:xfrm>
            <a:off x="7028536" y="18470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Offline-First Mobile Roll-Call Checklist</a:t>
            </a:r>
            <a:endParaRPr lang="en-US" sz="1250" dirty="0"/>
          </a:p>
        </p:txBody>
      </p:sp>
      <p:sp>
        <p:nvSpPr>
          <p:cNvPr id="16" name="Text 14"/>
          <p:cNvSpPr txBox="1"/>
          <p:nvPr/>
        </p:nvSpPr>
        <p:spPr>
          <a:xfrm>
            <a:off x="7028536" y="21396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Tap-based attendance that needs no connection at all.</a:t>
            </a:r>
            <a:endParaRPr lang="en-US" sz="1050" dirty="0"/>
          </a:p>
        </p:txBody>
      </p:sp>
      <p:sp>
        <p:nvSpPr>
          <p:cNvPr id="17" name="Shape 15"/>
          <p:cNvSpPr/>
          <p:nvPr/>
        </p:nvSpPr>
        <p:spPr>
          <a:xfrm>
            <a:off x="548640" y="2615184"/>
            <a:ext cx="5364328" cy="822960"/>
          </a:xfrm>
          <a:prstGeom prst="roundRect">
            <a:avLst>
              <a:gd name="adj" fmla="val 6667"/>
            </a:avLst>
          </a:prstGeom>
          <a:solidFill>
            <a:srgbClr val="FFFFFF"/>
          </a:solidFill>
          <a:ln w="12700">
            <a:solidFill>
              <a:srgbClr val="DCD7D0"/>
            </a:solidFill>
            <a:prstDash val="solid"/>
          </a:ln>
        </p:spPr>
      </p:sp>
      <p:sp>
        <p:nvSpPr>
          <p:cNvPr id="18" name="Shape 16"/>
          <p:cNvSpPr/>
          <p:nvPr/>
        </p:nvSpPr>
        <p:spPr>
          <a:xfrm>
            <a:off x="786384" y="2852928"/>
            <a:ext cx="384048" cy="384048"/>
          </a:xfrm>
          <a:prstGeom prst="ellipse">
            <a:avLst/>
          </a:prstGeom>
          <a:solidFill>
            <a:srgbClr val="F2A413"/>
          </a:solidFill>
          <a:ln/>
        </p:spPr>
      </p:sp>
      <p:sp>
        <p:nvSpPr>
          <p:cNvPr id="19" name="Text 17"/>
          <p:cNvSpPr txBox="1"/>
          <p:nvPr/>
        </p:nvSpPr>
        <p:spPr>
          <a:xfrm>
            <a:off x="786384" y="28529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03</a:t>
            </a:r>
            <a:endParaRPr lang="en-US" sz="1100" dirty="0"/>
          </a:p>
        </p:txBody>
      </p:sp>
      <p:sp>
        <p:nvSpPr>
          <p:cNvPr id="20" name="Text 18"/>
          <p:cNvSpPr txBox="1"/>
          <p:nvPr/>
        </p:nvSpPr>
        <p:spPr>
          <a:xfrm>
            <a:off x="1298448" y="27614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Cryptographic Attendance Integrity Engine</a:t>
            </a:r>
            <a:endParaRPr lang="en-US" sz="1250" dirty="0"/>
          </a:p>
        </p:txBody>
      </p:sp>
      <p:sp>
        <p:nvSpPr>
          <p:cNvPr id="21" name="Text 19"/>
          <p:cNvSpPr txBox="1"/>
          <p:nvPr/>
        </p:nvSpPr>
        <p:spPr>
          <a:xfrm>
            <a:off x="1298448" y="30540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Four layers that make a record provably unaltered.</a:t>
            </a:r>
            <a:endParaRPr lang="en-US" sz="1050" dirty="0"/>
          </a:p>
        </p:txBody>
      </p:sp>
      <p:sp>
        <p:nvSpPr>
          <p:cNvPr id="22" name="Shape 20"/>
          <p:cNvSpPr/>
          <p:nvPr/>
        </p:nvSpPr>
        <p:spPr>
          <a:xfrm>
            <a:off x="6278728" y="2615184"/>
            <a:ext cx="5364328" cy="822960"/>
          </a:xfrm>
          <a:prstGeom prst="roundRect">
            <a:avLst>
              <a:gd name="adj" fmla="val 6667"/>
            </a:avLst>
          </a:prstGeom>
          <a:solidFill>
            <a:srgbClr val="FFFFFF"/>
          </a:solidFill>
          <a:ln w="12700">
            <a:solidFill>
              <a:srgbClr val="DCD7D0"/>
            </a:solidFill>
            <a:prstDash val="solid"/>
          </a:ln>
        </p:spPr>
      </p:sp>
      <p:sp>
        <p:nvSpPr>
          <p:cNvPr id="23" name="Shape 21"/>
          <p:cNvSpPr/>
          <p:nvPr/>
        </p:nvSpPr>
        <p:spPr>
          <a:xfrm>
            <a:off x="6516472" y="2852928"/>
            <a:ext cx="384048" cy="384048"/>
          </a:xfrm>
          <a:prstGeom prst="ellipse">
            <a:avLst/>
          </a:prstGeom>
          <a:solidFill>
            <a:srgbClr val="F2A413"/>
          </a:solidFill>
          <a:ln/>
        </p:spPr>
      </p:sp>
      <p:sp>
        <p:nvSpPr>
          <p:cNvPr id="24" name="Text 22"/>
          <p:cNvSpPr txBox="1"/>
          <p:nvPr/>
        </p:nvSpPr>
        <p:spPr>
          <a:xfrm>
            <a:off x="6516472" y="28529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04</a:t>
            </a:r>
            <a:endParaRPr lang="en-US" sz="1100" dirty="0"/>
          </a:p>
        </p:txBody>
      </p:sp>
      <p:sp>
        <p:nvSpPr>
          <p:cNvPr id="25" name="Text 23"/>
          <p:cNvSpPr txBox="1"/>
          <p:nvPr/>
        </p:nvSpPr>
        <p:spPr>
          <a:xfrm>
            <a:off x="7028536" y="27614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Automated Background Sync Engine</a:t>
            </a:r>
            <a:endParaRPr lang="en-US" sz="1250" dirty="0"/>
          </a:p>
        </p:txBody>
      </p:sp>
      <p:sp>
        <p:nvSpPr>
          <p:cNvPr id="26" name="Text 24"/>
          <p:cNvSpPr txBox="1"/>
          <p:nvPr/>
        </p:nvSpPr>
        <p:spPr>
          <a:xfrm>
            <a:off x="7028536" y="30540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Queued records reach the server the moment signal returns.</a:t>
            </a:r>
            <a:endParaRPr lang="en-US" sz="1050" dirty="0"/>
          </a:p>
        </p:txBody>
      </p:sp>
      <p:sp>
        <p:nvSpPr>
          <p:cNvPr id="27" name="Shape 25"/>
          <p:cNvSpPr/>
          <p:nvPr/>
        </p:nvSpPr>
        <p:spPr>
          <a:xfrm>
            <a:off x="548640" y="3529584"/>
            <a:ext cx="5364328" cy="822960"/>
          </a:xfrm>
          <a:prstGeom prst="roundRect">
            <a:avLst>
              <a:gd name="adj" fmla="val 6667"/>
            </a:avLst>
          </a:prstGeom>
          <a:solidFill>
            <a:srgbClr val="FFFFFF"/>
          </a:solidFill>
          <a:ln w="12700">
            <a:solidFill>
              <a:srgbClr val="DCD7D0"/>
            </a:solidFill>
            <a:prstDash val="solid"/>
          </a:ln>
        </p:spPr>
      </p:sp>
      <p:sp>
        <p:nvSpPr>
          <p:cNvPr id="28" name="Shape 26"/>
          <p:cNvSpPr/>
          <p:nvPr/>
        </p:nvSpPr>
        <p:spPr>
          <a:xfrm>
            <a:off x="786384" y="3767328"/>
            <a:ext cx="384048" cy="384048"/>
          </a:xfrm>
          <a:prstGeom prst="ellipse">
            <a:avLst/>
          </a:prstGeom>
          <a:solidFill>
            <a:srgbClr val="F2A413"/>
          </a:solidFill>
          <a:ln/>
        </p:spPr>
      </p:sp>
      <p:sp>
        <p:nvSpPr>
          <p:cNvPr id="29" name="Text 27"/>
          <p:cNvSpPr txBox="1"/>
          <p:nvPr/>
        </p:nvSpPr>
        <p:spPr>
          <a:xfrm>
            <a:off x="786384" y="37673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05</a:t>
            </a:r>
            <a:endParaRPr lang="en-US" sz="1100" dirty="0"/>
          </a:p>
        </p:txBody>
      </p:sp>
      <p:sp>
        <p:nvSpPr>
          <p:cNvPr id="30" name="Text 28"/>
          <p:cNvSpPr txBox="1"/>
          <p:nvPr/>
        </p:nvSpPr>
        <p:spPr>
          <a:xfrm>
            <a:off x="1298448" y="36758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Late Foreman Override and Shift-Start Credit</a:t>
            </a:r>
            <a:endParaRPr lang="en-US" sz="1250" dirty="0"/>
          </a:p>
        </p:txBody>
      </p:sp>
      <p:sp>
        <p:nvSpPr>
          <p:cNvPr id="31" name="Text 29"/>
          <p:cNvSpPr txBox="1"/>
          <p:nvPr/>
        </p:nvSpPr>
        <p:spPr>
          <a:xfrm>
            <a:off x="1298448" y="39684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Workers are not penalised for a foreman's lateness.</a:t>
            </a:r>
            <a:endParaRPr lang="en-US" sz="1050" dirty="0"/>
          </a:p>
        </p:txBody>
      </p:sp>
      <p:sp>
        <p:nvSpPr>
          <p:cNvPr id="32" name="Shape 30"/>
          <p:cNvSpPr/>
          <p:nvPr/>
        </p:nvSpPr>
        <p:spPr>
          <a:xfrm>
            <a:off x="6278728" y="3529584"/>
            <a:ext cx="5364328" cy="822960"/>
          </a:xfrm>
          <a:prstGeom prst="roundRect">
            <a:avLst>
              <a:gd name="adj" fmla="val 6667"/>
            </a:avLst>
          </a:prstGeom>
          <a:solidFill>
            <a:srgbClr val="FFFFFF"/>
          </a:solidFill>
          <a:ln w="12700">
            <a:solidFill>
              <a:srgbClr val="DCD7D0"/>
            </a:solidFill>
            <a:prstDash val="solid"/>
          </a:ln>
        </p:spPr>
      </p:sp>
      <p:sp>
        <p:nvSpPr>
          <p:cNvPr id="33" name="Shape 31"/>
          <p:cNvSpPr/>
          <p:nvPr/>
        </p:nvSpPr>
        <p:spPr>
          <a:xfrm>
            <a:off x="6516472" y="3767328"/>
            <a:ext cx="384048" cy="384048"/>
          </a:xfrm>
          <a:prstGeom prst="ellipse">
            <a:avLst/>
          </a:prstGeom>
          <a:solidFill>
            <a:srgbClr val="F2A413"/>
          </a:solidFill>
          <a:ln/>
        </p:spPr>
      </p:sp>
      <p:sp>
        <p:nvSpPr>
          <p:cNvPr id="34" name="Text 32"/>
          <p:cNvSpPr txBox="1"/>
          <p:nvPr/>
        </p:nvSpPr>
        <p:spPr>
          <a:xfrm>
            <a:off x="6516472" y="37673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06</a:t>
            </a:r>
            <a:endParaRPr lang="en-US" sz="1100" dirty="0"/>
          </a:p>
        </p:txBody>
      </p:sp>
      <p:sp>
        <p:nvSpPr>
          <p:cNvPr id="35" name="Text 33"/>
          <p:cNvSpPr txBox="1"/>
          <p:nvPr/>
        </p:nvSpPr>
        <p:spPr>
          <a:xfrm>
            <a:off x="7028536" y="36758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One-Click Absent Foreman Re-assignment</a:t>
            </a:r>
            <a:endParaRPr lang="en-US" sz="1250" dirty="0"/>
          </a:p>
        </p:txBody>
      </p:sp>
      <p:sp>
        <p:nvSpPr>
          <p:cNvPr id="36" name="Text 34"/>
          <p:cNvSpPr txBox="1"/>
          <p:nvPr/>
        </p:nvSpPr>
        <p:spPr>
          <a:xfrm>
            <a:off x="7028536" y="39684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A crew never loses a day because one person did not report.</a:t>
            </a:r>
            <a:endParaRPr lang="en-US" sz="1050" dirty="0"/>
          </a:p>
        </p:txBody>
      </p:sp>
      <p:sp>
        <p:nvSpPr>
          <p:cNvPr id="37" name="Shape 35"/>
          <p:cNvSpPr/>
          <p:nvPr/>
        </p:nvSpPr>
        <p:spPr>
          <a:xfrm>
            <a:off x="548640" y="4443984"/>
            <a:ext cx="5364328" cy="822960"/>
          </a:xfrm>
          <a:prstGeom prst="roundRect">
            <a:avLst>
              <a:gd name="adj" fmla="val 6667"/>
            </a:avLst>
          </a:prstGeom>
          <a:solidFill>
            <a:srgbClr val="FFFFFF"/>
          </a:solidFill>
          <a:ln w="12700">
            <a:solidFill>
              <a:srgbClr val="DCD7D0"/>
            </a:solidFill>
            <a:prstDash val="solid"/>
          </a:ln>
        </p:spPr>
      </p:sp>
      <p:sp>
        <p:nvSpPr>
          <p:cNvPr id="38" name="Shape 36"/>
          <p:cNvSpPr/>
          <p:nvPr/>
        </p:nvSpPr>
        <p:spPr>
          <a:xfrm>
            <a:off x="786384" y="4681728"/>
            <a:ext cx="384048" cy="384048"/>
          </a:xfrm>
          <a:prstGeom prst="ellipse">
            <a:avLst/>
          </a:prstGeom>
          <a:solidFill>
            <a:srgbClr val="F2A413"/>
          </a:solidFill>
          <a:ln/>
        </p:spPr>
      </p:sp>
      <p:sp>
        <p:nvSpPr>
          <p:cNvPr id="39" name="Text 37"/>
          <p:cNvSpPr txBox="1"/>
          <p:nvPr/>
        </p:nvSpPr>
        <p:spPr>
          <a:xfrm>
            <a:off x="786384" y="46817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07</a:t>
            </a:r>
            <a:endParaRPr lang="en-US" sz="1100" dirty="0"/>
          </a:p>
        </p:txBody>
      </p:sp>
      <p:sp>
        <p:nvSpPr>
          <p:cNvPr id="40" name="Text 38"/>
          <p:cNvSpPr txBox="1"/>
          <p:nvPr/>
        </p:nvSpPr>
        <p:spPr>
          <a:xfrm>
            <a:off x="1298448" y="45902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Retroactive Crew Recovery Sign-off</a:t>
            </a:r>
            <a:endParaRPr lang="en-US" sz="1250" dirty="0"/>
          </a:p>
        </p:txBody>
      </p:sp>
      <p:sp>
        <p:nvSpPr>
          <p:cNvPr id="41" name="Text 39"/>
          <p:cNvSpPr txBox="1"/>
          <p:nvPr/>
        </p:nvSpPr>
        <p:spPr>
          <a:xfrm>
            <a:off x="1298448" y="48828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A controlled, approved path for days nobody logged.</a:t>
            </a:r>
            <a:endParaRPr lang="en-US" sz="1050" dirty="0"/>
          </a:p>
        </p:txBody>
      </p:sp>
      <p:sp>
        <p:nvSpPr>
          <p:cNvPr id="42" name="Shape 40"/>
          <p:cNvSpPr/>
          <p:nvPr/>
        </p:nvSpPr>
        <p:spPr>
          <a:xfrm>
            <a:off x="6278728" y="4443984"/>
            <a:ext cx="5364328" cy="822960"/>
          </a:xfrm>
          <a:prstGeom prst="roundRect">
            <a:avLst>
              <a:gd name="adj" fmla="val 6667"/>
            </a:avLst>
          </a:prstGeom>
          <a:solidFill>
            <a:srgbClr val="FFFFFF"/>
          </a:solidFill>
          <a:ln w="12700">
            <a:solidFill>
              <a:srgbClr val="DCD7D0"/>
            </a:solidFill>
            <a:prstDash val="solid"/>
          </a:ln>
        </p:spPr>
      </p:sp>
      <p:sp>
        <p:nvSpPr>
          <p:cNvPr id="43" name="Shape 41"/>
          <p:cNvSpPr/>
          <p:nvPr/>
        </p:nvSpPr>
        <p:spPr>
          <a:xfrm>
            <a:off x="6516472" y="4681728"/>
            <a:ext cx="384048" cy="384048"/>
          </a:xfrm>
          <a:prstGeom prst="ellipse">
            <a:avLst/>
          </a:prstGeom>
          <a:solidFill>
            <a:srgbClr val="F2A413"/>
          </a:solidFill>
          <a:ln/>
        </p:spPr>
      </p:sp>
      <p:sp>
        <p:nvSpPr>
          <p:cNvPr id="44" name="Text 42"/>
          <p:cNvSpPr txBox="1"/>
          <p:nvPr/>
        </p:nvSpPr>
        <p:spPr>
          <a:xfrm>
            <a:off x="6516472" y="46817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08</a:t>
            </a:r>
            <a:endParaRPr lang="en-US" sz="1100" dirty="0"/>
          </a:p>
        </p:txBody>
      </p:sp>
      <p:sp>
        <p:nvSpPr>
          <p:cNvPr id="45" name="Text 43"/>
          <p:cNvSpPr txBox="1"/>
          <p:nvPr/>
        </p:nvSpPr>
        <p:spPr>
          <a:xfrm>
            <a:off x="7028536" y="45902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Philippine Labor Code Payroll Engine</a:t>
            </a:r>
            <a:endParaRPr lang="en-US" sz="1250" dirty="0"/>
          </a:p>
        </p:txBody>
      </p:sp>
      <p:sp>
        <p:nvSpPr>
          <p:cNvPr id="46" name="Text 44"/>
          <p:cNvSpPr txBox="1"/>
          <p:nvPr/>
        </p:nvSpPr>
        <p:spPr>
          <a:xfrm>
            <a:off x="7028536" y="48828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Premium rates applied automatically to verified attendance.</a:t>
            </a:r>
            <a:endParaRPr lang="en-US" sz="1050" dirty="0"/>
          </a:p>
        </p:txBody>
      </p:sp>
      <p:sp>
        <p:nvSpPr>
          <p:cNvPr id="47" name="Shape 45"/>
          <p:cNvSpPr/>
          <p:nvPr/>
        </p:nvSpPr>
        <p:spPr>
          <a:xfrm>
            <a:off x="548640" y="5358384"/>
            <a:ext cx="5364328" cy="822960"/>
          </a:xfrm>
          <a:prstGeom prst="roundRect">
            <a:avLst>
              <a:gd name="adj" fmla="val 6667"/>
            </a:avLst>
          </a:prstGeom>
          <a:solidFill>
            <a:srgbClr val="FFFFFF"/>
          </a:solidFill>
          <a:ln w="12700">
            <a:solidFill>
              <a:srgbClr val="DCD7D0"/>
            </a:solidFill>
            <a:prstDash val="solid"/>
          </a:ln>
        </p:spPr>
      </p:sp>
      <p:sp>
        <p:nvSpPr>
          <p:cNvPr id="48" name="Shape 46"/>
          <p:cNvSpPr/>
          <p:nvPr/>
        </p:nvSpPr>
        <p:spPr>
          <a:xfrm>
            <a:off x="786384" y="5596128"/>
            <a:ext cx="384048" cy="384048"/>
          </a:xfrm>
          <a:prstGeom prst="ellipse">
            <a:avLst/>
          </a:prstGeom>
          <a:solidFill>
            <a:srgbClr val="F2A413"/>
          </a:solidFill>
          <a:ln/>
        </p:spPr>
      </p:sp>
      <p:sp>
        <p:nvSpPr>
          <p:cNvPr id="49" name="Text 47"/>
          <p:cNvSpPr txBox="1"/>
          <p:nvPr/>
        </p:nvSpPr>
        <p:spPr>
          <a:xfrm>
            <a:off x="786384" y="55961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09</a:t>
            </a:r>
            <a:endParaRPr lang="en-US" sz="1100" dirty="0"/>
          </a:p>
        </p:txBody>
      </p:sp>
      <p:sp>
        <p:nvSpPr>
          <p:cNvPr id="50" name="Text 48"/>
          <p:cNvSpPr txBox="1"/>
          <p:nvPr/>
        </p:nvSpPr>
        <p:spPr>
          <a:xfrm>
            <a:off x="1298448" y="55046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Leave and Overtime Filing and Approval</a:t>
            </a:r>
            <a:endParaRPr lang="en-US" sz="1250" dirty="0"/>
          </a:p>
        </p:txBody>
      </p:sp>
      <p:sp>
        <p:nvSpPr>
          <p:cNvPr id="51" name="Text 49"/>
          <p:cNvSpPr txBox="1"/>
          <p:nvPr/>
        </p:nvSpPr>
        <p:spPr>
          <a:xfrm>
            <a:off x="1298448" y="57972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Multi-tier approval that reaches payroll before the cutoff.</a:t>
            </a:r>
            <a:endParaRPr lang="en-US" sz="1050" dirty="0"/>
          </a:p>
        </p:txBody>
      </p:sp>
      <p:sp>
        <p:nvSpPr>
          <p:cNvPr id="52" name="Shape 50"/>
          <p:cNvSpPr/>
          <p:nvPr/>
        </p:nvSpPr>
        <p:spPr>
          <a:xfrm>
            <a:off x="6278728" y="5358384"/>
            <a:ext cx="5364328" cy="822960"/>
          </a:xfrm>
          <a:prstGeom prst="roundRect">
            <a:avLst>
              <a:gd name="adj" fmla="val 6667"/>
            </a:avLst>
          </a:prstGeom>
          <a:solidFill>
            <a:srgbClr val="FFFFFF"/>
          </a:solidFill>
          <a:ln w="12700">
            <a:solidFill>
              <a:srgbClr val="DCD7D0"/>
            </a:solidFill>
            <a:prstDash val="solid"/>
          </a:ln>
        </p:spPr>
      </p:sp>
      <p:sp>
        <p:nvSpPr>
          <p:cNvPr id="53" name="Shape 51"/>
          <p:cNvSpPr/>
          <p:nvPr/>
        </p:nvSpPr>
        <p:spPr>
          <a:xfrm>
            <a:off x="6516472" y="5596128"/>
            <a:ext cx="384048" cy="384048"/>
          </a:xfrm>
          <a:prstGeom prst="ellipse">
            <a:avLst/>
          </a:prstGeom>
          <a:solidFill>
            <a:srgbClr val="F2A413"/>
          </a:solidFill>
          <a:ln/>
        </p:spPr>
      </p:sp>
      <p:sp>
        <p:nvSpPr>
          <p:cNvPr id="54" name="Text 52"/>
          <p:cNvSpPr txBox="1"/>
          <p:nvPr/>
        </p:nvSpPr>
        <p:spPr>
          <a:xfrm>
            <a:off x="6516472" y="5596128"/>
            <a:ext cx="384048" cy="384048"/>
          </a:xfrm>
          <a:prstGeom prst="rect">
            <a:avLst/>
          </a:prstGeom>
          <a:noFill/>
          <a:ln/>
        </p:spPr>
        <p:txBody>
          <a:bodyPr wrap="square" lIns="0" tIns="0" rIns="0" bIns="0" rtlCol="0" anchor="ctr"/>
          <a:lstStyle/>
          <a:p>
            <a:pPr algn="ctr" indent="0" marL="0">
              <a:buNone/>
            </a:pPr>
            <a:r>
              <a:rPr lang="en-US" sz="1100" b="1" dirty="0">
                <a:solidFill>
                  <a:srgbClr val="16191D"/>
                </a:solidFill>
                <a:latin typeface="Calibri" pitchFamily="34" charset="0"/>
                <a:ea typeface="Calibri" pitchFamily="34" charset="-122"/>
                <a:cs typeface="Calibri" pitchFamily="34" charset="-120"/>
              </a:rPr>
              <a:t>10</a:t>
            </a:r>
            <a:endParaRPr lang="en-US" sz="1100" dirty="0"/>
          </a:p>
        </p:txBody>
      </p:sp>
      <p:sp>
        <p:nvSpPr>
          <p:cNvPr id="55" name="Text 53"/>
          <p:cNvSpPr txBox="1"/>
          <p:nvPr/>
        </p:nvSpPr>
        <p:spPr>
          <a:xfrm>
            <a:off x="7028536" y="5504688"/>
            <a:ext cx="4358488" cy="274320"/>
          </a:xfrm>
          <a:prstGeom prst="rect">
            <a:avLst/>
          </a:prstGeom>
          <a:noFill/>
          <a:ln/>
        </p:spPr>
        <p:txBody>
          <a:bodyPr wrap="square" lIns="0" tIns="0" rIns="0" bIns="0" rtlCol="0" anchor="t"/>
          <a:lstStyle/>
          <a:p>
            <a:pPr indent="0" marL="0">
              <a:buNone/>
            </a:pPr>
            <a:r>
              <a:rPr lang="en-US" sz="1250" b="1" dirty="0">
                <a:solidFill>
                  <a:srgbClr val="16191D"/>
                </a:solidFill>
                <a:latin typeface="Calibri" pitchFamily="34" charset="0"/>
                <a:ea typeface="Calibri" pitchFamily="34" charset="-122"/>
                <a:cs typeface="Calibri" pitchFamily="34" charset="-120"/>
              </a:rPr>
              <a:t>Audit Trail and Compliance Review</a:t>
            </a:r>
            <a:endParaRPr lang="en-US" sz="1250" dirty="0"/>
          </a:p>
        </p:txBody>
      </p:sp>
      <p:sp>
        <p:nvSpPr>
          <p:cNvPr id="56" name="Text 54"/>
          <p:cNvSpPr txBox="1"/>
          <p:nvPr/>
        </p:nvSpPr>
        <p:spPr>
          <a:xfrm>
            <a:off x="7028536" y="5797296"/>
            <a:ext cx="4358488" cy="310896"/>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Every override and correction on record, and reviewable.</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01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Crew Assignment and Site Deployment</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20</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Site Engineers build crews from the worker registry and deploy each crew to a project site.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Every crew has exactly one designated foreman, and only that foreman can log its attendance.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Deployment state lives on the crew record itself: current status and the date it was deployed.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crew roster is cached to the foreman's device in advance, so it is readable at the site with no signal.</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DEPLOYMENT CHAIN</a:t>
            </a:r>
            <a:endParaRPr lang="en-US" sz="1050" dirty="0"/>
          </a:p>
        </p:txBody>
      </p:sp>
      <p:sp>
        <p:nvSpPr>
          <p:cNvPr id="10" name="Shape 8"/>
          <p:cNvSpPr/>
          <p:nvPr/>
        </p:nvSpPr>
        <p:spPr>
          <a:xfrm>
            <a:off x="6995160" y="1993392"/>
            <a:ext cx="4236415" cy="640080"/>
          </a:xfrm>
          <a:prstGeom prst="roundRect">
            <a:avLst>
              <a:gd name="adj" fmla="val 8571"/>
            </a:avLst>
          </a:prstGeom>
          <a:solidFill>
            <a:srgbClr val="2A3138"/>
          </a:solidFill>
          <a:ln/>
        </p:spPr>
      </p:sp>
      <p:sp>
        <p:nvSpPr>
          <p:cNvPr id="11" name="Text 9"/>
          <p:cNvSpPr txBox="1"/>
          <p:nvPr/>
        </p:nvSpPr>
        <p:spPr>
          <a:xfrm>
            <a:off x="7214616" y="2075688"/>
            <a:ext cx="1298448"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Site</a:t>
            </a:r>
            <a:endParaRPr lang="en-US" sz="1200" dirty="0"/>
          </a:p>
        </p:txBody>
      </p:sp>
      <p:sp>
        <p:nvSpPr>
          <p:cNvPr id="12" name="Text 10"/>
          <p:cNvSpPr txBox="1"/>
          <p:nvPr/>
        </p:nvSpPr>
        <p:spPr>
          <a:xfrm>
            <a:off x="8595360" y="2093976"/>
            <a:ext cx="2407615" cy="237744"/>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Tower 3 Project Site</a:t>
            </a:r>
            <a:endParaRPr lang="en-US" sz="1050" dirty="0"/>
          </a:p>
        </p:txBody>
      </p:sp>
      <p:sp>
        <p:nvSpPr>
          <p:cNvPr id="13" name="Shape 11"/>
          <p:cNvSpPr/>
          <p:nvPr/>
        </p:nvSpPr>
        <p:spPr>
          <a:xfrm>
            <a:off x="9113368" y="2660904"/>
            <a:ext cx="0" cy="201168"/>
          </a:xfrm>
          <a:prstGeom prst="line">
            <a:avLst/>
          </a:prstGeom>
          <a:noFill/>
          <a:ln w="25400">
            <a:solidFill>
              <a:srgbClr val="F2A413"/>
            </a:solidFill>
            <a:prstDash val="solid"/>
            <a:tailEnd type="triangle"/>
          </a:ln>
        </p:spPr>
      </p:sp>
      <p:sp>
        <p:nvSpPr>
          <p:cNvPr id="14" name="Shape 12"/>
          <p:cNvSpPr/>
          <p:nvPr/>
        </p:nvSpPr>
        <p:spPr>
          <a:xfrm>
            <a:off x="6995160" y="2907792"/>
            <a:ext cx="4236415" cy="640080"/>
          </a:xfrm>
          <a:prstGeom prst="roundRect">
            <a:avLst>
              <a:gd name="adj" fmla="val 8571"/>
            </a:avLst>
          </a:prstGeom>
          <a:solidFill>
            <a:srgbClr val="2A3138"/>
          </a:solidFill>
          <a:ln/>
        </p:spPr>
      </p:sp>
      <p:sp>
        <p:nvSpPr>
          <p:cNvPr id="15" name="Text 13"/>
          <p:cNvSpPr txBox="1"/>
          <p:nvPr/>
        </p:nvSpPr>
        <p:spPr>
          <a:xfrm>
            <a:off x="7214616" y="2990088"/>
            <a:ext cx="1298448" cy="237744"/>
          </a:xfrm>
          <a:prstGeom prst="rect">
            <a:avLst/>
          </a:prstGeom>
          <a:noFill/>
          <a:ln/>
        </p:spPr>
        <p:txBody>
          <a:bodyPr wrap="square" lIns="0" tIns="0" rIns="0" bIns="0"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Crew</a:t>
            </a:r>
            <a:endParaRPr lang="en-US" sz="1200" dirty="0"/>
          </a:p>
        </p:txBody>
      </p:sp>
      <p:sp>
        <p:nvSpPr>
          <p:cNvPr id="16" name="Text 14"/>
          <p:cNvSpPr txBox="1"/>
          <p:nvPr/>
        </p:nvSpPr>
        <p:spPr>
          <a:xfrm>
            <a:off x="8595360" y="3008376"/>
            <a:ext cx="2407615" cy="237744"/>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Crew A - 12 workers</a:t>
            </a:r>
            <a:endParaRPr lang="en-US" sz="1050" dirty="0"/>
          </a:p>
        </p:txBody>
      </p:sp>
      <p:sp>
        <p:nvSpPr>
          <p:cNvPr id="17" name="Shape 15"/>
          <p:cNvSpPr/>
          <p:nvPr/>
        </p:nvSpPr>
        <p:spPr>
          <a:xfrm>
            <a:off x="9113368" y="3575304"/>
            <a:ext cx="0" cy="201168"/>
          </a:xfrm>
          <a:prstGeom prst="line">
            <a:avLst/>
          </a:prstGeom>
          <a:noFill/>
          <a:ln w="25400">
            <a:solidFill>
              <a:srgbClr val="F2A413"/>
            </a:solidFill>
            <a:prstDash val="solid"/>
            <a:tailEnd type="triangle"/>
          </a:ln>
        </p:spPr>
      </p:sp>
      <p:sp>
        <p:nvSpPr>
          <p:cNvPr id="18" name="Shape 16"/>
          <p:cNvSpPr/>
          <p:nvPr/>
        </p:nvSpPr>
        <p:spPr>
          <a:xfrm>
            <a:off x="6995160" y="3822192"/>
            <a:ext cx="4236415" cy="640080"/>
          </a:xfrm>
          <a:prstGeom prst="roundRect">
            <a:avLst>
              <a:gd name="adj" fmla="val 8571"/>
            </a:avLst>
          </a:prstGeom>
          <a:solidFill>
            <a:srgbClr val="F2A413"/>
          </a:solidFill>
          <a:ln/>
        </p:spPr>
      </p:sp>
      <p:sp>
        <p:nvSpPr>
          <p:cNvPr id="19" name="Text 17"/>
          <p:cNvSpPr txBox="1"/>
          <p:nvPr/>
        </p:nvSpPr>
        <p:spPr>
          <a:xfrm>
            <a:off x="7214616" y="3904488"/>
            <a:ext cx="1298448" cy="237744"/>
          </a:xfrm>
          <a:prstGeom prst="rect">
            <a:avLst/>
          </a:prstGeom>
          <a:noFill/>
          <a:ln/>
        </p:spPr>
        <p:txBody>
          <a:bodyPr wrap="square" lIns="0" tIns="0" rIns="0" bIns="0" rtlCol="0" anchor="t"/>
          <a:lstStyle/>
          <a:p>
            <a:pPr indent="0" marL="0">
              <a:buNone/>
            </a:pPr>
            <a:r>
              <a:rPr lang="en-US" sz="1200" b="1" dirty="0">
                <a:solidFill>
                  <a:srgbClr val="16191D"/>
                </a:solidFill>
                <a:latin typeface="Calibri" pitchFamily="34" charset="0"/>
                <a:ea typeface="Calibri" pitchFamily="34" charset="-122"/>
                <a:cs typeface="Calibri" pitchFamily="34" charset="-120"/>
              </a:rPr>
              <a:t>Foreman</a:t>
            </a:r>
            <a:endParaRPr lang="en-US" sz="1200" dirty="0"/>
          </a:p>
        </p:txBody>
      </p:sp>
      <p:sp>
        <p:nvSpPr>
          <p:cNvPr id="20" name="Text 18"/>
          <p:cNvSpPr txBox="1"/>
          <p:nvPr/>
        </p:nvSpPr>
        <p:spPr>
          <a:xfrm>
            <a:off x="8595360" y="3922776"/>
            <a:ext cx="2407615" cy="237744"/>
          </a:xfrm>
          <a:prstGeom prst="rect">
            <a:avLst/>
          </a:prstGeom>
          <a:noFill/>
          <a:ln/>
        </p:spPr>
        <p:txBody>
          <a:bodyPr wrap="square" lIns="0" tIns="0" rIns="0" bIns="0" rtlCol="0" anchor="t"/>
          <a:lstStyle/>
          <a:p>
            <a:pPr algn="l" indent="0" marL="0">
              <a:lnSpc>
                <a:spcPct val="108000"/>
              </a:lnSpc>
              <a:buNone/>
            </a:pPr>
            <a:r>
              <a:rPr lang="en-US" sz="1050" dirty="0">
                <a:solidFill>
                  <a:srgbClr val="9C6A08"/>
                </a:solidFill>
                <a:latin typeface="Calibri" pitchFamily="34" charset="0"/>
                <a:ea typeface="Calibri" pitchFamily="34" charset="-122"/>
                <a:cs typeface="Calibri" pitchFamily="34" charset="-120"/>
              </a:rPr>
              <a:t>One designated, device-bound</a:t>
            </a:r>
            <a:endParaRPr lang="en-US" sz="1050" dirty="0"/>
          </a:p>
        </p:txBody>
      </p:sp>
      <p:sp>
        <p:nvSpPr>
          <p:cNvPr id="21" name="Text 19"/>
          <p:cNvSpPr txBox="1"/>
          <p:nvPr/>
        </p:nvSpPr>
        <p:spPr>
          <a:xfrm>
            <a:off x="6995160" y="4645152"/>
            <a:ext cx="4236415" cy="256032"/>
          </a:xfrm>
          <a:prstGeom prst="rect">
            <a:avLst/>
          </a:prstGeom>
          <a:noFill/>
          <a:ln/>
        </p:spPr>
        <p:txBody>
          <a:bodyPr wrap="square" lIns="0" tIns="0" rIns="0" bIns="0" rtlCol="0" anchor="t"/>
          <a:lstStyle/>
          <a:p>
            <a:pPr algn="l" indent="0" marL="0">
              <a:lnSpc>
                <a:spcPct val="108000"/>
              </a:lnSpc>
              <a:buNone/>
            </a:pPr>
            <a:r>
              <a:rPr lang="en-US" sz="1000" dirty="0">
                <a:solidFill>
                  <a:srgbClr val="8A949D"/>
                </a:solidFill>
                <a:latin typeface="Calibri" pitchFamily="34" charset="0"/>
                <a:ea typeface="Calibri" pitchFamily="34" charset="-122"/>
                <a:cs typeface="Calibri" pitchFamily="34" charset="-120"/>
              </a:rPr>
              <a:t>Roster cached to the device before deployment</a:t>
            </a:r>
            <a:endParaRPr lang="en-US" sz="1000" dirty="0"/>
          </a:p>
        </p:txBody>
      </p:sp>
      <p:sp>
        <p:nvSpPr>
          <p:cNvPr id="22" name="Shape 20"/>
          <p:cNvSpPr/>
          <p:nvPr/>
        </p:nvSpPr>
        <p:spPr>
          <a:xfrm>
            <a:off x="6995160" y="4992624"/>
            <a:ext cx="1017956" cy="274320"/>
          </a:xfrm>
          <a:prstGeom prst="roundRect">
            <a:avLst>
              <a:gd name="adj" fmla="val 40000"/>
            </a:avLst>
          </a:prstGeom>
          <a:solidFill>
            <a:srgbClr val="FDF1DA"/>
          </a:solidFill>
          <a:ln/>
        </p:spPr>
      </p:sp>
      <p:sp>
        <p:nvSpPr>
          <p:cNvPr id="23" name="Text 21"/>
          <p:cNvSpPr txBox="1"/>
          <p:nvPr/>
        </p:nvSpPr>
        <p:spPr>
          <a:xfrm>
            <a:off x="6995160" y="4992624"/>
            <a:ext cx="1017956" cy="274320"/>
          </a:xfrm>
          <a:prstGeom prst="rect">
            <a:avLst/>
          </a:prstGeom>
          <a:noFill/>
          <a:ln/>
        </p:spPr>
        <p:txBody>
          <a:bodyPr wrap="square" lIns="0" tIns="0" rIns="0" bIns="0" rtlCol="0" anchor="ctr"/>
          <a:lstStyle/>
          <a:p>
            <a:pPr algn="ctr" indent="0" marL="0">
              <a:buNone/>
            </a:pPr>
            <a:r>
              <a:rPr lang="en-US" sz="900" b="1" dirty="0">
                <a:solidFill>
                  <a:srgbClr val="9C6A08"/>
                </a:solidFill>
                <a:latin typeface="Calibri" pitchFamily="34" charset="0"/>
                <a:ea typeface="Calibri" pitchFamily="34" charset="-122"/>
                <a:cs typeface="Calibri" pitchFamily="34" charset="-120"/>
              </a:rPr>
              <a:t>Mason</a:t>
            </a:r>
            <a:endParaRPr lang="en-US" sz="900" dirty="0"/>
          </a:p>
        </p:txBody>
      </p:sp>
      <p:sp>
        <p:nvSpPr>
          <p:cNvPr id="24" name="Shape 22"/>
          <p:cNvSpPr/>
          <p:nvPr/>
        </p:nvSpPr>
        <p:spPr>
          <a:xfrm>
            <a:off x="8067980" y="4992624"/>
            <a:ext cx="1017956" cy="274320"/>
          </a:xfrm>
          <a:prstGeom prst="roundRect">
            <a:avLst>
              <a:gd name="adj" fmla="val 40000"/>
            </a:avLst>
          </a:prstGeom>
          <a:solidFill>
            <a:srgbClr val="FDF1DA"/>
          </a:solidFill>
          <a:ln/>
        </p:spPr>
      </p:sp>
      <p:sp>
        <p:nvSpPr>
          <p:cNvPr id="25" name="Text 23"/>
          <p:cNvSpPr txBox="1"/>
          <p:nvPr/>
        </p:nvSpPr>
        <p:spPr>
          <a:xfrm>
            <a:off x="8067980" y="4992624"/>
            <a:ext cx="1017956" cy="274320"/>
          </a:xfrm>
          <a:prstGeom prst="rect">
            <a:avLst/>
          </a:prstGeom>
          <a:noFill/>
          <a:ln/>
        </p:spPr>
        <p:txBody>
          <a:bodyPr wrap="square" lIns="0" tIns="0" rIns="0" bIns="0" rtlCol="0" anchor="ctr"/>
          <a:lstStyle/>
          <a:p>
            <a:pPr algn="ctr" indent="0" marL="0">
              <a:buNone/>
            </a:pPr>
            <a:r>
              <a:rPr lang="en-US" sz="900" b="1" dirty="0">
                <a:solidFill>
                  <a:srgbClr val="9C6A08"/>
                </a:solidFill>
                <a:latin typeface="Calibri" pitchFamily="34" charset="0"/>
                <a:ea typeface="Calibri" pitchFamily="34" charset="-122"/>
                <a:cs typeface="Calibri" pitchFamily="34" charset="-120"/>
              </a:rPr>
              <a:t>Welder</a:t>
            </a:r>
            <a:endParaRPr lang="en-US" sz="900" dirty="0"/>
          </a:p>
        </p:txBody>
      </p:sp>
      <p:sp>
        <p:nvSpPr>
          <p:cNvPr id="26" name="Shape 24"/>
          <p:cNvSpPr/>
          <p:nvPr/>
        </p:nvSpPr>
        <p:spPr>
          <a:xfrm>
            <a:off x="9140800" y="4992624"/>
            <a:ext cx="1017956" cy="274320"/>
          </a:xfrm>
          <a:prstGeom prst="roundRect">
            <a:avLst>
              <a:gd name="adj" fmla="val 40000"/>
            </a:avLst>
          </a:prstGeom>
          <a:solidFill>
            <a:srgbClr val="FDF1DA"/>
          </a:solidFill>
          <a:ln/>
        </p:spPr>
      </p:sp>
      <p:sp>
        <p:nvSpPr>
          <p:cNvPr id="27" name="Text 25"/>
          <p:cNvSpPr txBox="1"/>
          <p:nvPr/>
        </p:nvSpPr>
        <p:spPr>
          <a:xfrm>
            <a:off x="9140800" y="4992624"/>
            <a:ext cx="1017956" cy="274320"/>
          </a:xfrm>
          <a:prstGeom prst="rect">
            <a:avLst/>
          </a:prstGeom>
          <a:noFill/>
          <a:ln/>
        </p:spPr>
        <p:txBody>
          <a:bodyPr wrap="square" lIns="0" tIns="0" rIns="0" bIns="0" rtlCol="0" anchor="ctr"/>
          <a:lstStyle/>
          <a:p>
            <a:pPr algn="ctr" indent="0" marL="0">
              <a:buNone/>
            </a:pPr>
            <a:r>
              <a:rPr lang="en-US" sz="900" b="1" dirty="0">
                <a:solidFill>
                  <a:srgbClr val="9C6A08"/>
                </a:solidFill>
                <a:latin typeface="Calibri" pitchFamily="34" charset="0"/>
                <a:ea typeface="Calibri" pitchFamily="34" charset="-122"/>
                <a:cs typeface="Calibri" pitchFamily="34" charset="-120"/>
              </a:rPr>
              <a:t>Operator</a:t>
            </a:r>
            <a:endParaRPr lang="en-US" sz="900" dirty="0"/>
          </a:p>
        </p:txBody>
      </p:sp>
      <p:sp>
        <p:nvSpPr>
          <p:cNvPr id="28" name="Shape 26"/>
          <p:cNvSpPr/>
          <p:nvPr/>
        </p:nvSpPr>
        <p:spPr>
          <a:xfrm>
            <a:off x="10213619" y="4992624"/>
            <a:ext cx="1017956" cy="274320"/>
          </a:xfrm>
          <a:prstGeom prst="roundRect">
            <a:avLst>
              <a:gd name="adj" fmla="val 40000"/>
            </a:avLst>
          </a:prstGeom>
          <a:solidFill>
            <a:srgbClr val="FDF1DA"/>
          </a:solidFill>
          <a:ln/>
        </p:spPr>
      </p:sp>
      <p:sp>
        <p:nvSpPr>
          <p:cNvPr id="29" name="Text 27"/>
          <p:cNvSpPr txBox="1"/>
          <p:nvPr/>
        </p:nvSpPr>
        <p:spPr>
          <a:xfrm>
            <a:off x="10213619" y="4992624"/>
            <a:ext cx="1017956" cy="274320"/>
          </a:xfrm>
          <a:prstGeom prst="rect">
            <a:avLst/>
          </a:prstGeom>
          <a:noFill/>
          <a:ln/>
        </p:spPr>
        <p:txBody>
          <a:bodyPr wrap="square" lIns="0" tIns="0" rIns="0" bIns="0" rtlCol="0" anchor="ctr"/>
          <a:lstStyle/>
          <a:p>
            <a:pPr algn="ctr" indent="0" marL="0">
              <a:buNone/>
            </a:pPr>
            <a:r>
              <a:rPr lang="en-US" sz="900" b="1" dirty="0">
                <a:solidFill>
                  <a:srgbClr val="9C6A08"/>
                </a:solidFill>
                <a:latin typeface="Calibri" pitchFamily="34" charset="0"/>
                <a:ea typeface="Calibri" pitchFamily="34" charset="-122"/>
                <a:cs typeface="Calibri" pitchFamily="34" charset="-120"/>
              </a:rPr>
              <a:t>Helper</a:t>
            </a:r>
            <a:endParaRPr lang="en-US" sz="900" dirty="0"/>
          </a:p>
        </p:txBody>
      </p:sp>
      <p:sp>
        <p:nvSpPr>
          <p:cNvPr id="30" name="Shape 28"/>
          <p:cNvSpPr/>
          <p:nvPr/>
        </p:nvSpPr>
        <p:spPr>
          <a:xfrm>
            <a:off x="548640" y="4983480"/>
            <a:ext cx="11094415" cy="1234440"/>
          </a:xfrm>
          <a:prstGeom prst="roundRect">
            <a:avLst>
              <a:gd name="adj" fmla="val 4444"/>
            </a:avLst>
          </a:prstGeom>
          <a:solidFill>
            <a:srgbClr val="16191D"/>
          </a:solidFill>
          <a:ln/>
        </p:spPr>
      </p:sp>
      <p:sp>
        <p:nvSpPr>
          <p:cNvPr id="31" name="Text 29"/>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32" name="Text 30"/>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The roster the foreman taps through at the site is the same roster the office deployed. Nobody works from a hand-copied list.</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02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Offline-First Mobile Roll-Call Checklist</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21</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foreman taps one of three choices for each worker: Present, Late or Absent. No typing and no time entry.</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Every tap writes straight to an encrypted SQLite database on the phone. The write path never touches the network.</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An Undo action corrects a mistaken tap before the record is finalised.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screen shows whether the device is online and how many records are still waiting to sync.</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Shape 7"/>
          <p:cNvSpPr/>
          <p:nvPr/>
        </p:nvSpPr>
        <p:spPr>
          <a:xfrm>
            <a:off x="6876288" y="1609344"/>
            <a:ext cx="4474159" cy="475488"/>
          </a:xfrm>
          <a:prstGeom prst="roundRect">
            <a:avLst>
              <a:gd name="adj" fmla="val 11538"/>
            </a:avLst>
          </a:prstGeom>
          <a:solidFill>
            <a:srgbClr val="16191D"/>
          </a:solidFill>
          <a:ln/>
        </p:spPr>
      </p:sp>
      <p:sp>
        <p:nvSpPr>
          <p:cNvPr id="10" name="Text 8"/>
          <p:cNvSpPr txBox="1"/>
          <p:nvPr/>
        </p:nvSpPr>
        <p:spPr>
          <a:xfrm>
            <a:off x="7077456" y="1728216"/>
            <a:ext cx="3102559" cy="256032"/>
          </a:xfrm>
          <a:prstGeom prst="rect">
            <a:avLst/>
          </a:prstGeom>
          <a:noFill/>
          <a:ln/>
        </p:spPr>
        <p:txBody>
          <a:bodyPr wrap="square" lIns="0" tIns="0" rIns="0" bIns="0" rtlCol="0" anchor="t"/>
          <a:lstStyle/>
          <a:p>
            <a:pPr algn="l" indent="0" marL="0">
              <a:lnSpc>
                <a:spcPct val="108000"/>
              </a:lnSpc>
              <a:buNone/>
            </a:pPr>
            <a:r>
              <a:rPr lang="en-US" sz="1100" dirty="0">
                <a:solidFill>
                  <a:srgbClr val="FFFFFF"/>
                </a:solidFill>
                <a:latin typeface="Calibri" pitchFamily="34" charset="0"/>
                <a:ea typeface="Calibri" pitchFamily="34" charset="-122"/>
                <a:cs typeface="Calibri" pitchFamily="34" charset="-120"/>
              </a:rPr>
              <a:t>Crew A  ·  Tower 3 Site</a:t>
            </a:r>
            <a:endParaRPr lang="en-US" sz="1100" dirty="0"/>
          </a:p>
        </p:txBody>
      </p:sp>
      <p:sp>
        <p:nvSpPr>
          <p:cNvPr id="11" name="Shape 9"/>
          <p:cNvSpPr/>
          <p:nvPr/>
        </p:nvSpPr>
        <p:spPr>
          <a:xfrm>
            <a:off x="10253167" y="1719072"/>
            <a:ext cx="914400" cy="256032"/>
          </a:xfrm>
          <a:prstGeom prst="roundRect">
            <a:avLst>
              <a:gd name="adj" fmla="val 42857"/>
            </a:avLst>
          </a:prstGeom>
          <a:solidFill>
            <a:srgbClr val="F2A413"/>
          </a:solidFill>
          <a:ln/>
        </p:spPr>
      </p:sp>
      <p:sp>
        <p:nvSpPr>
          <p:cNvPr id="12" name="Text 10"/>
          <p:cNvSpPr txBox="1"/>
          <p:nvPr/>
        </p:nvSpPr>
        <p:spPr>
          <a:xfrm>
            <a:off x="10253167" y="1719072"/>
            <a:ext cx="914400" cy="256032"/>
          </a:xfrm>
          <a:prstGeom prst="rect">
            <a:avLst/>
          </a:prstGeom>
          <a:noFill/>
          <a:ln/>
        </p:spPr>
        <p:txBody>
          <a:bodyPr wrap="square" lIns="0" tIns="0" rIns="0" bIns="0" rtlCol="0" anchor="ctr"/>
          <a:lstStyle/>
          <a:p>
            <a:pPr algn="ctr" indent="0" marL="0">
              <a:buNone/>
            </a:pPr>
            <a:r>
              <a:rPr lang="en-US" sz="900" b="1" dirty="0">
                <a:solidFill>
                  <a:srgbClr val="16191D"/>
                </a:solidFill>
                <a:latin typeface="Calibri" pitchFamily="34" charset="0"/>
                <a:ea typeface="Calibri" pitchFamily="34" charset="-122"/>
                <a:cs typeface="Calibri" pitchFamily="34" charset="-120"/>
              </a:rPr>
              <a:t>OFFLINE</a:t>
            </a:r>
            <a:endParaRPr lang="en-US" sz="900" dirty="0"/>
          </a:p>
        </p:txBody>
      </p:sp>
      <p:sp>
        <p:nvSpPr>
          <p:cNvPr id="13" name="Text 11"/>
          <p:cNvSpPr txBox="1"/>
          <p:nvPr/>
        </p:nvSpPr>
        <p:spPr>
          <a:xfrm>
            <a:off x="6931152" y="2313432"/>
            <a:ext cx="169164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R. Delos Santos</a:t>
            </a:r>
            <a:endParaRPr lang="en-US" sz="1100" dirty="0"/>
          </a:p>
        </p:txBody>
      </p:sp>
      <p:sp>
        <p:nvSpPr>
          <p:cNvPr id="14" name="Shape 12"/>
          <p:cNvSpPr/>
          <p:nvPr/>
        </p:nvSpPr>
        <p:spPr>
          <a:xfrm>
            <a:off x="8705088" y="2276856"/>
            <a:ext cx="793394" cy="329184"/>
          </a:xfrm>
          <a:prstGeom prst="roundRect">
            <a:avLst>
              <a:gd name="adj" fmla="val 33333"/>
            </a:avLst>
          </a:prstGeom>
          <a:solidFill>
            <a:srgbClr val="E4F0EA"/>
          </a:solidFill>
          <a:ln/>
        </p:spPr>
      </p:sp>
      <p:sp>
        <p:nvSpPr>
          <p:cNvPr id="15" name="Text 13"/>
          <p:cNvSpPr txBox="1"/>
          <p:nvPr/>
        </p:nvSpPr>
        <p:spPr>
          <a:xfrm>
            <a:off x="8705088" y="2276856"/>
            <a:ext cx="793394" cy="329184"/>
          </a:xfrm>
          <a:prstGeom prst="rect">
            <a:avLst/>
          </a:prstGeom>
          <a:noFill/>
          <a:ln/>
        </p:spPr>
        <p:txBody>
          <a:bodyPr wrap="square" lIns="0" tIns="0" rIns="0" bIns="0" rtlCol="0" anchor="ctr"/>
          <a:lstStyle/>
          <a:p>
            <a:pPr algn="ctr" indent="0" marL="0">
              <a:buNone/>
            </a:pPr>
            <a:r>
              <a:rPr lang="en-US" sz="850" b="1" dirty="0">
                <a:solidFill>
                  <a:srgbClr val="2E7D5B"/>
                </a:solidFill>
                <a:latin typeface="Calibri" pitchFamily="34" charset="0"/>
                <a:ea typeface="Calibri" pitchFamily="34" charset="-122"/>
                <a:cs typeface="Calibri" pitchFamily="34" charset="-120"/>
              </a:rPr>
              <a:t>PRESENT</a:t>
            </a:r>
            <a:endParaRPr lang="en-US" sz="850" dirty="0"/>
          </a:p>
        </p:txBody>
      </p:sp>
      <p:sp>
        <p:nvSpPr>
          <p:cNvPr id="16" name="Shape 14"/>
          <p:cNvSpPr/>
          <p:nvPr/>
        </p:nvSpPr>
        <p:spPr>
          <a:xfrm>
            <a:off x="9571634" y="2276856"/>
            <a:ext cx="793394" cy="329184"/>
          </a:xfrm>
          <a:prstGeom prst="roundRect">
            <a:avLst>
              <a:gd name="adj" fmla="val 33333"/>
            </a:avLst>
          </a:prstGeom>
          <a:solidFill>
            <a:srgbClr val="F4F2EF"/>
          </a:solidFill>
          <a:ln/>
        </p:spPr>
      </p:sp>
      <p:sp>
        <p:nvSpPr>
          <p:cNvPr id="17" name="Text 15"/>
          <p:cNvSpPr txBox="1"/>
          <p:nvPr/>
        </p:nvSpPr>
        <p:spPr>
          <a:xfrm>
            <a:off x="9571634" y="2276856"/>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LATE</a:t>
            </a:r>
            <a:endParaRPr lang="en-US" sz="850" dirty="0"/>
          </a:p>
        </p:txBody>
      </p:sp>
      <p:sp>
        <p:nvSpPr>
          <p:cNvPr id="18" name="Shape 16"/>
          <p:cNvSpPr/>
          <p:nvPr/>
        </p:nvSpPr>
        <p:spPr>
          <a:xfrm>
            <a:off x="10438181" y="2276856"/>
            <a:ext cx="793394" cy="329184"/>
          </a:xfrm>
          <a:prstGeom prst="roundRect">
            <a:avLst>
              <a:gd name="adj" fmla="val 33333"/>
            </a:avLst>
          </a:prstGeom>
          <a:solidFill>
            <a:srgbClr val="F4F2EF"/>
          </a:solidFill>
          <a:ln/>
        </p:spPr>
      </p:sp>
      <p:sp>
        <p:nvSpPr>
          <p:cNvPr id="19" name="Text 17"/>
          <p:cNvSpPr txBox="1"/>
          <p:nvPr/>
        </p:nvSpPr>
        <p:spPr>
          <a:xfrm>
            <a:off x="10438181" y="2276856"/>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ABSENT</a:t>
            </a:r>
            <a:endParaRPr lang="en-US" sz="850" dirty="0"/>
          </a:p>
        </p:txBody>
      </p:sp>
      <p:sp>
        <p:nvSpPr>
          <p:cNvPr id="20" name="Text 18"/>
          <p:cNvSpPr txBox="1"/>
          <p:nvPr/>
        </p:nvSpPr>
        <p:spPr>
          <a:xfrm>
            <a:off x="6931152" y="2843784"/>
            <a:ext cx="169164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M. Abanto</a:t>
            </a:r>
            <a:endParaRPr lang="en-US" sz="1100" dirty="0"/>
          </a:p>
        </p:txBody>
      </p:sp>
      <p:sp>
        <p:nvSpPr>
          <p:cNvPr id="21" name="Shape 19"/>
          <p:cNvSpPr/>
          <p:nvPr/>
        </p:nvSpPr>
        <p:spPr>
          <a:xfrm>
            <a:off x="8705088" y="2807208"/>
            <a:ext cx="793394" cy="329184"/>
          </a:xfrm>
          <a:prstGeom prst="roundRect">
            <a:avLst>
              <a:gd name="adj" fmla="val 33333"/>
            </a:avLst>
          </a:prstGeom>
          <a:solidFill>
            <a:srgbClr val="F4F2EF"/>
          </a:solidFill>
          <a:ln/>
        </p:spPr>
      </p:sp>
      <p:sp>
        <p:nvSpPr>
          <p:cNvPr id="22" name="Text 20"/>
          <p:cNvSpPr txBox="1"/>
          <p:nvPr/>
        </p:nvSpPr>
        <p:spPr>
          <a:xfrm>
            <a:off x="8705088" y="2807208"/>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PRESENT</a:t>
            </a:r>
            <a:endParaRPr lang="en-US" sz="850" dirty="0"/>
          </a:p>
        </p:txBody>
      </p:sp>
      <p:sp>
        <p:nvSpPr>
          <p:cNvPr id="23" name="Shape 21"/>
          <p:cNvSpPr/>
          <p:nvPr/>
        </p:nvSpPr>
        <p:spPr>
          <a:xfrm>
            <a:off x="9571634" y="2807208"/>
            <a:ext cx="793394" cy="329184"/>
          </a:xfrm>
          <a:prstGeom prst="roundRect">
            <a:avLst>
              <a:gd name="adj" fmla="val 33333"/>
            </a:avLst>
          </a:prstGeom>
          <a:solidFill>
            <a:srgbClr val="FDF1DA"/>
          </a:solidFill>
          <a:ln/>
        </p:spPr>
      </p:sp>
      <p:sp>
        <p:nvSpPr>
          <p:cNvPr id="24" name="Text 22"/>
          <p:cNvSpPr txBox="1"/>
          <p:nvPr/>
        </p:nvSpPr>
        <p:spPr>
          <a:xfrm>
            <a:off x="9571634" y="2807208"/>
            <a:ext cx="793394" cy="329184"/>
          </a:xfrm>
          <a:prstGeom prst="rect">
            <a:avLst/>
          </a:prstGeom>
          <a:noFill/>
          <a:ln/>
        </p:spPr>
        <p:txBody>
          <a:bodyPr wrap="square" lIns="0" tIns="0" rIns="0" bIns="0" rtlCol="0" anchor="ctr"/>
          <a:lstStyle/>
          <a:p>
            <a:pPr algn="ctr" indent="0" marL="0">
              <a:buNone/>
            </a:pPr>
            <a:r>
              <a:rPr lang="en-US" sz="850" b="1" dirty="0">
                <a:solidFill>
                  <a:srgbClr val="9C6A08"/>
                </a:solidFill>
                <a:latin typeface="Calibri" pitchFamily="34" charset="0"/>
                <a:ea typeface="Calibri" pitchFamily="34" charset="-122"/>
                <a:cs typeface="Calibri" pitchFamily="34" charset="-120"/>
              </a:rPr>
              <a:t>LATE</a:t>
            </a:r>
            <a:endParaRPr lang="en-US" sz="850" dirty="0"/>
          </a:p>
        </p:txBody>
      </p:sp>
      <p:sp>
        <p:nvSpPr>
          <p:cNvPr id="25" name="Shape 23"/>
          <p:cNvSpPr/>
          <p:nvPr/>
        </p:nvSpPr>
        <p:spPr>
          <a:xfrm>
            <a:off x="10438181" y="2807208"/>
            <a:ext cx="793394" cy="329184"/>
          </a:xfrm>
          <a:prstGeom prst="roundRect">
            <a:avLst>
              <a:gd name="adj" fmla="val 33333"/>
            </a:avLst>
          </a:prstGeom>
          <a:solidFill>
            <a:srgbClr val="F4F2EF"/>
          </a:solidFill>
          <a:ln/>
        </p:spPr>
      </p:sp>
      <p:sp>
        <p:nvSpPr>
          <p:cNvPr id="26" name="Text 24"/>
          <p:cNvSpPr txBox="1"/>
          <p:nvPr/>
        </p:nvSpPr>
        <p:spPr>
          <a:xfrm>
            <a:off x="10438181" y="2807208"/>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ABSENT</a:t>
            </a:r>
            <a:endParaRPr lang="en-US" sz="850" dirty="0"/>
          </a:p>
        </p:txBody>
      </p:sp>
      <p:sp>
        <p:nvSpPr>
          <p:cNvPr id="27" name="Text 25"/>
          <p:cNvSpPr txBox="1"/>
          <p:nvPr/>
        </p:nvSpPr>
        <p:spPr>
          <a:xfrm>
            <a:off x="6931152" y="3374136"/>
            <a:ext cx="169164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J. Villaruel</a:t>
            </a:r>
            <a:endParaRPr lang="en-US" sz="1100" dirty="0"/>
          </a:p>
        </p:txBody>
      </p:sp>
      <p:sp>
        <p:nvSpPr>
          <p:cNvPr id="28" name="Shape 26"/>
          <p:cNvSpPr/>
          <p:nvPr/>
        </p:nvSpPr>
        <p:spPr>
          <a:xfrm>
            <a:off x="8705088" y="3337560"/>
            <a:ext cx="793394" cy="329184"/>
          </a:xfrm>
          <a:prstGeom prst="roundRect">
            <a:avLst>
              <a:gd name="adj" fmla="val 33333"/>
            </a:avLst>
          </a:prstGeom>
          <a:solidFill>
            <a:srgbClr val="E4F0EA"/>
          </a:solidFill>
          <a:ln/>
        </p:spPr>
      </p:sp>
      <p:sp>
        <p:nvSpPr>
          <p:cNvPr id="29" name="Text 27"/>
          <p:cNvSpPr txBox="1"/>
          <p:nvPr/>
        </p:nvSpPr>
        <p:spPr>
          <a:xfrm>
            <a:off x="8705088" y="3337560"/>
            <a:ext cx="793394" cy="329184"/>
          </a:xfrm>
          <a:prstGeom prst="rect">
            <a:avLst/>
          </a:prstGeom>
          <a:noFill/>
          <a:ln/>
        </p:spPr>
        <p:txBody>
          <a:bodyPr wrap="square" lIns="0" tIns="0" rIns="0" bIns="0" rtlCol="0" anchor="ctr"/>
          <a:lstStyle/>
          <a:p>
            <a:pPr algn="ctr" indent="0" marL="0">
              <a:buNone/>
            </a:pPr>
            <a:r>
              <a:rPr lang="en-US" sz="850" b="1" dirty="0">
                <a:solidFill>
                  <a:srgbClr val="2E7D5B"/>
                </a:solidFill>
                <a:latin typeface="Calibri" pitchFamily="34" charset="0"/>
                <a:ea typeface="Calibri" pitchFamily="34" charset="-122"/>
                <a:cs typeface="Calibri" pitchFamily="34" charset="-120"/>
              </a:rPr>
              <a:t>PRESENT</a:t>
            </a:r>
            <a:endParaRPr lang="en-US" sz="850" dirty="0"/>
          </a:p>
        </p:txBody>
      </p:sp>
      <p:sp>
        <p:nvSpPr>
          <p:cNvPr id="30" name="Shape 28"/>
          <p:cNvSpPr/>
          <p:nvPr/>
        </p:nvSpPr>
        <p:spPr>
          <a:xfrm>
            <a:off x="9571634" y="3337560"/>
            <a:ext cx="793394" cy="329184"/>
          </a:xfrm>
          <a:prstGeom prst="roundRect">
            <a:avLst>
              <a:gd name="adj" fmla="val 33333"/>
            </a:avLst>
          </a:prstGeom>
          <a:solidFill>
            <a:srgbClr val="F4F2EF"/>
          </a:solidFill>
          <a:ln/>
        </p:spPr>
      </p:sp>
      <p:sp>
        <p:nvSpPr>
          <p:cNvPr id="31" name="Text 29"/>
          <p:cNvSpPr txBox="1"/>
          <p:nvPr/>
        </p:nvSpPr>
        <p:spPr>
          <a:xfrm>
            <a:off x="9571634" y="3337560"/>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LATE</a:t>
            </a:r>
            <a:endParaRPr lang="en-US" sz="850" dirty="0"/>
          </a:p>
        </p:txBody>
      </p:sp>
      <p:sp>
        <p:nvSpPr>
          <p:cNvPr id="32" name="Shape 30"/>
          <p:cNvSpPr/>
          <p:nvPr/>
        </p:nvSpPr>
        <p:spPr>
          <a:xfrm>
            <a:off x="10438181" y="3337560"/>
            <a:ext cx="793394" cy="329184"/>
          </a:xfrm>
          <a:prstGeom prst="roundRect">
            <a:avLst>
              <a:gd name="adj" fmla="val 33333"/>
            </a:avLst>
          </a:prstGeom>
          <a:solidFill>
            <a:srgbClr val="F4F2EF"/>
          </a:solidFill>
          <a:ln/>
        </p:spPr>
      </p:sp>
      <p:sp>
        <p:nvSpPr>
          <p:cNvPr id="33" name="Text 31"/>
          <p:cNvSpPr txBox="1"/>
          <p:nvPr/>
        </p:nvSpPr>
        <p:spPr>
          <a:xfrm>
            <a:off x="10438181" y="3337560"/>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ABSENT</a:t>
            </a:r>
            <a:endParaRPr lang="en-US" sz="850" dirty="0"/>
          </a:p>
        </p:txBody>
      </p:sp>
      <p:sp>
        <p:nvSpPr>
          <p:cNvPr id="34" name="Text 32"/>
          <p:cNvSpPr txBox="1"/>
          <p:nvPr/>
        </p:nvSpPr>
        <p:spPr>
          <a:xfrm>
            <a:off x="6931152" y="3904488"/>
            <a:ext cx="169164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 Carpio</a:t>
            </a:r>
            <a:endParaRPr lang="en-US" sz="1100" dirty="0"/>
          </a:p>
        </p:txBody>
      </p:sp>
      <p:sp>
        <p:nvSpPr>
          <p:cNvPr id="35" name="Shape 33"/>
          <p:cNvSpPr/>
          <p:nvPr/>
        </p:nvSpPr>
        <p:spPr>
          <a:xfrm>
            <a:off x="8705088" y="3867912"/>
            <a:ext cx="793394" cy="329184"/>
          </a:xfrm>
          <a:prstGeom prst="roundRect">
            <a:avLst>
              <a:gd name="adj" fmla="val 33333"/>
            </a:avLst>
          </a:prstGeom>
          <a:solidFill>
            <a:srgbClr val="F4F2EF"/>
          </a:solidFill>
          <a:ln/>
        </p:spPr>
      </p:sp>
      <p:sp>
        <p:nvSpPr>
          <p:cNvPr id="36" name="Text 34"/>
          <p:cNvSpPr txBox="1"/>
          <p:nvPr/>
        </p:nvSpPr>
        <p:spPr>
          <a:xfrm>
            <a:off x="8705088" y="3867912"/>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PRESENT</a:t>
            </a:r>
            <a:endParaRPr lang="en-US" sz="850" dirty="0"/>
          </a:p>
        </p:txBody>
      </p:sp>
      <p:sp>
        <p:nvSpPr>
          <p:cNvPr id="37" name="Shape 35"/>
          <p:cNvSpPr/>
          <p:nvPr/>
        </p:nvSpPr>
        <p:spPr>
          <a:xfrm>
            <a:off x="9571634" y="3867912"/>
            <a:ext cx="793394" cy="329184"/>
          </a:xfrm>
          <a:prstGeom prst="roundRect">
            <a:avLst>
              <a:gd name="adj" fmla="val 33333"/>
            </a:avLst>
          </a:prstGeom>
          <a:solidFill>
            <a:srgbClr val="F4F2EF"/>
          </a:solidFill>
          <a:ln/>
        </p:spPr>
      </p:sp>
      <p:sp>
        <p:nvSpPr>
          <p:cNvPr id="38" name="Text 36"/>
          <p:cNvSpPr txBox="1"/>
          <p:nvPr/>
        </p:nvSpPr>
        <p:spPr>
          <a:xfrm>
            <a:off x="9571634" y="3867912"/>
            <a:ext cx="793394" cy="329184"/>
          </a:xfrm>
          <a:prstGeom prst="rect">
            <a:avLst/>
          </a:prstGeom>
          <a:noFill/>
          <a:ln/>
        </p:spPr>
        <p:txBody>
          <a:bodyPr wrap="square" lIns="0" tIns="0" rIns="0" bIns="0" rtlCol="0" anchor="ctr"/>
          <a:lstStyle/>
          <a:p>
            <a:pPr algn="ctr" indent="0" marL="0">
              <a:buNone/>
            </a:pPr>
            <a:r>
              <a:rPr lang="en-US" sz="850" b="1" dirty="0">
                <a:solidFill>
                  <a:srgbClr val="8A949D"/>
                </a:solidFill>
                <a:latin typeface="Calibri" pitchFamily="34" charset="0"/>
                <a:ea typeface="Calibri" pitchFamily="34" charset="-122"/>
                <a:cs typeface="Calibri" pitchFamily="34" charset="-120"/>
              </a:rPr>
              <a:t>LATE</a:t>
            </a:r>
            <a:endParaRPr lang="en-US" sz="850" dirty="0"/>
          </a:p>
        </p:txBody>
      </p:sp>
      <p:sp>
        <p:nvSpPr>
          <p:cNvPr id="39" name="Shape 37"/>
          <p:cNvSpPr/>
          <p:nvPr/>
        </p:nvSpPr>
        <p:spPr>
          <a:xfrm>
            <a:off x="10438181" y="3867912"/>
            <a:ext cx="793394" cy="329184"/>
          </a:xfrm>
          <a:prstGeom prst="roundRect">
            <a:avLst>
              <a:gd name="adj" fmla="val 33333"/>
            </a:avLst>
          </a:prstGeom>
          <a:solidFill>
            <a:srgbClr val="F8E6E4"/>
          </a:solidFill>
          <a:ln/>
        </p:spPr>
      </p:sp>
      <p:sp>
        <p:nvSpPr>
          <p:cNvPr id="40" name="Text 38"/>
          <p:cNvSpPr txBox="1"/>
          <p:nvPr/>
        </p:nvSpPr>
        <p:spPr>
          <a:xfrm>
            <a:off x="10438181" y="3867912"/>
            <a:ext cx="793394" cy="329184"/>
          </a:xfrm>
          <a:prstGeom prst="rect">
            <a:avLst/>
          </a:prstGeom>
          <a:noFill/>
          <a:ln/>
        </p:spPr>
        <p:txBody>
          <a:bodyPr wrap="square" lIns="0" tIns="0" rIns="0" bIns="0" rtlCol="0" anchor="ctr"/>
          <a:lstStyle/>
          <a:p>
            <a:pPr algn="ctr" indent="0" marL="0">
              <a:buNone/>
            </a:pPr>
            <a:r>
              <a:rPr lang="en-US" sz="850" b="1" dirty="0">
                <a:solidFill>
                  <a:srgbClr val="B8352B"/>
                </a:solidFill>
                <a:latin typeface="Calibri" pitchFamily="34" charset="0"/>
                <a:ea typeface="Calibri" pitchFamily="34" charset="-122"/>
                <a:cs typeface="Calibri" pitchFamily="34" charset="-120"/>
              </a:rPr>
              <a:t>ABSENT</a:t>
            </a:r>
            <a:endParaRPr lang="en-US" sz="850" dirty="0"/>
          </a:p>
        </p:txBody>
      </p:sp>
      <p:sp>
        <p:nvSpPr>
          <p:cNvPr id="41" name="Text 39"/>
          <p:cNvSpPr txBox="1"/>
          <p:nvPr/>
        </p:nvSpPr>
        <p:spPr>
          <a:xfrm>
            <a:off x="6876288" y="4297680"/>
            <a:ext cx="4474159" cy="365760"/>
          </a:xfrm>
          <a:prstGeom prst="rect">
            <a:avLst/>
          </a:prstGeom>
          <a:noFill/>
          <a:ln/>
        </p:spPr>
        <p:txBody>
          <a:bodyPr wrap="square" lIns="0" tIns="0" rIns="0" bIns="0" rtlCol="0" anchor="t"/>
          <a:lstStyle/>
          <a:p>
            <a:pPr algn="l" indent="0" marL="0">
              <a:lnSpc>
                <a:spcPct val="112000"/>
              </a:lnSpc>
              <a:buNone/>
            </a:pPr>
            <a:r>
              <a:rPr lang="en-US" sz="1000" dirty="0">
                <a:solidFill>
                  <a:srgbClr val="8A949D"/>
                </a:solidFill>
                <a:latin typeface="Calibri" pitchFamily="34" charset="0"/>
                <a:ea typeface="Calibri" pitchFamily="34" charset="-122"/>
                <a:cs typeface="Calibri" pitchFamily="34" charset="-120"/>
              </a:rPr>
              <a:t>4 of 12 recorded  ·  4 queued for sync</a:t>
            </a:r>
            <a:endParaRPr lang="en-US" sz="1000" dirty="0"/>
          </a:p>
          <a:p>
            <a:pPr algn="l" indent="0" marL="0">
              <a:lnSpc>
                <a:spcPct val="112000"/>
              </a:lnSpc>
              <a:buNone/>
            </a:pPr>
            <a:r>
              <a:rPr lang="en-US" sz="1000" dirty="0">
                <a:solidFill>
                  <a:srgbClr val="8A949D"/>
                </a:solidFill>
                <a:latin typeface="Calibri" pitchFamily="34" charset="0"/>
                <a:ea typeface="Calibri" pitchFamily="34" charset="-122"/>
                <a:cs typeface="Calibri" pitchFamily="34" charset="-120"/>
              </a:rPr>
              <a:t>Written to encrypted local storage, with no network call</a:t>
            </a:r>
            <a:endParaRPr lang="en-US" sz="1000" dirty="0"/>
          </a:p>
        </p:txBody>
      </p:sp>
      <p:sp>
        <p:nvSpPr>
          <p:cNvPr id="42" name="Shape 40"/>
          <p:cNvSpPr/>
          <p:nvPr/>
        </p:nvSpPr>
        <p:spPr>
          <a:xfrm>
            <a:off x="548640" y="4983480"/>
            <a:ext cx="11094415" cy="1234440"/>
          </a:xfrm>
          <a:prstGeom prst="roundRect">
            <a:avLst>
              <a:gd name="adj" fmla="val 4444"/>
            </a:avLst>
          </a:prstGeom>
          <a:solidFill>
            <a:srgbClr val="16191D"/>
          </a:solidFill>
          <a:ln/>
        </p:spPr>
      </p:sp>
      <p:sp>
        <p:nvSpPr>
          <p:cNvPr id="43" name="Text 41"/>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44" name="Text 42"/>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Attendance is recorded at sites with no cellular or internet coverage, at the moment the crew actually assembles.</a:t>
            </a:r>
            <a:endParaRPr lang="en-US" sz="12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03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Cryptographic Attendance Integrity Engine</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22</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Four independent layers, each one defeating a different way of faking an attendance record.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All four are applied on the device as the record is written, not bolted on at the server afterwards.</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server refuses any batch whose hash chain or signature does not verify. It is never stored as attendance.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Tested against three deliberate attacks: clock rollback, direct database edits, and forged signatures.</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FOUR LAYERS, APPLIED IN ORDER</a:t>
            </a:r>
            <a:endParaRPr lang="en-US" sz="1050" dirty="0"/>
          </a:p>
        </p:txBody>
      </p:sp>
      <p:sp>
        <p:nvSpPr>
          <p:cNvPr id="10" name="Shape 8"/>
          <p:cNvSpPr/>
          <p:nvPr/>
        </p:nvSpPr>
        <p:spPr>
          <a:xfrm>
            <a:off x="6949440" y="1993392"/>
            <a:ext cx="4327855" cy="603504"/>
          </a:xfrm>
          <a:prstGeom prst="roundRect">
            <a:avLst>
              <a:gd name="adj" fmla="val 9091"/>
            </a:avLst>
          </a:prstGeom>
          <a:solidFill>
            <a:srgbClr val="2A3138"/>
          </a:solidFill>
          <a:ln/>
        </p:spPr>
      </p:sp>
      <p:sp>
        <p:nvSpPr>
          <p:cNvPr id="11" name="Shape 9"/>
          <p:cNvSpPr/>
          <p:nvPr/>
        </p:nvSpPr>
        <p:spPr>
          <a:xfrm>
            <a:off x="7114032" y="2130552"/>
            <a:ext cx="329184" cy="329184"/>
          </a:xfrm>
          <a:prstGeom prst="ellipse">
            <a:avLst/>
          </a:prstGeom>
          <a:solidFill>
            <a:srgbClr val="F2A413"/>
          </a:solidFill>
          <a:ln/>
        </p:spPr>
      </p:sp>
      <p:sp>
        <p:nvSpPr>
          <p:cNvPr id="12" name="Text 10"/>
          <p:cNvSpPr txBox="1"/>
          <p:nvPr/>
        </p:nvSpPr>
        <p:spPr>
          <a:xfrm>
            <a:off x="7114032" y="2130552"/>
            <a:ext cx="329184" cy="329184"/>
          </a:xfrm>
          <a:prstGeom prst="rect">
            <a:avLst/>
          </a:prstGeom>
          <a:noFill/>
          <a:ln/>
        </p:spPr>
        <p:txBody>
          <a:bodyPr wrap="square" lIns="0" tIns="0" rIns="0" bIns="0" rtlCol="0" anchor="ctr"/>
          <a:lstStyle/>
          <a:p>
            <a:pPr algn="ctr" indent="0" marL="0">
              <a:buNone/>
            </a:pPr>
            <a:r>
              <a:rPr lang="en-US" sz="950" b="1" dirty="0">
                <a:solidFill>
                  <a:srgbClr val="16191D"/>
                </a:solidFill>
                <a:latin typeface="Calibri" pitchFamily="34" charset="0"/>
                <a:ea typeface="Calibri" pitchFamily="34" charset="-122"/>
                <a:cs typeface="Calibri" pitchFamily="34" charset="-120"/>
              </a:rPr>
              <a:t>L1</a:t>
            </a:r>
            <a:endParaRPr lang="en-US" sz="950" dirty="0"/>
          </a:p>
        </p:txBody>
      </p:sp>
      <p:sp>
        <p:nvSpPr>
          <p:cNvPr id="13" name="Text 11"/>
          <p:cNvSpPr txBox="1"/>
          <p:nvPr/>
        </p:nvSpPr>
        <p:spPr>
          <a:xfrm>
            <a:off x="7552944" y="2066544"/>
            <a:ext cx="3687775"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Monotonic clock capture</a:t>
            </a:r>
            <a:endParaRPr lang="en-US" sz="1150" dirty="0"/>
          </a:p>
        </p:txBody>
      </p:sp>
      <p:sp>
        <p:nvSpPr>
          <p:cNvPr id="14" name="Text 12"/>
          <p:cNvSpPr txBox="1"/>
          <p:nvPr/>
        </p:nvSpPr>
        <p:spPr>
          <a:xfrm>
            <a:off x="7552944" y="2304288"/>
            <a:ext cx="3687775" cy="219456"/>
          </a:xfrm>
          <a:prstGeom prst="rect">
            <a:avLst/>
          </a:prstGeom>
          <a:noFill/>
          <a:ln/>
        </p:spPr>
        <p:txBody>
          <a:bodyPr wrap="square" lIns="0" tIns="0" rIns="0" bIns="0" rtlCol="0" anchor="t"/>
          <a:lstStyle/>
          <a:p>
            <a:pPr algn="l" indent="0" marL="0">
              <a:lnSpc>
                <a:spcPct val="108000"/>
              </a:lnSpc>
              <a:buNone/>
            </a:pPr>
            <a:r>
              <a:rPr lang="en-US" sz="950" dirty="0">
                <a:solidFill>
                  <a:srgbClr val="8A949D"/>
                </a:solidFill>
                <a:latin typeface="Calibri" pitchFamily="34" charset="0"/>
                <a:ea typeface="Calibri" pitchFamily="34" charset="-122"/>
                <a:cs typeface="Calibri" pitchFamily="34" charset="-120"/>
              </a:rPr>
              <a:t>Anchors when the record was made</a:t>
            </a:r>
            <a:endParaRPr lang="en-US" sz="950" dirty="0"/>
          </a:p>
        </p:txBody>
      </p:sp>
      <p:sp>
        <p:nvSpPr>
          <p:cNvPr id="15" name="Shape 13"/>
          <p:cNvSpPr/>
          <p:nvPr/>
        </p:nvSpPr>
        <p:spPr>
          <a:xfrm>
            <a:off x="6949440" y="2688336"/>
            <a:ext cx="4327855" cy="603504"/>
          </a:xfrm>
          <a:prstGeom prst="roundRect">
            <a:avLst>
              <a:gd name="adj" fmla="val 9091"/>
            </a:avLst>
          </a:prstGeom>
          <a:solidFill>
            <a:srgbClr val="16191D"/>
          </a:solidFill>
          <a:ln/>
        </p:spPr>
      </p:sp>
      <p:sp>
        <p:nvSpPr>
          <p:cNvPr id="16" name="Shape 14"/>
          <p:cNvSpPr/>
          <p:nvPr/>
        </p:nvSpPr>
        <p:spPr>
          <a:xfrm>
            <a:off x="7114032" y="2825496"/>
            <a:ext cx="329184" cy="329184"/>
          </a:xfrm>
          <a:prstGeom prst="ellipse">
            <a:avLst/>
          </a:prstGeom>
          <a:solidFill>
            <a:srgbClr val="F2A413"/>
          </a:solidFill>
          <a:ln/>
        </p:spPr>
      </p:sp>
      <p:sp>
        <p:nvSpPr>
          <p:cNvPr id="17" name="Text 15"/>
          <p:cNvSpPr txBox="1"/>
          <p:nvPr/>
        </p:nvSpPr>
        <p:spPr>
          <a:xfrm>
            <a:off x="7114032" y="2825496"/>
            <a:ext cx="329184" cy="329184"/>
          </a:xfrm>
          <a:prstGeom prst="rect">
            <a:avLst/>
          </a:prstGeom>
          <a:noFill/>
          <a:ln/>
        </p:spPr>
        <p:txBody>
          <a:bodyPr wrap="square" lIns="0" tIns="0" rIns="0" bIns="0" rtlCol="0" anchor="ctr"/>
          <a:lstStyle/>
          <a:p>
            <a:pPr algn="ctr" indent="0" marL="0">
              <a:buNone/>
            </a:pPr>
            <a:r>
              <a:rPr lang="en-US" sz="950" b="1" dirty="0">
                <a:solidFill>
                  <a:srgbClr val="16191D"/>
                </a:solidFill>
                <a:latin typeface="Calibri" pitchFamily="34" charset="0"/>
                <a:ea typeface="Calibri" pitchFamily="34" charset="-122"/>
                <a:cs typeface="Calibri" pitchFamily="34" charset="-120"/>
              </a:rPr>
              <a:t>L2</a:t>
            </a:r>
            <a:endParaRPr lang="en-US" sz="950" dirty="0"/>
          </a:p>
        </p:txBody>
      </p:sp>
      <p:sp>
        <p:nvSpPr>
          <p:cNvPr id="18" name="Text 16"/>
          <p:cNvSpPr txBox="1"/>
          <p:nvPr/>
        </p:nvSpPr>
        <p:spPr>
          <a:xfrm>
            <a:off x="7552944" y="2761488"/>
            <a:ext cx="3687775"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HMAC-SHA256 hash chain</a:t>
            </a:r>
            <a:endParaRPr lang="en-US" sz="1150" dirty="0"/>
          </a:p>
        </p:txBody>
      </p:sp>
      <p:sp>
        <p:nvSpPr>
          <p:cNvPr id="19" name="Text 17"/>
          <p:cNvSpPr txBox="1"/>
          <p:nvPr/>
        </p:nvSpPr>
        <p:spPr>
          <a:xfrm>
            <a:off x="7552944" y="2999232"/>
            <a:ext cx="3687775" cy="219456"/>
          </a:xfrm>
          <a:prstGeom prst="rect">
            <a:avLst/>
          </a:prstGeom>
          <a:noFill/>
          <a:ln/>
        </p:spPr>
        <p:txBody>
          <a:bodyPr wrap="square" lIns="0" tIns="0" rIns="0" bIns="0" rtlCol="0" anchor="t"/>
          <a:lstStyle/>
          <a:p>
            <a:pPr algn="l" indent="0" marL="0">
              <a:lnSpc>
                <a:spcPct val="108000"/>
              </a:lnSpc>
              <a:buNone/>
            </a:pPr>
            <a:r>
              <a:rPr lang="en-US" sz="950" dirty="0">
                <a:solidFill>
                  <a:srgbClr val="8A949D"/>
                </a:solidFill>
                <a:latin typeface="Calibri" pitchFamily="34" charset="0"/>
                <a:ea typeface="Calibri" pitchFamily="34" charset="-122"/>
                <a:cs typeface="Calibri" pitchFamily="34" charset="-120"/>
              </a:rPr>
              <a:t>Links every record to the one before it</a:t>
            </a:r>
            <a:endParaRPr lang="en-US" sz="950" dirty="0"/>
          </a:p>
        </p:txBody>
      </p:sp>
      <p:sp>
        <p:nvSpPr>
          <p:cNvPr id="20" name="Shape 18"/>
          <p:cNvSpPr/>
          <p:nvPr/>
        </p:nvSpPr>
        <p:spPr>
          <a:xfrm>
            <a:off x="6949440" y="3383280"/>
            <a:ext cx="4327855" cy="603504"/>
          </a:xfrm>
          <a:prstGeom prst="roundRect">
            <a:avLst>
              <a:gd name="adj" fmla="val 9091"/>
            </a:avLst>
          </a:prstGeom>
          <a:solidFill>
            <a:srgbClr val="2A3138"/>
          </a:solidFill>
          <a:ln/>
        </p:spPr>
      </p:sp>
      <p:sp>
        <p:nvSpPr>
          <p:cNvPr id="21" name="Shape 19"/>
          <p:cNvSpPr/>
          <p:nvPr/>
        </p:nvSpPr>
        <p:spPr>
          <a:xfrm>
            <a:off x="7114032" y="3520440"/>
            <a:ext cx="329184" cy="329184"/>
          </a:xfrm>
          <a:prstGeom prst="ellipse">
            <a:avLst/>
          </a:prstGeom>
          <a:solidFill>
            <a:srgbClr val="F2A413"/>
          </a:solidFill>
          <a:ln/>
        </p:spPr>
      </p:sp>
      <p:sp>
        <p:nvSpPr>
          <p:cNvPr id="22" name="Text 20"/>
          <p:cNvSpPr txBox="1"/>
          <p:nvPr/>
        </p:nvSpPr>
        <p:spPr>
          <a:xfrm>
            <a:off x="7114032" y="3520440"/>
            <a:ext cx="329184" cy="329184"/>
          </a:xfrm>
          <a:prstGeom prst="rect">
            <a:avLst/>
          </a:prstGeom>
          <a:noFill/>
          <a:ln/>
        </p:spPr>
        <p:txBody>
          <a:bodyPr wrap="square" lIns="0" tIns="0" rIns="0" bIns="0" rtlCol="0" anchor="ctr"/>
          <a:lstStyle/>
          <a:p>
            <a:pPr algn="ctr" indent="0" marL="0">
              <a:buNone/>
            </a:pPr>
            <a:r>
              <a:rPr lang="en-US" sz="950" b="1" dirty="0">
                <a:solidFill>
                  <a:srgbClr val="16191D"/>
                </a:solidFill>
                <a:latin typeface="Calibri" pitchFamily="34" charset="0"/>
                <a:ea typeface="Calibri" pitchFamily="34" charset="-122"/>
                <a:cs typeface="Calibri" pitchFamily="34" charset="-120"/>
              </a:rPr>
              <a:t>L3</a:t>
            </a:r>
            <a:endParaRPr lang="en-US" sz="950" dirty="0"/>
          </a:p>
        </p:txBody>
      </p:sp>
      <p:sp>
        <p:nvSpPr>
          <p:cNvPr id="23" name="Text 21"/>
          <p:cNvSpPr txBox="1"/>
          <p:nvPr/>
        </p:nvSpPr>
        <p:spPr>
          <a:xfrm>
            <a:off x="7552944" y="3456432"/>
            <a:ext cx="3687775"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ECDSA P-256 signing in the TEE</a:t>
            </a:r>
            <a:endParaRPr lang="en-US" sz="1150" dirty="0"/>
          </a:p>
        </p:txBody>
      </p:sp>
      <p:sp>
        <p:nvSpPr>
          <p:cNvPr id="24" name="Text 22"/>
          <p:cNvSpPr txBox="1"/>
          <p:nvPr/>
        </p:nvSpPr>
        <p:spPr>
          <a:xfrm>
            <a:off x="7552944" y="3694176"/>
            <a:ext cx="3687775" cy="219456"/>
          </a:xfrm>
          <a:prstGeom prst="rect">
            <a:avLst/>
          </a:prstGeom>
          <a:noFill/>
          <a:ln/>
        </p:spPr>
        <p:txBody>
          <a:bodyPr wrap="square" lIns="0" tIns="0" rIns="0" bIns="0" rtlCol="0" anchor="t"/>
          <a:lstStyle/>
          <a:p>
            <a:pPr algn="l" indent="0" marL="0">
              <a:lnSpc>
                <a:spcPct val="108000"/>
              </a:lnSpc>
              <a:buNone/>
            </a:pPr>
            <a:r>
              <a:rPr lang="en-US" sz="950" dirty="0">
                <a:solidFill>
                  <a:srgbClr val="8A949D"/>
                </a:solidFill>
                <a:latin typeface="Calibri" pitchFamily="34" charset="0"/>
                <a:ea typeface="Calibri" pitchFamily="34" charset="-122"/>
                <a:cs typeface="Calibri" pitchFamily="34" charset="-120"/>
              </a:rPr>
              <a:t>Proves which device produced the batch</a:t>
            </a:r>
            <a:endParaRPr lang="en-US" sz="950" dirty="0"/>
          </a:p>
        </p:txBody>
      </p:sp>
      <p:sp>
        <p:nvSpPr>
          <p:cNvPr id="25" name="Shape 23"/>
          <p:cNvSpPr/>
          <p:nvPr/>
        </p:nvSpPr>
        <p:spPr>
          <a:xfrm>
            <a:off x="6949440" y="4078224"/>
            <a:ext cx="4327855" cy="603504"/>
          </a:xfrm>
          <a:prstGeom prst="roundRect">
            <a:avLst>
              <a:gd name="adj" fmla="val 9091"/>
            </a:avLst>
          </a:prstGeom>
          <a:solidFill>
            <a:srgbClr val="16191D"/>
          </a:solidFill>
          <a:ln/>
        </p:spPr>
      </p:sp>
      <p:sp>
        <p:nvSpPr>
          <p:cNvPr id="26" name="Shape 24"/>
          <p:cNvSpPr/>
          <p:nvPr/>
        </p:nvSpPr>
        <p:spPr>
          <a:xfrm>
            <a:off x="7114032" y="4215384"/>
            <a:ext cx="329184" cy="329184"/>
          </a:xfrm>
          <a:prstGeom prst="ellipse">
            <a:avLst/>
          </a:prstGeom>
          <a:solidFill>
            <a:srgbClr val="F2A413"/>
          </a:solidFill>
          <a:ln/>
        </p:spPr>
      </p:sp>
      <p:sp>
        <p:nvSpPr>
          <p:cNvPr id="27" name="Text 25"/>
          <p:cNvSpPr txBox="1"/>
          <p:nvPr/>
        </p:nvSpPr>
        <p:spPr>
          <a:xfrm>
            <a:off x="7114032" y="4215384"/>
            <a:ext cx="329184" cy="329184"/>
          </a:xfrm>
          <a:prstGeom prst="rect">
            <a:avLst/>
          </a:prstGeom>
          <a:noFill/>
          <a:ln/>
        </p:spPr>
        <p:txBody>
          <a:bodyPr wrap="square" lIns="0" tIns="0" rIns="0" bIns="0" rtlCol="0" anchor="ctr"/>
          <a:lstStyle/>
          <a:p>
            <a:pPr algn="ctr" indent="0" marL="0">
              <a:buNone/>
            </a:pPr>
            <a:r>
              <a:rPr lang="en-US" sz="950" b="1" dirty="0">
                <a:solidFill>
                  <a:srgbClr val="16191D"/>
                </a:solidFill>
                <a:latin typeface="Calibri" pitchFamily="34" charset="0"/>
                <a:ea typeface="Calibri" pitchFamily="34" charset="-122"/>
                <a:cs typeface="Calibri" pitchFamily="34" charset="-120"/>
              </a:rPr>
              <a:t>L4</a:t>
            </a:r>
            <a:endParaRPr lang="en-US" sz="950" dirty="0"/>
          </a:p>
        </p:txBody>
      </p:sp>
      <p:sp>
        <p:nvSpPr>
          <p:cNvPr id="28" name="Text 26"/>
          <p:cNvSpPr txBox="1"/>
          <p:nvPr/>
        </p:nvSpPr>
        <p:spPr>
          <a:xfrm>
            <a:off x="7552944" y="4151376"/>
            <a:ext cx="3687775" cy="237744"/>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Server-side verification</a:t>
            </a:r>
            <a:endParaRPr lang="en-US" sz="1150" dirty="0"/>
          </a:p>
        </p:txBody>
      </p:sp>
      <p:sp>
        <p:nvSpPr>
          <p:cNvPr id="29" name="Text 27"/>
          <p:cNvSpPr txBox="1"/>
          <p:nvPr/>
        </p:nvSpPr>
        <p:spPr>
          <a:xfrm>
            <a:off x="7552944" y="4389120"/>
            <a:ext cx="3687775" cy="219456"/>
          </a:xfrm>
          <a:prstGeom prst="rect">
            <a:avLst/>
          </a:prstGeom>
          <a:noFill/>
          <a:ln/>
        </p:spPr>
        <p:txBody>
          <a:bodyPr wrap="square" lIns="0" tIns="0" rIns="0" bIns="0" rtlCol="0" anchor="t"/>
          <a:lstStyle/>
          <a:p>
            <a:pPr algn="l" indent="0" marL="0">
              <a:lnSpc>
                <a:spcPct val="108000"/>
              </a:lnSpc>
              <a:buNone/>
            </a:pPr>
            <a:r>
              <a:rPr lang="en-US" sz="950" dirty="0">
                <a:solidFill>
                  <a:srgbClr val="8A949D"/>
                </a:solidFill>
                <a:latin typeface="Calibri" pitchFamily="34" charset="0"/>
                <a:ea typeface="Calibri" pitchFamily="34" charset="-122"/>
                <a:cs typeface="Calibri" pitchFamily="34" charset="-120"/>
              </a:rPr>
              <a:t>Rejects anything that does not re-compute</a:t>
            </a:r>
            <a:endParaRPr lang="en-US" sz="950" dirty="0"/>
          </a:p>
        </p:txBody>
      </p:sp>
      <p:sp>
        <p:nvSpPr>
          <p:cNvPr id="30" name="Shape 28"/>
          <p:cNvSpPr/>
          <p:nvPr/>
        </p:nvSpPr>
        <p:spPr>
          <a:xfrm>
            <a:off x="548640" y="4983480"/>
            <a:ext cx="11094415" cy="1234440"/>
          </a:xfrm>
          <a:prstGeom prst="roundRect">
            <a:avLst>
              <a:gd name="adj" fmla="val 4444"/>
            </a:avLst>
          </a:prstGeom>
          <a:solidFill>
            <a:srgbClr val="16191D"/>
          </a:solidFill>
          <a:ln/>
        </p:spPr>
      </p:sp>
      <p:sp>
        <p:nvSpPr>
          <p:cNvPr id="31" name="Text 29"/>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32" name="Text 30"/>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A record's time and content can be proven unaltered, so attendance becomes evidence rather than a claim.</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03 · INTEGRITY ENGINE</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Layers 1 and 2: Anchoring Time, Linking Records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23</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Shape 4"/>
          <p:cNvSpPr/>
          <p:nvPr/>
        </p:nvSpPr>
        <p:spPr>
          <a:xfrm>
            <a:off x="548640" y="1325880"/>
            <a:ext cx="5364328" cy="4754880"/>
          </a:xfrm>
          <a:prstGeom prst="roundRect">
            <a:avLst>
              <a:gd name="adj" fmla="val 1154"/>
            </a:avLst>
          </a:prstGeom>
          <a:solidFill>
            <a:srgbClr val="FFFFFF"/>
          </a:solidFill>
          <a:ln w="12700">
            <a:solidFill>
              <a:srgbClr val="DCD7D0"/>
            </a:solidFill>
            <a:prstDash val="solid"/>
          </a:ln>
        </p:spPr>
      </p:sp>
      <p:sp>
        <p:nvSpPr>
          <p:cNvPr id="7" name="Shape 5"/>
          <p:cNvSpPr/>
          <p:nvPr/>
        </p:nvSpPr>
        <p:spPr>
          <a:xfrm>
            <a:off x="868680" y="1600200"/>
            <a:ext cx="457200" cy="457200"/>
          </a:xfrm>
          <a:prstGeom prst="ellipse">
            <a:avLst/>
          </a:prstGeom>
          <a:solidFill>
            <a:srgbClr val="F2A413"/>
          </a:solidFill>
          <a:ln/>
        </p:spPr>
      </p:sp>
      <p:sp>
        <p:nvSpPr>
          <p:cNvPr id="8" name="Text 6"/>
          <p:cNvSpPr txBox="1"/>
          <p:nvPr/>
        </p:nvSpPr>
        <p:spPr>
          <a:xfrm>
            <a:off x="868680" y="1600200"/>
            <a:ext cx="457200" cy="457200"/>
          </a:xfrm>
          <a:prstGeom prst="rect">
            <a:avLst/>
          </a:prstGeom>
          <a:noFill/>
          <a:ln/>
        </p:spPr>
        <p:txBody>
          <a:bodyPr wrap="square" lIns="0" tIns="0" rIns="0" bIns="0" rtlCol="0" anchor="ctr"/>
          <a:lstStyle/>
          <a:p>
            <a:pPr algn="ctr" indent="0" marL="0">
              <a:buNone/>
            </a:pPr>
            <a:r>
              <a:rPr lang="en-US" sz="1300" b="1" dirty="0">
                <a:solidFill>
                  <a:srgbClr val="16191D"/>
                </a:solidFill>
                <a:latin typeface="Calibri" pitchFamily="34" charset="0"/>
                <a:ea typeface="Calibri" pitchFamily="34" charset="-122"/>
                <a:cs typeface="Calibri" pitchFamily="34" charset="-120"/>
              </a:rPr>
              <a:t>L1</a:t>
            </a:r>
            <a:endParaRPr lang="en-US" sz="1300" dirty="0"/>
          </a:p>
        </p:txBody>
      </p:sp>
      <p:sp>
        <p:nvSpPr>
          <p:cNvPr id="9" name="Text 7"/>
          <p:cNvSpPr txBox="1"/>
          <p:nvPr/>
        </p:nvSpPr>
        <p:spPr>
          <a:xfrm>
            <a:off x="1444752" y="1664208"/>
            <a:ext cx="4129888" cy="320040"/>
          </a:xfrm>
          <a:prstGeom prst="rect">
            <a:avLst/>
          </a:prstGeom>
          <a:noFill/>
          <a:ln/>
        </p:spPr>
        <p:txBody>
          <a:bodyPr wrap="square" lIns="0" tIns="0" rIns="0" bIns="0" rtlCol="0" anchor="t"/>
          <a:lstStyle/>
          <a:p>
            <a:pPr indent="0" marL="0">
              <a:buNone/>
            </a:pPr>
            <a:r>
              <a:rPr lang="en-US" sz="1600" b="1" dirty="0">
                <a:solidFill>
                  <a:srgbClr val="16191D"/>
                </a:solidFill>
                <a:latin typeface="Calibri" pitchFamily="34" charset="0"/>
                <a:ea typeface="Calibri" pitchFamily="34" charset="-122"/>
                <a:cs typeface="Calibri" pitchFamily="34" charset="-120"/>
              </a:rPr>
              <a:t>Monotonic Clock Capture</a:t>
            </a:r>
            <a:endParaRPr lang="en-US" sz="1600" dirty="0"/>
          </a:p>
        </p:txBody>
      </p:sp>
      <p:sp>
        <p:nvSpPr>
          <p:cNvPr id="10" name="Shape 8"/>
          <p:cNvSpPr/>
          <p:nvPr/>
        </p:nvSpPr>
        <p:spPr>
          <a:xfrm>
            <a:off x="868680" y="2240280"/>
            <a:ext cx="4724248" cy="868680"/>
          </a:xfrm>
          <a:prstGeom prst="roundRect">
            <a:avLst>
              <a:gd name="adj" fmla="val 6316"/>
            </a:avLst>
          </a:prstGeom>
          <a:solidFill>
            <a:srgbClr val="F8E6E4"/>
          </a:solidFill>
          <a:ln/>
        </p:spPr>
      </p:sp>
      <p:sp>
        <p:nvSpPr>
          <p:cNvPr id="11" name="Text 9"/>
          <p:cNvSpPr txBox="1"/>
          <p:nvPr/>
        </p:nvSpPr>
        <p:spPr>
          <a:xfrm>
            <a:off x="1078992" y="2395728"/>
            <a:ext cx="4303624" cy="566928"/>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Attack it defeats: the foreman sets the phone's clock back and logs a late arrival as on time.</a:t>
            </a:r>
            <a:endParaRPr lang="en-US" sz="1100" dirty="0"/>
          </a:p>
        </p:txBody>
      </p:sp>
      <p:sp>
        <p:nvSpPr>
          <p:cNvPr id="12" name="Text 10"/>
          <p:cNvSpPr txBox="1"/>
          <p:nvPr/>
        </p:nvSpPr>
        <p:spPr>
          <a:xfrm>
            <a:off x="868680" y="3310128"/>
            <a:ext cx="472424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HOW IT WORKS</a:t>
            </a:r>
            <a:endParaRPr lang="en-US" sz="1050" dirty="0"/>
          </a:p>
        </p:txBody>
      </p:sp>
      <p:sp>
        <p:nvSpPr>
          <p:cNvPr id="13" name="Text 11"/>
          <p:cNvSpPr txBox="1"/>
          <p:nvPr/>
        </p:nvSpPr>
        <p:spPr>
          <a:xfrm>
            <a:off x="868680" y="3611880"/>
            <a:ext cx="4724248" cy="219456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Every record stores two readings: the wall-clock time and the device's monotonic counter.</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The monotonic counter (elapsedRealtime on Android, mach_continuous_time on iOS) counts from boot and cannot be edited from settings.</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If the clock is moved, the two readings stop agreeing with each other, and the discrepancy is detectable on the server.</a:t>
            </a:r>
            <a:endParaRPr lang="en-US" sz="1150" dirty="0"/>
          </a:p>
        </p:txBody>
      </p:sp>
      <p:sp>
        <p:nvSpPr>
          <p:cNvPr id="14" name="Shape 12"/>
          <p:cNvSpPr/>
          <p:nvPr/>
        </p:nvSpPr>
        <p:spPr>
          <a:xfrm>
            <a:off x="6278728" y="1325880"/>
            <a:ext cx="5364328" cy="4754880"/>
          </a:xfrm>
          <a:prstGeom prst="roundRect">
            <a:avLst>
              <a:gd name="adj" fmla="val 1154"/>
            </a:avLst>
          </a:prstGeom>
          <a:solidFill>
            <a:srgbClr val="FFFFFF"/>
          </a:solidFill>
          <a:ln w="12700">
            <a:solidFill>
              <a:srgbClr val="DCD7D0"/>
            </a:solidFill>
            <a:prstDash val="solid"/>
          </a:ln>
        </p:spPr>
      </p:sp>
      <p:sp>
        <p:nvSpPr>
          <p:cNvPr id="15" name="Shape 13"/>
          <p:cNvSpPr/>
          <p:nvPr/>
        </p:nvSpPr>
        <p:spPr>
          <a:xfrm>
            <a:off x="6598768" y="1600200"/>
            <a:ext cx="457200" cy="457200"/>
          </a:xfrm>
          <a:prstGeom prst="ellipse">
            <a:avLst/>
          </a:prstGeom>
          <a:solidFill>
            <a:srgbClr val="F2A413"/>
          </a:solidFill>
          <a:ln/>
        </p:spPr>
      </p:sp>
      <p:sp>
        <p:nvSpPr>
          <p:cNvPr id="16" name="Text 14"/>
          <p:cNvSpPr txBox="1"/>
          <p:nvPr/>
        </p:nvSpPr>
        <p:spPr>
          <a:xfrm>
            <a:off x="6598768" y="1600200"/>
            <a:ext cx="457200" cy="457200"/>
          </a:xfrm>
          <a:prstGeom prst="rect">
            <a:avLst/>
          </a:prstGeom>
          <a:noFill/>
          <a:ln/>
        </p:spPr>
        <p:txBody>
          <a:bodyPr wrap="square" lIns="0" tIns="0" rIns="0" bIns="0" rtlCol="0" anchor="ctr"/>
          <a:lstStyle/>
          <a:p>
            <a:pPr algn="ctr" indent="0" marL="0">
              <a:buNone/>
            </a:pPr>
            <a:r>
              <a:rPr lang="en-US" sz="1300" b="1" dirty="0">
                <a:solidFill>
                  <a:srgbClr val="16191D"/>
                </a:solidFill>
                <a:latin typeface="Calibri" pitchFamily="34" charset="0"/>
                <a:ea typeface="Calibri" pitchFamily="34" charset="-122"/>
                <a:cs typeface="Calibri" pitchFamily="34" charset="-120"/>
              </a:rPr>
              <a:t>L2</a:t>
            </a:r>
            <a:endParaRPr lang="en-US" sz="1300" dirty="0"/>
          </a:p>
        </p:txBody>
      </p:sp>
      <p:sp>
        <p:nvSpPr>
          <p:cNvPr id="17" name="Text 15"/>
          <p:cNvSpPr txBox="1"/>
          <p:nvPr/>
        </p:nvSpPr>
        <p:spPr>
          <a:xfrm>
            <a:off x="7174840" y="1664208"/>
            <a:ext cx="4129888" cy="320040"/>
          </a:xfrm>
          <a:prstGeom prst="rect">
            <a:avLst/>
          </a:prstGeom>
          <a:noFill/>
          <a:ln/>
        </p:spPr>
        <p:txBody>
          <a:bodyPr wrap="square" lIns="0" tIns="0" rIns="0" bIns="0" rtlCol="0" anchor="t"/>
          <a:lstStyle/>
          <a:p>
            <a:pPr indent="0" marL="0">
              <a:buNone/>
            </a:pPr>
            <a:r>
              <a:rPr lang="en-US" sz="1600" b="1" dirty="0">
                <a:solidFill>
                  <a:srgbClr val="16191D"/>
                </a:solidFill>
                <a:latin typeface="Calibri" pitchFamily="34" charset="0"/>
                <a:ea typeface="Calibri" pitchFamily="34" charset="-122"/>
                <a:cs typeface="Calibri" pitchFamily="34" charset="-120"/>
              </a:rPr>
              <a:t>HMAC-SHA256 Hash Chaining</a:t>
            </a:r>
            <a:endParaRPr lang="en-US" sz="1600" dirty="0"/>
          </a:p>
        </p:txBody>
      </p:sp>
      <p:sp>
        <p:nvSpPr>
          <p:cNvPr id="18" name="Shape 16"/>
          <p:cNvSpPr/>
          <p:nvPr/>
        </p:nvSpPr>
        <p:spPr>
          <a:xfrm>
            <a:off x="6598768" y="2240280"/>
            <a:ext cx="4724248" cy="868680"/>
          </a:xfrm>
          <a:prstGeom prst="roundRect">
            <a:avLst>
              <a:gd name="adj" fmla="val 6316"/>
            </a:avLst>
          </a:prstGeom>
          <a:solidFill>
            <a:srgbClr val="F8E6E4"/>
          </a:solidFill>
          <a:ln/>
        </p:spPr>
      </p:sp>
      <p:sp>
        <p:nvSpPr>
          <p:cNvPr id="19" name="Text 17"/>
          <p:cNvSpPr txBox="1"/>
          <p:nvPr/>
        </p:nvSpPr>
        <p:spPr>
          <a:xfrm>
            <a:off x="6809080" y="2395728"/>
            <a:ext cx="4303624" cy="566928"/>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Attack it defeats: someone opens the local database and edits a record after the fact.</a:t>
            </a:r>
            <a:endParaRPr lang="en-US" sz="1100" dirty="0"/>
          </a:p>
        </p:txBody>
      </p:sp>
      <p:sp>
        <p:nvSpPr>
          <p:cNvPr id="20" name="Text 18"/>
          <p:cNvSpPr txBox="1"/>
          <p:nvPr/>
        </p:nvSpPr>
        <p:spPr>
          <a:xfrm>
            <a:off x="6598768" y="3310128"/>
            <a:ext cx="472424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HOW IT WORKS</a:t>
            </a:r>
            <a:endParaRPr lang="en-US" sz="1050" dirty="0"/>
          </a:p>
        </p:txBody>
      </p:sp>
      <p:sp>
        <p:nvSpPr>
          <p:cNvPr id="21" name="Text 19"/>
          <p:cNvSpPr txBox="1"/>
          <p:nvPr/>
        </p:nvSpPr>
        <p:spPr>
          <a:xfrm>
            <a:off x="6598768" y="3611880"/>
            <a:ext cx="4724248" cy="219456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Each record's hash is computed over its own contents plus the hash of the record before it.</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Changing any single record breaks its own hash and every hash that follows it.</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The server re-computes the whole chain on receipt and compares. A single altered field is enough to fail it.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03 · INTEGRITY ENGINE</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Layers 3 and 4: Proving the Device, Verifying the Batch</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24</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Shape 4"/>
          <p:cNvSpPr/>
          <p:nvPr/>
        </p:nvSpPr>
        <p:spPr>
          <a:xfrm>
            <a:off x="548640" y="1325880"/>
            <a:ext cx="5364328" cy="4754880"/>
          </a:xfrm>
          <a:prstGeom prst="roundRect">
            <a:avLst>
              <a:gd name="adj" fmla="val 1154"/>
            </a:avLst>
          </a:prstGeom>
          <a:solidFill>
            <a:srgbClr val="FFFFFF"/>
          </a:solidFill>
          <a:ln w="12700">
            <a:solidFill>
              <a:srgbClr val="DCD7D0"/>
            </a:solidFill>
            <a:prstDash val="solid"/>
          </a:ln>
        </p:spPr>
      </p:sp>
      <p:sp>
        <p:nvSpPr>
          <p:cNvPr id="7" name="Shape 5"/>
          <p:cNvSpPr/>
          <p:nvPr/>
        </p:nvSpPr>
        <p:spPr>
          <a:xfrm>
            <a:off x="868680" y="1600200"/>
            <a:ext cx="457200" cy="457200"/>
          </a:xfrm>
          <a:prstGeom prst="ellipse">
            <a:avLst/>
          </a:prstGeom>
          <a:solidFill>
            <a:srgbClr val="F2A413"/>
          </a:solidFill>
          <a:ln/>
        </p:spPr>
      </p:sp>
      <p:sp>
        <p:nvSpPr>
          <p:cNvPr id="8" name="Text 6"/>
          <p:cNvSpPr txBox="1"/>
          <p:nvPr/>
        </p:nvSpPr>
        <p:spPr>
          <a:xfrm>
            <a:off x="868680" y="1600200"/>
            <a:ext cx="457200" cy="457200"/>
          </a:xfrm>
          <a:prstGeom prst="rect">
            <a:avLst/>
          </a:prstGeom>
          <a:noFill/>
          <a:ln/>
        </p:spPr>
        <p:txBody>
          <a:bodyPr wrap="square" lIns="0" tIns="0" rIns="0" bIns="0" rtlCol="0" anchor="ctr"/>
          <a:lstStyle/>
          <a:p>
            <a:pPr algn="ctr" indent="0" marL="0">
              <a:buNone/>
            </a:pPr>
            <a:r>
              <a:rPr lang="en-US" sz="1300" b="1" dirty="0">
                <a:solidFill>
                  <a:srgbClr val="16191D"/>
                </a:solidFill>
                <a:latin typeface="Calibri" pitchFamily="34" charset="0"/>
                <a:ea typeface="Calibri" pitchFamily="34" charset="-122"/>
                <a:cs typeface="Calibri" pitchFamily="34" charset="-120"/>
              </a:rPr>
              <a:t>L3</a:t>
            </a:r>
            <a:endParaRPr lang="en-US" sz="1300" dirty="0"/>
          </a:p>
        </p:txBody>
      </p:sp>
      <p:sp>
        <p:nvSpPr>
          <p:cNvPr id="9" name="Text 7"/>
          <p:cNvSpPr txBox="1"/>
          <p:nvPr/>
        </p:nvSpPr>
        <p:spPr>
          <a:xfrm>
            <a:off x="1444752" y="1664208"/>
            <a:ext cx="4129888" cy="320040"/>
          </a:xfrm>
          <a:prstGeom prst="rect">
            <a:avLst/>
          </a:prstGeom>
          <a:noFill/>
          <a:ln/>
        </p:spPr>
        <p:txBody>
          <a:bodyPr wrap="square" lIns="0" tIns="0" rIns="0" bIns="0" rtlCol="0" anchor="t"/>
          <a:lstStyle/>
          <a:p>
            <a:pPr indent="0" marL="0">
              <a:buNone/>
            </a:pPr>
            <a:r>
              <a:rPr lang="en-US" sz="1600" b="1" dirty="0">
                <a:solidFill>
                  <a:srgbClr val="16191D"/>
                </a:solidFill>
                <a:latin typeface="Calibri" pitchFamily="34" charset="0"/>
                <a:ea typeface="Calibri" pitchFamily="34" charset="-122"/>
                <a:cs typeface="Calibri" pitchFamily="34" charset="-120"/>
              </a:rPr>
              <a:t>ECDSA P-256 Signing in the TEE</a:t>
            </a:r>
            <a:endParaRPr lang="en-US" sz="1600" dirty="0"/>
          </a:p>
        </p:txBody>
      </p:sp>
      <p:sp>
        <p:nvSpPr>
          <p:cNvPr id="10" name="Shape 8"/>
          <p:cNvSpPr/>
          <p:nvPr/>
        </p:nvSpPr>
        <p:spPr>
          <a:xfrm>
            <a:off x="868680" y="2240280"/>
            <a:ext cx="4724248" cy="868680"/>
          </a:xfrm>
          <a:prstGeom prst="roundRect">
            <a:avLst>
              <a:gd name="adj" fmla="val 6316"/>
            </a:avLst>
          </a:prstGeom>
          <a:solidFill>
            <a:srgbClr val="F8E6E4"/>
          </a:solidFill>
          <a:ln/>
        </p:spPr>
      </p:sp>
      <p:sp>
        <p:nvSpPr>
          <p:cNvPr id="11" name="Text 9"/>
          <p:cNvSpPr txBox="1"/>
          <p:nvPr/>
        </p:nvSpPr>
        <p:spPr>
          <a:xfrm>
            <a:off x="1078992" y="2395728"/>
            <a:ext cx="4303624" cy="566928"/>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Attack it defeats: a forged batch submitted from somewhere other than the bound device.</a:t>
            </a:r>
            <a:endParaRPr lang="en-US" sz="1100" dirty="0"/>
          </a:p>
        </p:txBody>
      </p:sp>
      <p:sp>
        <p:nvSpPr>
          <p:cNvPr id="12" name="Text 10"/>
          <p:cNvSpPr txBox="1"/>
          <p:nvPr/>
        </p:nvSpPr>
        <p:spPr>
          <a:xfrm>
            <a:off x="868680" y="3310128"/>
            <a:ext cx="472424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HOW IT WORKS</a:t>
            </a:r>
            <a:endParaRPr lang="en-US" sz="1050" dirty="0"/>
          </a:p>
        </p:txBody>
      </p:sp>
      <p:sp>
        <p:nvSpPr>
          <p:cNvPr id="13" name="Text 11"/>
          <p:cNvSpPr txBox="1"/>
          <p:nvPr/>
        </p:nvSpPr>
        <p:spPr>
          <a:xfrm>
            <a:off x="868680" y="3611880"/>
            <a:ext cx="4724248" cy="219456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A private key is generated inside the phone's hardware security chip (Android Keystore TEE or iOS Secure Enclave).</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The key cannot be exported from that chip, even on a rooted device. Signing happens inside it.</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Each batch of attendance records is signed there before it leaves the phone.</a:t>
            </a:r>
            <a:endParaRPr lang="en-US" sz="1150" dirty="0"/>
          </a:p>
        </p:txBody>
      </p:sp>
      <p:sp>
        <p:nvSpPr>
          <p:cNvPr id="14" name="Shape 12"/>
          <p:cNvSpPr/>
          <p:nvPr/>
        </p:nvSpPr>
        <p:spPr>
          <a:xfrm>
            <a:off x="6278728" y="1325880"/>
            <a:ext cx="5364328" cy="4754880"/>
          </a:xfrm>
          <a:prstGeom prst="roundRect">
            <a:avLst>
              <a:gd name="adj" fmla="val 1154"/>
            </a:avLst>
          </a:prstGeom>
          <a:solidFill>
            <a:srgbClr val="FFFFFF"/>
          </a:solidFill>
          <a:ln w="12700">
            <a:solidFill>
              <a:srgbClr val="DCD7D0"/>
            </a:solidFill>
            <a:prstDash val="solid"/>
          </a:ln>
        </p:spPr>
      </p:sp>
      <p:sp>
        <p:nvSpPr>
          <p:cNvPr id="15" name="Shape 13"/>
          <p:cNvSpPr/>
          <p:nvPr/>
        </p:nvSpPr>
        <p:spPr>
          <a:xfrm>
            <a:off x="6598768" y="1600200"/>
            <a:ext cx="457200" cy="457200"/>
          </a:xfrm>
          <a:prstGeom prst="ellipse">
            <a:avLst/>
          </a:prstGeom>
          <a:solidFill>
            <a:srgbClr val="F2A413"/>
          </a:solidFill>
          <a:ln/>
        </p:spPr>
      </p:sp>
      <p:sp>
        <p:nvSpPr>
          <p:cNvPr id="16" name="Text 14"/>
          <p:cNvSpPr txBox="1"/>
          <p:nvPr/>
        </p:nvSpPr>
        <p:spPr>
          <a:xfrm>
            <a:off x="6598768" y="1600200"/>
            <a:ext cx="457200" cy="457200"/>
          </a:xfrm>
          <a:prstGeom prst="rect">
            <a:avLst/>
          </a:prstGeom>
          <a:noFill/>
          <a:ln/>
        </p:spPr>
        <p:txBody>
          <a:bodyPr wrap="square" lIns="0" tIns="0" rIns="0" bIns="0" rtlCol="0" anchor="ctr"/>
          <a:lstStyle/>
          <a:p>
            <a:pPr algn="ctr" indent="0" marL="0">
              <a:buNone/>
            </a:pPr>
            <a:r>
              <a:rPr lang="en-US" sz="1300" b="1" dirty="0">
                <a:solidFill>
                  <a:srgbClr val="16191D"/>
                </a:solidFill>
                <a:latin typeface="Calibri" pitchFamily="34" charset="0"/>
                <a:ea typeface="Calibri" pitchFamily="34" charset="-122"/>
                <a:cs typeface="Calibri" pitchFamily="34" charset="-120"/>
              </a:rPr>
              <a:t>L4</a:t>
            </a:r>
            <a:endParaRPr lang="en-US" sz="1300" dirty="0"/>
          </a:p>
        </p:txBody>
      </p:sp>
      <p:sp>
        <p:nvSpPr>
          <p:cNvPr id="17" name="Text 15"/>
          <p:cNvSpPr txBox="1"/>
          <p:nvPr/>
        </p:nvSpPr>
        <p:spPr>
          <a:xfrm>
            <a:off x="7174840" y="1664208"/>
            <a:ext cx="4129888" cy="320040"/>
          </a:xfrm>
          <a:prstGeom prst="rect">
            <a:avLst/>
          </a:prstGeom>
          <a:noFill/>
          <a:ln/>
        </p:spPr>
        <p:txBody>
          <a:bodyPr wrap="square" lIns="0" tIns="0" rIns="0" bIns="0" rtlCol="0" anchor="t"/>
          <a:lstStyle/>
          <a:p>
            <a:pPr indent="0" marL="0">
              <a:buNone/>
            </a:pPr>
            <a:r>
              <a:rPr lang="en-US" sz="1600" b="1" dirty="0">
                <a:solidFill>
                  <a:srgbClr val="16191D"/>
                </a:solidFill>
                <a:latin typeface="Calibri" pitchFamily="34" charset="0"/>
                <a:ea typeface="Calibri" pitchFamily="34" charset="-122"/>
                <a:cs typeface="Calibri" pitchFamily="34" charset="-120"/>
              </a:rPr>
              <a:t>Server-Side Verification</a:t>
            </a:r>
            <a:endParaRPr lang="en-US" sz="1600" dirty="0"/>
          </a:p>
        </p:txBody>
      </p:sp>
      <p:sp>
        <p:nvSpPr>
          <p:cNvPr id="18" name="Shape 16"/>
          <p:cNvSpPr/>
          <p:nvPr/>
        </p:nvSpPr>
        <p:spPr>
          <a:xfrm>
            <a:off x="6598768" y="2240280"/>
            <a:ext cx="4724248" cy="868680"/>
          </a:xfrm>
          <a:prstGeom prst="roundRect">
            <a:avLst>
              <a:gd name="adj" fmla="val 6316"/>
            </a:avLst>
          </a:prstGeom>
          <a:solidFill>
            <a:srgbClr val="F8E6E4"/>
          </a:solidFill>
          <a:ln/>
        </p:spPr>
      </p:sp>
      <p:sp>
        <p:nvSpPr>
          <p:cNvPr id="19" name="Text 17"/>
          <p:cNvSpPr txBox="1"/>
          <p:nvPr/>
        </p:nvSpPr>
        <p:spPr>
          <a:xfrm>
            <a:off x="6809080" y="2395728"/>
            <a:ext cx="4303624" cy="566928"/>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Attack it defeats: anything that got past the first three, or was altered in transit.</a:t>
            </a:r>
            <a:endParaRPr lang="en-US" sz="1100" dirty="0"/>
          </a:p>
        </p:txBody>
      </p:sp>
      <p:sp>
        <p:nvSpPr>
          <p:cNvPr id="20" name="Text 18"/>
          <p:cNvSpPr txBox="1"/>
          <p:nvPr/>
        </p:nvSpPr>
        <p:spPr>
          <a:xfrm>
            <a:off x="6598768" y="3310128"/>
            <a:ext cx="4724248"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HOW IT WORKS</a:t>
            </a:r>
            <a:endParaRPr lang="en-US" sz="1050" dirty="0"/>
          </a:p>
        </p:txBody>
      </p:sp>
      <p:sp>
        <p:nvSpPr>
          <p:cNvPr id="21" name="Text 19"/>
          <p:cNvSpPr txBox="1"/>
          <p:nvPr/>
        </p:nvSpPr>
        <p:spPr>
          <a:xfrm>
            <a:off x="6598768" y="3611880"/>
            <a:ext cx="4724248" cy="219456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The Laravel API checks the signature against the public key registered to that foreman's device.</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It re-computes the hash chain and compares the monotonic and wall-clock readings.</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The outcome of every check is written to the Crypto Signature Ledger. A batch that fails is quarantined, never stored as payable attendance.</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04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Automated Background Sync Engine</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25</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 background service detects the return of connectivity without the foreman doing anything at all.</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Queued records are transmitted as a signed batch, oldest first, so the hash chain arrives in order.</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 failed transmission retries with exponential backoff rather than being dropped or duplicated.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 sync queue screen shows what is pending, what has synced and what failed, with the reason.</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QUEUE AND DELIVERY</a:t>
            </a:r>
            <a:endParaRPr lang="en-US" sz="1050" dirty="0"/>
          </a:p>
        </p:txBody>
      </p:sp>
      <p:sp>
        <p:nvSpPr>
          <p:cNvPr id="10" name="Shape 8"/>
          <p:cNvSpPr/>
          <p:nvPr/>
        </p:nvSpPr>
        <p:spPr>
          <a:xfrm>
            <a:off x="6967728" y="1993392"/>
            <a:ext cx="4291279" cy="493776"/>
          </a:xfrm>
          <a:prstGeom prst="roundRect">
            <a:avLst>
              <a:gd name="adj" fmla="val 11111"/>
            </a:avLst>
          </a:prstGeom>
          <a:solidFill>
            <a:srgbClr val="F4F2EF"/>
          </a:solidFill>
          <a:ln/>
        </p:spPr>
      </p:sp>
      <p:sp>
        <p:nvSpPr>
          <p:cNvPr id="11" name="Text 9"/>
          <p:cNvSpPr txBox="1"/>
          <p:nvPr/>
        </p:nvSpPr>
        <p:spPr>
          <a:xfrm>
            <a:off x="7168896" y="2121408"/>
            <a:ext cx="2828239" cy="256032"/>
          </a:xfrm>
          <a:prstGeom prst="rect">
            <a:avLst/>
          </a:prstGeom>
          <a:noFill/>
          <a:ln/>
        </p:spPr>
        <p:txBody>
          <a:bodyPr wrap="square" lIns="0" tIns="0" rIns="0" bIns="0" rtlCol="0" anchor="t"/>
          <a:lstStyle/>
          <a:p>
            <a:pPr algn="l" indent="0" marL="0">
              <a:lnSpc>
                <a:spcPct val="108000"/>
              </a:lnSpc>
              <a:buNone/>
            </a:pPr>
            <a:r>
              <a:rPr lang="en-US" sz="1050" dirty="0">
                <a:solidFill>
                  <a:srgbClr val="16191D"/>
                </a:solidFill>
                <a:latin typeface="Calibri" pitchFamily="34" charset="0"/>
                <a:ea typeface="Calibri" pitchFamily="34" charset="-122"/>
                <a:cs typeface="Calibri" pitchFamily="34" charset="-120"/>
              </a:rPr>
              <a:t>Batch 001  ·  12 records</a:t>
            </a:r>
            <a:endParaRPr lang="en-US" sz="1050" dirty="0"/>
          </a:p>
        </p:txBody>
      </p:sp>
      <p:sp>
        <p:nvSpPr>
          <p:cNvPr id="12" name="Shape 10"/>
          <p:cNvSpPr/>
          <p:nvPr/>
        </p:nvSpPr>
        <p:spPr>
          <a:xfrm>
            <a:off x="10143439" y="2112264"/>
            <a:ext cx="914400" cy="274320"/>
          </a:xfrm>
          <a:prstGeom prst="roundRect">
            <a:avLst>
              <a:gd name="adj" fmla="val 40000"/>
            </a:avLst>
          </a:prstGeom>
          <a:solidFill>
            <a:srgbClr val="E4F0EA"/>
          </a:solidFill>
          <a:ln/>
        </p:spPr>
      </p:sp>
      <p:sp>
        <p:nvSpPr>
          <p:cNvPr id="13" name="Text 11"/>
          <p:cNvSpPr txBox="1"/>
          <p:nvPr/>
        </p:nvSpPr>
        <p:spPr>
          <a:xfrm>
            <a:off x="10143439" y="2112264"/>
            <a:ext cx="914400" cy="274320"/>
          </a:xfrm>
          <a:prstGeom prst="rect">
            <a:avLst/>
          </a:prstGeom>
          <a:noFill/>
          <a:ln/>
        </p:spPr>
        <p:txBody>
          <a:bodyPr wrap="square" lIns="0" tIns="0" rIns="0" bIns="0" rtlCol="0" anchor="ctr"/>
          <a:lstStyle/>
          <a:p>
            <a:pPr algn="ctr" indent="0" marL="0">
              <a:buNone/>
            </a:pPr>
            <a:r>
              <a:rPr lang="en-US" sz="850" b="1" dirty="0">
                <a:solidFill>
                  <a:srgbClr val="2E7D5B"/>
                </a:solidFill>
                <a:latin typeface="Calibri" pitchFamily="34" charset="0"/>
                <a:ea typeface="Calibri" pitchFamily="34" charset="-122"/>
                <a:cs typeface="Calibri" pitchFamily="34" charset="-120"/>
              </a:rPr>
              <a:t>SYNCED</a:t>
            </a:r>
            <a:endParaRPr lang="en-US" sz="850" dirty="0"/>
          </a:p>
        </p:txBody>
      </p:sp>
      <p:sp>
        <p:nvSpPr>
          <p:cNvPr id="14" name="Shape 12"/>
          <p:cNvSpPr/>
          <p:nvPr/>
        </p:nvSpPr>
        <p:spPr>
          <a:xfrm>
            <a:off x="6967728" y="2596896"/>
            <a:ext cx="4291279" cy="493776"/>
          </a:xfrm>
          <a:prstGeom prst="roundRect">
            <a:avLst>
              <a:gd name="adj" fmla="val 11111"/>
            </a:avLst>
          </a:prstGeom>
          <a:solidFill>
            <a:srgbClr val="F4F2EF"/>
          </a:solidFill>
          <a:ln/>
        </p:spPr>
      </p:sp>
      <p:sp>
        <p:nvSpPr>
          <p:cNvPr id="15" name="Text 13"/>
          <p:cNvSpPr txBox="1"/>
          <p:nvPr/>
        </p:nvSpPr>
        <p:spPr>
          <a:xfrm>
            <a:off x="7168896" y="2724912"/>
            <a:ext cx="2828239" cy="256032"/>
          </a:xfrm>
          <a:prstGeom prst="rect">
            <a:avLst/>
          </a:prstGeom>
          <a:noFill/>
          <a:ln/>
        </p:spPr>
        <p:txBody>
          <a:bodyPr wrap="square" lIns="0" tIns="0" rIns="0" bIns="0" rtlCol="0" anchor="t"/>
          <a:lstStyle/>
          <a:p>
            <a:pPr algn="l" indent="0" marL="0">
              <a:lnSpc>
                <a:spcPct val="108000"/>
              </a:lnSpc>
              <a:buNone/>
            </a:pPr>
            <a:r>
              <a:rPr lang="en-US" sz="1050" dirty="0">
                <a:solidFill>
                  <a:srgbClr val="16191D"/>
                </a:solidFill>
                <a:latin typeface="Calibri" pitchFamily="34" charset="0"/>
                <a:ea typeface="Calibri" pitchFamily="34" charset="-122"/>
                <a:cs typeface="Calibri" pitchFamily="34" charset="-120"/>
              </a:rPr>
              <a:t>Batch 002  ·  12 records</a:t>
            </a:r>
            <a:endParaRPr lang="en-US" sz="1050" dirty="0"/>
          </a:p>
        </p:txBody>
      </p:sp>
      <p:sp>
        <p:nvSpPr>
          <p:cNvPr id="16" name="Shape 14"/>
          <p:cNvSpPr/>
          <p:nvPr/>
        </p:nvSpPr>
        <p:spPr>
          <a:xfrm>
            <a:off x="10143439" y="2715768"/>
            <a:ext cx="914400" cy="274320"/>
          </a:xfrm>
          <a:prstGeom prst="roundRect">
            <a:avLst>
              <a:gd name="adj" fmla="val 40000"/>
            </a:avLst>
          </a:prstGeom>
          <a:solidFill>
            <a:srgbClr val="FDF1DA"/>
          </a:solidFill>
          <a:ln/>
        </p:spPr>
      </p:sp>
      <p:sp>
        <p:nvSpPr>
          <p:cNvPr id="17" name="Text 15"/>
          <p:cNvSpPr txBox="1"/>
          <p:nvPr/>
        </p:nvSpPr>
        <p:spPr>
          <a:xfrm>
            <a:off x="10143439" y="2715768"/>
            <a:ext cx="914400" cy="274320"/>
          </a:xfrm>
          <a:prstGeom prst="rect">
            <a:avLst/>
          </a:prstGeom>
          <a:noFill/>
          <a:ln/>
        </p:spPr>
        <p:txBody>
          <a:bodyPr wrap="square" lIns="0" tIns="0" rIns="0" bIns="0" rtlCol="0" anchor="ctr"/>
          <a:lstStyle/>
          <a:p>
            <a:pPr algn="ctr" indent="0" marL="0">
              <a:buNone/>
            </a:pPr>
            <a:r>
              <a:rPr lang="en-US" sz="850" b="1" dirty="0">
                <a:solidFill>
                  <a:srgbClr val="9C6A08"/>
                </a:solidFill>
                <a:latin typeface="Calibri" pitchFamily="34" charset="0"/>
                <a:ea typeface="Calibri" pitchFamily="34" charset="-122"/>
                <a:cs typeface="Calibri" pitchFamily="34" charset="-120"/>
              </a:rPr>
              <a:t>SENDING</a:t>
            </a:r>
            <a:endParaRPr lang="en-US" sz="850" dirty="0"/>
          </a:p>
        </p:txBody>
      </p:sp>
      <p:sp>
        <p:nvSpPr>
          <p:cNvPr id="18" name="Shape 16"/>
          <p:cNvSpPr/>
          <p:nvPr/>
        </p:nvSpPr>
        <p:spPr>
          <a:xfrm>
            <a:off x="6967728" y="3200400"/>
            <a:ext cx="4291279" cy="493776"/>
          </a:xfrm>
          <a:prstGeom prst="roundRect">
            <a:avLst>
              <a:gd name="adj" fmla="val 11111"/>
            </a:avLst>
          </a:prstGeom>
          <a:solidFill>
            <a:srgbClr val="F4F2EF"/>
          </a:solidFill>
          <a:ln/>
        </p:spPr>
      </p:sp>
      <p:sp>
        <p:nvSpPr>
          <p:cNvPr id="19" name="Text 17"/>
          <p:cNvSpPr txBox="1"/>
          <p:nvPr/>
        </p:nvSpPr>
        <p:spPr>
          <a:xfrm>
            <a:off x="7168896" y="3328416"/>
            <a:ext cx="2828239" cy="256032"/>
          </a:xfrm>
          <a:prstGeom prst="rect">
            <a:avLst/>
          </a:prstGeom>
          <a:noFill/>
          <a:ln/>
        </p:spPr>
        <p:txBody>
          <a:bodyPr wrap="square" lIns="0" tIns="0" rIns="0" bIns="0" rtlCol="0" anchor="t"/>
          <a:lstStyle/>
          <a:p>
            <a:pPr algn="l" indent="0" marL="0">
              <a:lnSpc>
                <a:spcPct val="108000"/>
              </a:lnSpc>
              <a:buNone/>
            </a:pPr>
            <a:r>
              <a:rPr lang="en-US" sz="1050" dirty="0">
                <a:solidFill>
                  <a:srgbClr val="16191D"/>
                </a:solidFill>
                <a:latin typeface="Calibri" pitchFamily="34" charset="0"/>
                <a:ea typeface="Calibri" pitchFamily="34" charset="-122"/>
                <a:cs typeface="Calibri" pitchFamily="34" charset="-120"/>
              </a:rPr>
              <a:t>Batch 003  ·  9 records</a:t>
            </a:r>
            <a:endParaRPr lang="en-US" sz="1050" dirty="0"/>
          </a:p>
        </p:txBody>
      </p:sp>
      <p:sp>
        <p:nvSpPr>
          <p:cNvPr id="20" name="Shape 18"/>
          <p:cNvSpPr/>
          <p:nvPr/>
        </p:nvSpPr>
        <p:spPr>
          <a:xfrm>
            <a:off x="10143439" y="3319272"/>
            <a:ext cx="914400" cy="274320"/>
          </a:xfrm>
          <a:prstGeom prst="roundRect">
            <a:avLst>
              <a:gd name="adj" fmla="val 40000"/>
            </a:avLst>
          </a:prstGeom>
          <a:solidFill>
            <a:srgbClr val="F4F2EF"/>
          </a:solidFill>
          <a:ln/>
        </p:spPr>
      </p:sp>
      <p:sp>
        <p:nvSpPr>
          <p:cNvPr id="21" name="Text 19"/>
          <p:cNvSpPr txBox="1"/>
          <p:nvPr/>
        </p:nvSpPr>
        <p:spPr>
          <a:xfrm>
            <a:off x="10143439" y="3319272"/>
            <a:ext cx="914400" cy="274320"/>
          </a:xfrm>
          <a:prstGeom prst="rect">
            <a:avLst/>
          </a:prstGeom>
          <a:noFill/>
          <a:ln/>
        </p:spPr>
        <p:txBody>
          <a:bodyPr wrap="square" lIns="0" tIns="0" rIns="0" bIns="0" rtlCol="0" anchor="ctr"/>
          <a:lstStyle/>
          <a:p>
            <a:pPr algn="ctr" indent="0" marL="0">
              <a:buNone/>
            </a:pPr>
            <a:r>
              <a:rPr lang="en-US" sz="850" b="1" dirty="0">
                <a:solidFill>
                  <a:srgbClr val="5A656F"/>
                </a:solidFill>
                <a:latin typeface="Calibri" pitchFamily="34" charset="0"/>
                <a:ea typeface="Calibri" pitchFamily="34" charset="-122"/>
                <a:cs typeface="Calibri" pitchFamily="34" charset="-120"/>
              </a:rPr>
              <a:t>QUEUED</a:t>
            </a:r>
            <a:endParaRPr lang="en-US" sz="850" dirty="0"/>
          </a:p>
        </p:txBody>
      </p:sp>
      <p:sp>
        <p:nvSpPr>
          <p:cNvPr id="22" name="Shape 20"/>
          <p:cNvSpPr/>
          <p:nvPr/>
        </p:nvSpPr>
        <p:spPr>
          <a:xfrm>
            <a:off x="9113368" y="3822192"/>
            <a:ext cx="0" cy="256032"/>
          </a:xfrm>
          <a:prstGeom prst="line">
            <a:avLst/>
          </a:prstGeom>
          <a:noFill/>
          <a:ln w="25400">
            <a:solidFill>
              <a:srgbClr val="F2A413"/>
            </a:solidFill>
            <a:prstDash val="solid"/>
            <a:tailEnd type="triangle"/>
          </a:ln>
        </p:spPr>
      </p:sp>
      <p:sp>
        <p:nvSpPr>
          <p:cNvPr id="23" name="Shape 21"/>
          <p:cNvSpPr/>
          <p:nvPr/>
        </p:nvSpPr>
        <p:spPr>
          <a:xfrm>
            <a:off x="6967728" y="4133088"/>
            <a:ext cx="4291279" cy="640080"/>
          </a:xfrm>
          <a:prstGeom prst="roundRect">
            <a:avLst>
              <a:gd name="adj" fmla="val 8571"/>
            </a:avLst>
          </a:prstGeom>
          <a:solidFill>
            <a:srgbClr val="16191D"/>
          </a:solidFill>
          <a:ln/>
        </p:spPr>
      </p:sp>
      <p:sp>
        <p:nvSpPr>
          <p:cNvPr id="24" name="Text 22"/>
          <p:cNvSpPr txBox="1"/>
          <p:nvPr/>
        </p:nvSpPr>
        <p:spPr>
          <a:xfrm>
            <a:off x="7168896" y="4242816"/>
            <a:ext cx="3888943" cy="237744"/>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Laravel API</a:t>
            </a:r>
            <a:endParaRPr lang="en-US" sz="1100" dirty="0"/>
          </a:p>
        </p:txBody>
      </p:sp>
      <p:sp>
        <p:nvSpPr>
          <p:cNvPr id="25" name="Text 23"/>
          <p:cNvSpPr txBox="1"/>
          <p:nvPr/>
        </p:nvSpPr>
        <p:spPr>
          <a:xfrm>
            <a:off x="7168896" y="4480560"/>
            <a:ext cx="3888943" cy="237744"/>
          </a:xfrm>
          <a:prstGeom prst="rect">
            <a:avLst/>
          </a:prstGeom>
          <a:noFill/>
          <a:ln/>
        </p:spPr>
        <p:txBody>
          <a:bodyPr wrap="square" lIns="0" tIns="0" rIns="0" bIns="0" rtlCol="0" anchor="t"/>
          <a:lstStyle/>
          <a:p>
            <a:pPr algn="l" indent="0" marL="0">
              <a:lnSpc>
                <a:spcPct val="108000"/>
              </a:lnSpc>
              <a:buNone/>
            </a:pPr>
            <a:r>
              <a:rPr lang="en-US" sz="950" dirty="0">
                <a:solidFill>
                  <a:srgbClr val="8A949D"/>
                </a:solidFill>
                <a:latin typeface="Calibri" pitchFamily="34" charset="0"/>
                <a:ea typeface="Calibri" pitchFamily="34" charset="-122"/>
                <a:cs typeface="Calibri" pitchFamily="34" charset="-120"/>
              </a:rPr>
              <a:t>Verifies the signature and chain, then accepts or quarantines</a:t>
            </a:r>
            <a:endParaRPr lang="en-US" sz="950" dirty="0"/>
          </a:p>
        </p:txBody>
      </p:sp>
      <p:sp>
        <p:nvSpPr>
          <p:cNvPr id="26" name="Shape 24"/>
          <p:cNvSpPr/>
          <p:nvPr/>
        </p:nvSpPr>
        <p:spPr>
          <a:xfrm>
            <a:off x="548640" y="4983480"/>
            <a:ext cx="11094415" cy="1234440"/>
          </a:xfrm>
          <a:prstGeom prst="roundRect">
            <a:avLst>
              <a:gd name="adj" fmla="val 4444"/>
            </a:avLst>
          </a:prstGeom>
          <a:solidFill>
            <a:srgbClr val="16191D"/>
          </a:solidFill>
          <a:ln/>
        </p:spPr>
      </p:sp>
      <p:sp>
        <p:nvSpPr>
          <p:cNvPr id="27" name="Text 25"/>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28" name="Text 26"/>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Records reach the office the moment signal returns, instead of waiting for someone to carry the paper in.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05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Late Foreman Override and Shift-Start Credit</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26</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If the foreman opens the app after shift start, the crew is credited from the standard 7:00 AM shift start, not from the tap time.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record carries a FOREMAN_LATE_OVERRIDE flag, so the credit is never invisible to anyone reviewing it.</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An audit log entry records the actual tap time, the credited time and the foreman responsible.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Site Engineers can filter for flagged days in the web portal and follow up on the pattern.</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WHAT GETS CREDITED</a:t>
            </a:r>
            <a:endParaRPr lang="en-US" sz="1050" dirty="0"/>
          </a:p>
        </p:txBody>
      </p:sp>
      <p:sp>
        <p:nvSpPr>
          <p:cNvPr id="10" name="Shape 8"/>
          <p:cNvSpPr/>
          <p:nvPr/>
        </p:nvSpPr>
        <p:spPr>
          <a:xfrm>
            <a:off x="6967728" y="2011680"/>
            <a:ext cx="4291279" cy="621792"/>
          </a:xfrm>
          <a:prstGeom prst="roundRect">
            <a:avLst>
              <a:gd name="adj" fmla="val 8824"/>
            </a:avLst>
          </a:prstGeom>
          <a:solidFill>
            <a:srgbClr val="2A3138"/>
          </a:solidFill>
          <a:ln/>
        </p:spPr>
      </p:sp>
      <p:sp>
        <p:nvSpPr>
          <p:cNvPr id="11" name="Text 9"/>
          <p:cNvSpPr txBox="1"/>
          <p:nvPr/>
        </p:nvSpPr>
        <p:spPr>
          <a:xfrm>
            <a:off x="7187184" y="2194560"/>
            <a:ext cx="2645359" cy="274320"/>
          </a:xfrm>
          <a:prstGeom prst="rect">
            <a:avLst/>
          </a:prstGeom>
          <a:noFill/>
          <a:ln/>
        </p:spPr>
        <p:txBody>
          <a:bodyPr wrap="square" lIns="0" tIns="0" rIns="0" bIns="0" rtlCol="0" anchor="t"/>
          <a:lstStyle/>
          <a:p>
            <a:pPr algn="l" indent="0" marL="0">
              <a:lnSpc>
                <a:spcPct val="108000"/>
              </a:lnSpc>
              <a:buNone/>
            </a:pPr>
            <a:r>
              <a:rPr lang="en-US" sz="1100" dirty="0">
                <a:solidFill>
                  <a:srgbClr val="FFFFFF"/>
                </a:solidFill>
                <a:latin typeface="Calibri" pitchFamily="34" charset="0"/>
                <a:ea typeface="Calibri" pitchFamily="34" charset="-122"/>
                <a:cs typeface="Calibri" pitchFamily="34" charset="-120"/>
              </a:rPr>
              <a:t>Standard shift start</a:t>
            </a:r>
            <a:endParaRPr lang="en-US" sz="1100" dirty="0"/>
          </a:p>
        </p:txBody>
      </p:sp>
      <p:sp>
        <p:nvSpPr>
          <p:cNvPr id="12" name="Text 10"/>
          <p:cNvSpPr txBox="1"/>
          <p:nvPr/>
        </p:nvSpPr>
        <p:spPr>
          <a:xfrm>
            <a:off x="9841687" y="2139696"/>
            <a:ext cx="1188720" cy="365760"/>
          </a:xfrm>
          <a:prstGeom prst="rect">
            <a:avLst/>
          </a:prstGeom>
          <a:noFill/>
          <a:ln/>
        </p:spPr>
        <p:txBody>
          <a:bodyPr wrap="square" lIns="0" tIns="0" rIns="0" bIns="0" rtlCol="0" anchor="ctr"/>
          <a:lstStyle/>
          <a:p>
            <a:pPr algn="r" indent="0" marL="0">
              <a:buNone/>
            </a:pPr>
            <a:r>
              <a:rPr lang="en-US" sz="1600" b="1" dirty="0">
                <a:solidFill>
                  <a:srgbClr val="FFFFFF"/>
                </a:solidFill>
                <a:latin typeface="Cambria" pitchFamily="34" charset="0"/>
                <a:ea typeface="Cambria" pitchFamily="34" charset="-122"/>
                <a:cs typeface="Cambria" pitchFamily="34" charset="-120"/>
              </a:rPr>
              <a:t>7:00 AM</a:t>
            </a:r>
            <a:endParaRPr lang="en-US" sz="1600" dirty="0"/>
          </a:p>
        </p:txBody>
      </p:sp>
      <p:sp>
        <p:nvSpPr>
          <p:cNvPr id="13" name="Shape 11"/>
          <p:cNvSpPr/>
          <p:nvPr/>
        </p:nvSpPr>
        <p:spPr>
          <a:xfrm>
            <a:off x="9113368" y="2660904"/>
            <a:ext cx="0" cy="118872"/>
          </a:xfrm>
          <a:prstGeom prst="line">
            <a:avLst/>
          </a:prstGeom>
          <a:noFill/>
          <a:ln w="25400">
            <a:solidFill>
              <a:srgbClr val="F2A413"/>
            </a:solidFill>
            <a:prstDash val="solid"/>
            <a:tailEnd type="triangle"/>
          </a:ln>
        </p:spPr>
      </p:sp>
      <p:sp>
        <p:nvSpPr>
          <p:cNvPr id="14" name="Shape 12"/>
          <p:cNvSpPr/>
          <p:nvPr/>
        </p:nvSpPr>
        <p:spPr>
          <a:xfrm>
            <a:off x="6967728" y="2798064"/>
            <a:ext cx="4291279" cy="621792"/>
          </a:xfrm>
          <a:prstGeom prst="roundRect">
            <a:avLst>
              <a:gd name="adj" fmla="val 8824"/>
            </a:avLst>
          </a:prstGeom>
          <a:solidFill>
            <a:srgbClr val="F8E6E4"/>
          </a:solidFill>
          <a:ln/>
        </p:spPr>
      </p:sp>
      <p:sp>
        <p:nvSpPr>
          <p:cNvPr id="15" name="Text 13"/>
          <p:cNvSpPr txBox="1"/>
          <p:nvPr/>
        </p:nvSpPr>
        <p:spPr>
          <a:xfrm>
            <a:off x="7187184" y="2980944"/>
            <a:ext cx="2645359"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Foreman opened the app</a:t>
            </a:r>
            <a:endParaRPr lang="en-US" sz="1100" dirty="0"/>
          </a:p>
        </p:txBody>
      </p:sp>
      <p:sp>
        <p:nvSpPr>
          <p:cNvPr id="16" name="Text 14"/>
          <p:cNvSpPr txBox="1"/>
          <p:nvPr/>
        </p:nvSpPr>
        <p:spPr>
          <a:xfrm>
            <a:off x="9841687" y="2926080"/>
            <a:ext cx="1188720" cy="365760"/>
          </a:xfrm>
          <a:prstGeom prst="rect">
            <a:avLst/>
          </a:prstGeom>
          <a:noFill/>
          <a:ln/>
        </p:spPr>
        <p:txBody>
          <a:bodyPr wrap="square" lIns="0" tIns="0" rIns="0" bIns="0" rtlCol="0" anchor="ctr"/>
          <a:lstStyle/>
          <a:p>
            <a:pPr algn="r" indent="0" marL="0">
              <a:buNone/>
            </a:pPr>
            <a:r>
              <a:rPr lang="en-US" sz="1600" b="1" dirty="0">
                <a:solidFill>
                  <a:srgbClr val="16191D"/>
                </a:solidFill>
                <a:latin typeface="Cambria" pitchFamily="34" charset="0"/>
                <a:ea typeface="Cambria" pitchFamily="34" charset="-122"/>
                <a:cs typeface="Cambria" pitchFamily="34" charset="-120"/>
              </a:rPr>
              <a:t>8:42 AM</a:t>
            </a:r>
            <a:endParaRPr lang="en-US" sz="1600" dirty="0"/>
          </a:p>
        </p:txBody>
      </p:sp>
      <p:sp>
        <p:nvSpPr>
          <p:cNvPr id="17" name="Shape 15"/>
          <p:cNvSpPr/>
          <p:nvPr/>
        </p:nvSpPr>
        <p:spPr>
          <a:xfrm>
            <a:off x="9113368" y="3447288"/>
            <a:ext cx="0" cy="118872"/>
          </a:xfrm>
          <a:prstGeom prst="line">
            <a:avLst/>
          </a:prstGeom>
          <a:noFill/>
          <a:ln w="25400">
            <a:solidFill>
              <a:srgbClr val="F2A413"/>
            </a:solidFill>
            <a:prstDash val="solid"/>
            <a:tailEnd type="triangle"/>
          </a:ln>
        </p:spPr>
      </p:sp>
      <p:sp>
        <p:nvSpPr>
          <p:cNvPr id="18" name="Shape 16"/>
          <p:cNvSpPr/>
          <p:nvPr/>
        </p:nvSpPr>
        <p:spPr>
          <a:xfrm>
            <a:off x="6967728" y="3584448"/>
            <a:ext cx="4291279" cy="621792"/>
          </a:xfrm>
          <a:prstGeom prst="roundRect">
            <a:avLst>
              <a:gd name="adj" fmla="val 8824"/>
            </a:avLst>
          </a:prstGeom>
          <a:solidFill>
            <a:srgbClr val="F2A413"/>
          </a:solidFill>
          <a:ln/>
        </p:spPr>
      </p:sp>
      <p:sp>
        <p:nvSpPr>
          <p:cNvPr id="19" name="Text 17"/>
          <p:cNvSpPr txBox="1"/>
          <p:nvPr/>
        </p:nvSpPr>
        <p:spPr>
          <a:xfrm>
            <a:off x="7187184" y="3767328"/>
            <a:ext cx="2645359"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Credited to the crew</a:t>
            </a:r>
            <a:endParaRPr lang="en-US" sz="1100" dirty="0"/>
          </a:p>
        </p:txBody>
      </p:sp>
      <p:sp>
        <p:nvSpPr>
          <p:cNvPr id="20" name="Text 18"/>
          <p:cNvSpPr txBox="1"/>
          <p:nvPr/>
        </p:nvSpPr>
        <p:spPr>
          <a:xfrm>
            <a:off x="9841687" y="3712464"/>
            <a:ext cx="1188720" cy="365760"/>
          </a:xfrm>
          <a:prstGeom prst="rect">
            <a:avLst/>
          </a:prstGeom>
          <a:noFill/>
          <a:ln/>
        </p:spPr>
        <p:txBody>
          <a:bodyPr wrap="square" lIns="0" tIns="0" rIns="0" bIns="0" rtlCol="0" anchor="ctr"/>
          <a:lstStyle/>
          <a:p>
            <a:pPr algn="r" indent="0" marL="0">
              <a:buNone/>
            </a:pPr>
            <a:r>
              <a:rPr lang="en-US" sz="1600" b="1" dirty="0">
                <a:solidFill>
                  <a:srgbClr val="16191D"/>
                </a:solidFill>
                <a:latin typeface="Cambria" pitchFamily="34" charset="0"/>
                <a:ea typeface="Cambria" pitchFamily="34" charset="-122"/>
                <a:cs typeface="Cambria" pitchFamily="34" charset="-120"/>
              </a:rPr>
              <a:t>7:00 AM</a:t>
            </a:r>
            <a:endParaRPr lang="en-US" sz="1600" dirty="0"/>
          </a:p>
        </p:txBody>
      </p:sp>
      <p:sp>
        <p:nvSpPr>
          <p:cNvPr id="21" name="Shape 19"/>
          <p:cNvSpPr/>
          <p:nvPr/>
        </p:nvSpPr>
        <p:spPr>
          <a:xfrm>
            <a:off x="6967728" y="4343400"/>
            <a:ext cx="4291279" cy="530352"/>
          </a:xfrm>
          <a:prstGeom prst="roundRect">
            <a:avLst>
              <a:gd name="adj" fmla="val 10345"/>
            </a:avLst>
          </a:prstGeom>
          <a:solidFill>
            <a:srgbClr val="F8E6E4"/>
          </a:solidFill>
          <a:ln/>
        </p:spPr>
      </p:sp>
      <p:sp>
        <p:nvSpPr>
          <p:cNvPr id="22" name="Text 20"/>
          <p:cNvSpPr txBox="1"/>
          <p:nvPr/>
        </p:nvSpPr>
        <p:spPr>
          <a:xfrm>
            <a:off x="7187184" y="4480560"/>
            <a:ext cx="3852367" cy="274320"/>
          </a:xfrm>
          <a:prstGeom prst="rect">
            <a:avLst/>
          </a:prstGeom>
          <a:noFill/>
          <a:ln/>
        </p:spPr>
        <p:txBody>
          <a:bodyPr wrap="square" lIns="0" tIns="0" rIns="0" bIns="0" rtlCol="0" anchor="t"/>
          <a:lstStyle/>
          <a:p>
            <a:pPr algn="l" indent="0" marL="0">
              <a:lnSpc>
                <a:spcPct val="108000"/>
              </a:lnSpc>
              <a:buNone/>
            </a:pPr>
            <a:r>
              <a:rPr lang="en-US" sz="1050" dirty="0">
                <a:solidFill>
                  <a:srgbClr val="B8352B"/>
                </a:solidFill>
                <a:latin typeface="Calibri" pitchFamily="34" charset="0"/>
                <a:ea typeface="Calibri" pitchFamily="34" charset="-122"/>
                <a:cs typeface="Calibri" pitchFamily="34" charset="-120"/>
              </a:rPr>
              <a:t>Flagged:  FOREMAN_LATE_OVERRIDE  ·  written to the audit log</a:t>
            </a:r>
            <a:endParaRPr lang="en-US" sz="1050" dirty="0"/>
          </a:p>
        </p:txBody>
      </p:sp>
      <p:sp>
        <p:nvSpPr>
          <p:cNvPr id="23" name="Shape 21"/>
          <p:cNvSpPr/>
          <p:nvPr/>
        </p:nvSpPr>
        <p:spPr>
          <a:xfrm>
            <a:off x="548640" y="4983480"/>
            <a:ext cx="11094415" cy="1234440"/>
          </a:xfrm>
          <a:prstGeom prst="roundRect">
            <a:avLst>
              <a:gd name="adj" fmla="val 4444"/>
            </a:avLst>
          </a:prstGeom>
          <a:solidFill>
            <a:srgbClr val="16191D"/>
          </a:solidFill>
          <a:ln/>
        </p:spPr>
      </p:sp>
      <p:sp>
        <p:nvSpPr>
          <p:cNvPr id="24" name="Text 22"/>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25" name="Text 23"/>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Workers who arrived on time are not penalised for their foreman's lateness, and the adjustment stays on the record.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06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One-Click Absent Foreman Re-assignment</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27</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When a foreman does not report, a Site Engineer re-assigns the crew to an acting foreman in a single action.</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crew roster and the authority to log that day's attendance move to the acting foreman's device.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original foreman, the acting foreman, the reason and the timestamp all go to the audit log.</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Nothing already recorded is deleted or rewritten. The re-assignment is added, not substituted.</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TRANSFER OF ATTENDANCE AUTHORITY</a:t>
            </a:r>
            <a:endParaRPr lang="en-US" sz="1050" dirty="0"/>
          </a:p>
        </p:txBody>
      </p:sp>
      <p:sp>
        <p:nvSpPr>
          <p:cNvPr id="10" name="Shape 8"/>
          <p:cNvSpPr/>
          <p:nvPr/>
        </p:nvSpPr>
        <p:spPr>
          <a:xfrm>
            <a:off x="6967728" y="2029968"/>
            <a:ext cx="4291279" cy="731520"/>
          </a:xfrm>
          <a:prstGeom prst="roundRect">
            <a:avLst>
              <a:gd name="adj" fmla="val 7500"/>
            </a:avLst>
          </a:prstGeom>
          <a:solidFill>
            <a:srgbClr val="F8E6E4"/>
          </a:solidFill>
          <a:ln/>
        </p:spPr>
      </p:sp>
      <p:sp>
        <p:nvSpPr>
          <p:cNvPr id="11" name="Text 9"/>
          <p:cNvSpPr txBox="1"/>
          <p:nvPr/>
        </p:nvSpPr>
        <p:spPr>
          <a:xfrm>
            <a:off x="7205472" y="2176272"/>
            <a:ext cx="3815791" cy="256032"/>
          </a:xfrm>
          <a:prstGeom prst="rect">
            <a:avLst/>
          </a:prstGeom>
          <a:noFill/>
          <a:ln/>
        </p:spPr>
        <p:txBody>
          <a:bodyPr wrap="square" lIns="0" tIns="0" rIns="0" bIns="0" rtlCol="0" anchor="t"/>
          <a:lstStyle/>
          <a:p>
            <a:pPr indent="0" marL="0">
              <a:buNone/>
            </a:pPr>
            <a:r>
              <a:rPr lang="en-US" sz="1150" b="1" dirty="0">
                <a:solidFill>
                  <a:srgbClr val="B8352B"/>
                </a:solidFill>
                <a:latin typeface="Calibri" pitchFamily="34" charset="0"/>
                <a:ea typeface="Calibri" pitchFamily="34" charset="-122"/>
                <a:cs typeface="Calibri" pitchFamily="34" charset="-120"/>
              </a:rPr>
              <a:t>Designated foreman  ·  did not report</a:t>
            </a:r>
            <a:endParaRPr lang="en-US" sz="1150" dirty="0"/>
          </a:p>
        </p:txBody>
      </p:sp>
      <p:sp>
        <p:nvSpPr>
          <p:cNvPr id="12" name="Text 10"/>
          <p:cNvSpPr txBox="1"/>
          <p:nvPr/>
        </p:nvSpPr>
        <p:spPr>
          <a:xfrm>
            <a:off x="7205472" y="2432304"/>
            <a:ext cx="3815791" cy="237744"/>
          </a:xfrm>
          <a:prstGeom prst="rect">
            <a:avLst/>
          </a:prstGeom>
          <a:noFill/>
          <a:ln/>
        </p:spPr>
        <p:txBody>
          <a:bodyPr wrap="square" lIns="0" tIns="0" rIns="0" bIns="0" rtlCol="0" anchor="t"/>
          <a:lstStyle/>
          <a:p>
            <a:pPr algn="l" indent="0" marL="0">
              <a:lnSpc>
                <a:spcPct val="108000"/>
              </a:lnSpc>
              <a:buNone/>
            </a:pPr>
            <a:r>
              <a:rPr lang="en-US" sz="1000" dirty="0">
                <a:solidFill>
                  <a:srgbClr val="B8352B"/>
                </a:solidFill>
                <a:latin typeface="Calibri" pitchFamily="34" charset="0"/>
                <a:ea typeface="Calibri" pitchFamily="34" charset="-122"/>
                <a:cs typeface="Calibri" pitchFamily="34" charset="-120"/>
              </a:rPr>
              <a:t>Crew of 12 standing at the site with nobody able to log them</a:t>
            </a:r>
            <a:endParaRPr lang="en-US" sz="1000" dirty="0"/>
          </a:p>
        </p:txBody>
      </p:sp>
      <p:sp>
        <p:nvSpPr>
          <p:cNvPr id="13" name="Shape 11"/>
          <p:cNvSpPr/>
          <p:nvPr/>
        </p:nvSpPr>
        <p:spPr>
          <a:xfrm>
            <a:off x="9113368" y="2816352"/>
            <a:ext cx="0" cy="274320"/>
          </a:xfrm>
          <a:prstGeom prst="line">
            <a:avLst/>
          </a:prstGeom>
          <a:noFill/>
          <a:ln w="25400">
            <a:solidFill>
              <a:srgbClr val="F2A413"/>
            </a:solidFill>
            <a:prstDash val="solid"/>
            <a:tailEnd type="triangle"/>
          </a:ln>
        </p:spPr>
      </p:sp>
      <p:sp>
        <p:nvSpPr>
          <p:cNvPr id="14" name="Shape 12"/>
          <p:cNvSpPr/>
          <p:nvPr/>
        </p:nvSpPr>
        <p:spPr>
          <a:xfrm>
            <a:off x="8336128" y="3154680"/>
            <a:ext cx="1554480" cy="292608"/>
          </a:xfrm>
          <a:prstGeom prst="roundRect">
            <a:avLst>
              <a:gd name="adj" fmla="val 37500"/>
            </a:avLst>
          </a:prstGeom>
          <a:solidFill>
            <a:srgbClr val="F2A413"/>
          </a:solidFill>
          <a:ln/>
        </p:spPr>
      </p:sp>
      <p:sp>
        <p:nvSpPr>
          <p:cNvPr id="15" name="Text 13"/>
          <p:cNvSpPr txBox="1"/>
          <p:nvPr/>
        </p:nvSpPr>
        <p:spPr>
          <a:xfrm>
            <a:off x="8336128" y="3154680"/>
            <a:ext cx="1554480" cy="292608"/>
          </a:xfrm>
          <a:prstGeom prst="rect">
            <a:avLst/>
          </a:prstGeom>
          <a:noFill/>
          <a:ln/>
        </p:spPr>
        <p:txBody>
          <a:bodyPr wrap="square" lIns="0" tIns="0" rIns="0" bIns="0" rtlCol="0" anchor="ctr"/>
          <a:lstStyle/>
          <a:p>
            <a:pPr algn="ctr" indent="0" marL="0">
              <a:buNone/>
            </a:pPr>
            <a:r>
              <a:rPr lang="en-US" sz="950" b="1" dirty="0">
                <a:solidFill>
                  <a:srgbClr val="16191D"/>
                </a:solidFill>
                <a:latin typeface="Calibri" pitchFamily="34" charset="0"/>
                <a:ea typeface="Calibri" pitchFamily="34" charset="-122"/>
                <a:cs typeface="Calibri" pitchFamily="34" charset="-120"/>
              </a:rPr>
              <a:t>ONE ACTION</a:t>
            </a:r>
            <a:endParaRPr lang="en-US" sz="950" dirty="0"/>
          </a:p>
        </p:txBody>
      </p:sp>
      <p:sp>
        <p:nvSpPr>
          <p:cNvPr id="16" name="Shape 14"/>
          <p:cNvSpPr/>
          <p:nvPr/>
        </p:nvSpPr>
        <p:spPr>
          <a:xfrm>
            <a:off x="9113368" y="3511296"/>
            <a:ext cx="0" cy="256032"/>
          </a:xfrm>
          <a:prstGeom prst="line">
            <a:avLst/>
          </a:prstGeom>
          <a:noFill/>
          <a:ln w="25400">
            <a:solidFill>
              <a:srgbClr val="F2A413"/>
            </a:solidFill>
            <a:prstDash val="solid"/>
            <a:tailEnd type="triangle"/>
          </a:ln>
        </p:spPr>
      </p:sp>
      <p:sp>
        <p:nvSpPr>
          <p:cNvPr id="17" name="Shape 15"/>
          <p:cNvSpPr/>
          <p:nvPr/>
        </p:nvSpPr>
        <p:spPr>
          <a:xfrm>
            <a:off x="6967728" y="3822192"/>
            <a:ext cx="4291279" cy="731520"/>
          </a:xfrm>
          <a:prstGeom prst="roundRect">
            <a:avLst>
              <a:gd name="adj" fmla="val 7500"/>
            </a:avLst>
          </a:prstGeom>
          <a:solidFill>
            <a:srgbClr val="E4F0EA"/>
          </a:solidFill>
          <a:ln/>
        </p:spPr>
      </p:sp>
      <p:sp>
        <p:nvSpPr>
          <p:cNvPr id="18" name="Text 16"/>
          <p:cNvSpPr txBox="1"/>
          <p:nvPr/>
        </p:nvSpPr>
        <p:spPr>
          <a:xfrm>
            <a:off x="7205472" y="3968496"/>
            <a:ext cx="3815791" cy="256032"/>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Acting foreman  ·  roster on device</a:t>
            </a:r>
            <a:endParaRPr lang="en-US" sz="1150" dirty="0"/>
          </a:p>
        </p:txBody>
      </p:sp>
      <p:sp>
        <p:nvSpPr>
          <p:cNvPr id="19" name="Text 17"/>
          <p:cNvSpPr txBox="1"/>
          <p:nvPr/>
        </p:nvSpPr>
        <p:spPr>
          <a:xfrm>
            <a:off x="7205472" y="4224528"/>
            <a:ext cx="3815791" cy="237744"/>
          </a:xfrm>
          <a:prstGeom prst="rect">
            <a:avLst/>
          </a:prstGeom>
          <a:noFill/>
          <a:ln/>
        </p:spPr>
        <p:txBody>
          <a:bodyPr wrap="square" lIns="0" tIns="0" rIns="0" bIns="0" rtlCol="0" anchor="t"/>
          <a:lstStyle/>
          <a:p>
            <a:pPr algn="l" indent="0" marL="0">
              <a:lnSpc>
                <a:spcPct val="108000"/>
              </a:lnSpc>
              <a:buNone/>
            </a:pPr>
            <a:r>
              <a:rPr lang="en-US" sz="1000" dirty="0">
                <a:solidFill>
                  <a:srgbClr val="2E7D5B"/>
                </a:solidFill>
                <a:latin typeface="Calibri" pitchFamily="34" charset="0"/>
                <a:ea typeface="Calibri" pitchFamily="34" charset="-122"/>
                <a:cs typeface="Calibri" pitchFamily="34" charset="-120"/>
              </a:rPr>
              <a:t>Roll call proceeds, signed by the acting foreman's device key</a:t>
            </a:r>
            <a:endParaRPr lang="en-US" sz="1000" dirty="0"/>
          </a:p>
        </p:txBody>
      </p:sp>
      <p:sp>
        <p:nvSpPr>
          <p:cNvPr id="20" name="Shape 18"/>
          <p:cNvSpPr/>
          <p:nvPr/>
        </p:nvSpPr>
        <p:spPr>
          <a:xfrm>
            <a:off x="548640" y="4983480"/>
            <a:ext cx="11094415" cy="1234440"/>
          </a:xfrm>
          <a:prstGeom prst="roundRect">
            <a:avLst>
              <a:gd name="adj" fmla="val 4444"/>
            </a:avLst>
          </a:prstGeom>
          <a:solidFill>
            <a:srgbClr val="16191D"/>
          </a:solidFill>
          <a:ln/>
        </p:spPr>
      </p:sp>
      <p:sp>
        <p:nvSpPr>
          <p:cNvPr id="21" name="Text 19"/>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22" name="Text 20"/>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A crew never loses a day of attendance because one person did not show up.</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07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Retroactive Crew Recovery Sign-off</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28</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For a day where no attendance was logged at all, the crew's record can be reconstructed and submitted for sign-off.</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submission is explicitly marked retroactive. It can never be mistaken for a same-day record.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 Site Engineer must approve it before it becomes attendance that payroll will pay on.</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approver, the approval time and the stated reason are written to the audit log.</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RECOVERY WORKFLOW</a:t>
            </a:r>
            <a:endParaRPr lang="en-US" sz="1050" dirty="0"/>
          </a:p>
        </p:txBody>
      </p:sp>
      <p:sp>
        <p:nvSpPr>
          <p:cNvPr id="10" name="Shape 8"/>
          <p:cNvSpPr/>
          <p:nvPr/>
        </p:nvSpPr>
        <p:spPr>
          <a:xfrm>
            <a:off x="6967728" y="2011680"/>
            <a:ext cx="4291279" cy="566928"/>
          </a:xfrm>
          <a:prstGeom prst="roundRect">
            <a:avLst>
              <a:gd name="adj" fmla="val 9677"/>
            </a:avLst>
          </a:prstGeom>
          <a:solidFill>
            <a:srgbClr val="F8E6E4"/>
          </a:solidFill>
          <a:ln/>
        </p:spPr>
      </p:sp>
      <p:sp>
        <p:nvSpPr>
          <p:cNvPr id="11" name="Text 9"/>
          <p:cNvSpPr txBox="1"/>
          <p:nvPr/>
        </p:nvSpPr>
        <p:spPr>
          <a:xfrm>
            <a:off x="7187184" y="2084832"/>
            <a:ext cx="3852367"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Gap detected</a:t>
            </a:r>
            <a:endParaRPr lang="en-US" sz="1150" dirty="0"/>
          </a:p>
        </p:txBody>
      </p:sp>
      <p:sp>
        <p:nvSpPr>
          <p:cNvPr id="12" name="Text 10"/>
          <p:cNvSpPr txBox="1"/>
          <p:nvPr/>
        </p:nvSpPr>
        <p:spPr>
          <a:xfrm>
            <a:off x="7187184" y="2304288"/>
            <a:ext cx="3852367"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A shift day with no attendance records for a deployed crew</a:t>
            </a:r>
            <a:endParaRPr lang="en-US" sz="950" dirty="0"/>
          </a:p>
        </p:txBody>
      </p:sp>
      <p:sp>
        <p:nvSpPr>
          <p:cNvPr id="13" name="Shape 11"/>
          <p:cNvSpPr/>
          <p:nvPr/>
        </p:nvSpPr>
        <p:spPr>
          <a:xfrm>
            <a:off x="9113368" y="2606040"/>
            <a:ext cx="0" cy="100584"/>
          </a:xfrm>
          <a:prstGeom prst="line">
            <a:avLst/>
          </a:prstGeom>
          <a:noFill/>
          <a:ln w="25400">
            <a:solidFill>
              <a:srgbClr val="F2A413"/>
            </a:solidFill>
            <a:prstDash val="solid"/>
            <a:tailEnd type="triangle"/>
          </a:ln>
        </p:spPr>
      </p:sp>
      <p:sp>
        <p:nvSpPr>
          <p:cNvPr id="14" name="Shape 12"/>
          <p:cNvSpPr/>
          <p:nvPr/>
        </p:nvSpPr>
        <p:spPr>
          <a:xfrm>
            <a:off x="6967728" y="2724912"/>
            <a:ext cx="4291279" cy="566928"/>
          </a:xfrm>
          <a:prstGeom prst="roundRect">
            <a:avLst>
              <a:gd name="adj" fmla="val 9677"/>
            </a:avLst>
          </a:prstGeom>
          <a:solidFill>
            <a:srgbClr val="F4F2EF"/>
          </a:solidFill>
          <a:ln/>
        </p:spPr>
      </p:sp>
      <p:sp>
        <p:nvSpPr>
          <p:cNvPr id="15" name="Text 13"/>
          <p:cNvSpPr txBox="1"/>
          <p:nvPr/>
        </p:nvSpPr>
        <p:spPr>
          <a:xfrm>
            <a:off x="7187184" y="2798064"/>
            <a:ext cx="3852367"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Foreman submits</a:t>
            </a:r>
            <a:endParaRPr lang="en-US" sz="1150" dirty="0"/>
          </a:p>
        </p:txBody>
      </p:sp>
      <p:sp>
        <p:nvSpPr>
          <p:cNvPr id="16" name="Text 14"/>
          <p:cNvSpPr txBox="1"/>
          <p:nvPr/>
        </p:nvSpPr>
        <p:spPr>
          <a:xfrm>
            <a:off x="7187184" y="3017520"/>
            <a:ext cx="3852367"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Reconstructed roll call, marked RETROACTIVE with a reason</a:t>
            </a:r>
            <a:endParaRPr lang="en-US" sz="950" dirty="0"/>
          </a:p>
        </p:txBody>
      </p:sp>
      <p:sp>
        <p:nvSpPr>
          <p:cNvPr id="17" name="Shape 15"/>
          <p:cNvSpPr/>
          <p:nvPr/>
        </p:nvSpPr>
        <p:spPr>
          <a:xfrm>
            <a:off x="9113368" y="3319272"/>
            <a:ext cx="0" cy="100584"/>
          </a:xfrm>
          <a:prstGeom prst="line">
            <a:avLst/>
          </a:prstGeom>
          <a:noFill/>
          <a:ln w="25400">
            <a:solidFill>
              <a:srgbClr val="F2A413"/>
            </a:solidFill>
            <a:prstDash val="solid"/>
            <a:tailEnd type="triangle"/>
          </a:ln>
        </p:spPr>
      </p:sp>
      <p:sp>
        <p:nvSpPr>
          <p:cNvPr id="18" name="Shape 16"/>
          <p:cNvSpPr/>
          <p:nvPr/>
        </p:nvSpPr>
        <p:spPr>
          <a:xfrm>
            <a:off x="6967728" y="3438144"/>
            <a:ext cx="4291279" cy="566928"/>
          </a:xfrm>
          <a:prstGeom prst="roundRect">
            <a:avLst>
              <a:gd name="adj" fmla="val 9677"/>
            </a:avLst>
          </a:prstGeom>
          <a:solidFill>
            <a:srgbClr val="F4F2EF"/>
          </a:solidFill>
          <a:ln/>
        </p:spPr>
      </p:sp>
      <p:sp>
        <p:nvSpPr>
          <p:cNvPr id="19" name="Text 17"/>
          <p:cNvSpPr txBox="1"/>
          <p:nvPr/>
        </p:nvSpPr>
        <p:spPr>
          <a:xfrm>
            <a:off x="7187184" y="3511296"/>
            <a:ext cx="3852367"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Engineer reviews</a:t>
            </a:r>
            <a:endParaRPr lang="en-US" sz="1150" dirty="0"/>
          </a:p>
        </p:txBody>
      </p:sp>
      <p:sp>
        <p:nvSpPr>
          <p:cNvPr id="20" name="Text 18"/>
          <p:cNvSpPr txBox="1"/>
          <p:nvPr/>
        </p:nvSpPr>
        <p:spPr>
          <a:xfrm>
            <a:off x="7187184" y="3730752"/>
            <a:ext cx="3852367"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Approves, rejects, or returns it for correction</a:t>
            </a:r>
            <a:endParaRPr lang="en-US" sz="950" dirty="0"/>
          </a:p>
        </p:txBody>
      </p:sp>
      <p:sp>
        <p:nvSpPr>
          <p:cNvPr id="21" name="Shape 19"/>
          <p:cNvSpPr/>
          <p:nvPr/>
        </p:nvSpPr>
        <p:spPr>
          <a:xfrm>
            <a:off x="9113368" y="4032504"/>
            <a:ext cx="0" cy="100584"/>
          </a:xfrm>
          <a:prstGeom prst="line">
            <a:avLst/>
          </a:prstGeom>
          <a:noFill/>
          <a:ln w="25400">
            <a:solidFill>
              <a:srgbClr val="F2A413"/>
            </a:solidFill>
            <a:prstDash val="solid"/>
            <a:tailEnd type="triangle"/>
          </a:ln>
        </p:spPr>
      </p:sp>
      <p:sp>
        <p:nvSpPr>
          <p:cNvPr id="22" name="Shape 20"/>
          <p:cNvSpPr/>
          <p:nvPr/>
        </p:nvSpPr>
        <p:spPr>
          <a:xfrm>
            <a:off x="6967728" y="4151376"/>
            <a:ext cx="4291279" cy="566928"/>
          </a:xfrm>
          <a:prstGeom prst="roundRect">
            <a:avLst>
              <a:gd name="adj" fmla="val 9677"/>
            </a:avLst>
          </a:prstGeom>
          <a:solidFill>
            <a:srgbClr val="F2A413"/>
          </a:solidFill>
          <a:ln/>
        </p:spPr>
      </p:sp>
      <p:sp>
        <p:nvSpPr>
          <p:cNvPr id="23" name="Text 21"/>
          <p:cNvSpPr txBox="1"/>
          <p:nvPr/>
        </p:nvSpPr>
        <p:spPr>
          <a:xfrm>
            <a:off x="7187184" y="4224528"/>
            <a:ext cx="3852367"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Becomes payable</a:t>
            </a:r>
            <a:endParaRPr lang="en-US" sz="1150" dirty="0"/>
          </a:p>
        </p:txBody>
      </p:sp>
      <p:sp>
        <p:nvSpPr>
          <p:cNvPr id="24" name="Text 22"/>
          <p:cNvSpPr txBox="1"/>
          <p:nvPr/>
        </p:nvSpPr>
        <p:spPr>
          <a:xfrm>
            <a:off x="7187184" y="4443984"/>
            <a:ext cx="3852367"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Approved record enters payroll, with the audit entry attached</a:t>
            </a:r>
            <a:endParaRPr lang="en-US" sz="950" dirty="0"/>
          </a:p>
        </p:txBody>
      </p:sp>
      <p:sp>
        <p:nvSpPr>
          <p:cNvPr id="25" name="Shape 23"/>
          <p:cNvSpPr/>
          <p:nvPr/>
        </p:nvSpPr>
        <p:spPr>
          <a:xfrm>
            <a:off x="548640" y="4983480"/>
            <a:ext cx="11094415" cy="1234440"/>
          </a:xfrm>
          <a:prstGeom prst="roundRect">
            <a:avLst>
              <a:gd name="adj" fmla="val 4444"/>
            </a:avLst>
          </a:prstGeom>
          <a:solidFill>
            <a:srgbClr val="16191D"/>
          </a:solidFill>
          <a:ln/>
        </p:spPr>
      </p:sp>
      <p:sp>
        <p:nvSpPr>
          <p:cNvPr id="26" name="Text 24"/>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27" name="Text 25"/>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Missed days get a controlled, reviewable recovery path instead of a quiet edit to the record.</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08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Philippine Labor Code Payroll Engine</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29</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Computes pay for a cutoff directly from verified attendance. Records that failed verification are not payable.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Applies the premium rates set by RA 442, Articles 83, 86, 87, 93 and 94, without manual intervention.</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Produces a payroll header plus a per-employee detail line showing how every figure was derived.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Verified against manual calculations for each premium scenario as test case TC-06.</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PREMIUM RATE MULTIPLIERS APPLIED</a:t>
            </a:r>
            <a:endParaRPr lang="en-US" sz="1050" dirty="0"/>
          </a:p>
        </p:txBody>
      </p:sp>
      <p:sp>
        <p:nvSpPr>
          <p:cNvPr id="10" name="Shape 8"/>
          <p:cNvSpPr/>
          <p:nvPr/>
        </p:nvSpPr>
        <p:spPr>
          <a:xfrm>
            <a:off x="548640" y="4983480"/>
            <a:ext cx="11094415" cy="1234440"/>
          </a:xfrm>
          <a:prstGeom prst="roundRect">
            <a:avLst>
              <a:gd name="adj" fmla="val 4444"/>
            </a:avLst>
          </a:prstGeom>
          <a:solidFill>
            <a:srgbClr val="16191D"/>
          </a:solidFill>
          <a:ln/>
        </p:spPr>
      </p:sp>
      <p:sp>
        <p:nvSpPr>
          <p:cNvPr id="11" name="Text 9"/>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12" name="Text 10"/>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Removes hand computation of premium rates, the single largest source of payroll error and wage dispute.</a:t>
            </a:r>
            <a:endParaRPr lang="en-US" sz="1250" dirty="0"/>
          </a:p>
        </p:txBody>
      </p:sp>
      <p:graphicFrame>
        <p:nvGraphicFramePr>
          <p:cNvPr id="13" name="Chart 0" descr=""/>
          <p:cNvGraphicFramePr/>
          <p:nvPr/>
        </p:nvGraphicFramePr>
        <p:xfrm>
          <a:off x="6858000" y="1993392"/>
          <a:ext cx="4510735" cy="26060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6858000" y="4663440"/>
            <a:ext cx="4510735" cy="274320"/>
          </a:xfrm>
          <a:prstGeom prst="rect">
            <a:avLst/>
          </a:prstGeom>
          <a:noFill/>
          <a:ln/>
        </p:spPr>
        <p:txBody>
          <a:bodyPr wrap="square" lIns="0" tIns="0" rIns="0" bIns="0" rtlCol="0" anchor="t"/>
          <a:lstStyle/>
          <a:p>
            <a:pPr algn="ctr" indent="0" marL="0">
              <a:lnSpc>
                <a:spcPct val="108000"/>
              </a:lnSpc>
              <a:buNone/>
            </a:pPr>
            <a:r>
              <a:rPr lang="en-US" sz="950" dirty="0">
                <a:solidFill>
                  <a:srgbClr val="8A949D"/>
                </a:solidFill>
                <a:latin typeface="Calibri" pitchFamily="34" charset="0"/>
                <a:ea typeface="Calibri" pitchFamily="34" charset="-122"/>
                <a:cs typeface="Calibri" pitchFamily="34" charset="-120"/>
              </a:rPr>
              <a:t>Applied to the daily rate on the employee record, per RA 442.</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09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Leave and Overtime Filing and Approval</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30</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Rusel R. Portes  ·  Lead Developer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Leave and overtime requests are filed in the web portal and routed through a multi-tier approval chain.</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Approved overtime is reconciled against actual recorded attendance before any premium is paid on it.</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Approved leave is reflected in attendance, so a lawful absence is never read as an unexcused one.</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Every decision in the chain is stored with the approver, the date and any remarks.</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APPROVAL CHAIN</a:t>
            </a:r>
            <a:endParaRPr lang="en-US" sz="1050" dirty="0"/>
          </a:p>
        </p:txBody>
      </p:sp>
      <p:sp>
        <p:nvSpPr>
          <p:cNvPr id="10" name="Shape 8"/>
          <p:cNvSpPr/>
          <p:nvPr/>
        </p:nvSpPr>
        <p:spPr>
          <a:xfrm>
            <a:off x="6967728" y="2011680"/>
            <a:ext cx="4291279" cy="566928"/>
          </a:xfrm>
          <a:prstGeom prst="roundRect">
            <a:avLst>
              <a:gd name="adj" fmla="val 9677"/>
            </a:avLst>
          </a:prstGeom>
          <a:solidFill>
            <a:srgbClr val="F4F2EF"/>
          </a:solidFill>
          <a:ln/>
        </p:spPr>
      </p:sp>
      <p:sp>
        <p:nvSpPr>
          <p:cNvPr id="11" name="Shape 9"/>
          <p:cNvSpPr/>
          <p:nvPr/>
        </p:nvSpPr>
        <p:spPr>
          <a:xfrm>
            <a:off x="7150608" y="2148840"/>
            <a:ext cx="292608" cy="292608"/>
          </a:xfrm>
          <a:prstGeom prst="ellipse">
            <a:avLst/>
          </a:prstGeom>
          <a:solidFill>
            <a:srgbClr val="F2A413"/>
          </a:solidFill>
          <a:ln/>
        </p:spPr>
      </p:sp>
      <p:sp>
        <p:nvSpPr>
          <p:cNvPr id="12" name="Text 10"/>
          <p:cNvSpPr txBox="1"/>
          <p:nvPr/>
        </p:nvSpPr>
        <p:spPr>
          <a:xfrm>
            <a:off x="7150608" y="2148840"/>
            <a:ext cx="292608" cy="292608"/>
          </a:xfrm>
          <a:prstGeom prst="rect">
            <a:avLst/>
          </a:prstGeom>
          <a:noFill/>
          <a:ln/>
        </p:spPr>
        <p:txBody>
          <a:bodyPr wrap="square" lIns="0" tIns="0" rIns="0" bIns="0" rtlCol="0" anchor="ctr"/>
          <a:lstStyle/>
          <a:p>
            <a:pPr algn="ctr" indent="0" marL="0">
              <a:buNone/>
            </a:pPr>
            <a:r>
              <a:rPr lang="en-US" sz="900" b="1" dirty="0">
                <a:solidFill>
                  <a:srgbClr val="16191D"/>
                </a:solidFill>
                <a:latin typeface="Calibri" pitchFamily="34" charset="0"/>
                <a:ea typeface="Calibri" pitchFamily="34" charset="-122"/>
                <a:cs typeface="Calibri" pitchFamily="34" charset="-120"/>
              </a:rPr>
              <a:t>1</a:t>
            </a:r>
            <a:endParaRPr lang="en-US" sz="900" dirty="0"/>
          </a:p>
        </p:txBody>
      </p:sp>
      <p:sp>
        <p:nvSpPr>
          <p:cNvPr id="13" name="Text 11"/>
          <p:cNvSpPr txBox="1"/>
          <p:nvPr/>
        </p:nvSpPr>
        <p:spPr>
          <a:xfrm>
            <a:off x="7552944" y="2084832"/>
            <a:ext cx="3468319"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Filed</a:t>
            </a:r>
            <a:endParaRPr lang="en-US" sz="1150" dirty="0"/>
          </a:p>
        </p:txBody>
      </p:sp>
      <p:sp>
        <p:nvSpPr>
          <p:cNvPr id="14" name="Text 12"/>
          <p:cNvSpPr txBox="1"/>
          <p:nvPr/>
        </p:nvSpPr>
        <p:spPr>
          <a:xfrm>
            <a:off x="7552944" y="2304288"/>
            <a:ext cx="3468319"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Employee or HR files the leave or overtime request</a:t>
            </a:r>
            <a:endParaRPr lang="en-US" sz="950" dirty="0"/>
          </a:p>
        </p:txBody>
      </p:sp>
      <p:sp>
        <p:nvSpPr>
          <p:cNvPr id="15" name="Shape 13"/>
          <p:cNvSpPr/>
          <p:nvPr/>
        </p:nvSpPr>
        <p:spPr>
          <a:xfrm>
            <a:off x="9113368" y="2606040"/>
            <a:ext cx="0" cy="100584"/>
          </a:xfrm>
          <a:prstGeom prst="line">
            <a:avLst/>
          </a:prstGeom>
          <a:noFill/>
          <a:ln w="25400">
            <a:solidFill>
              <a:srgbClr val="F2A413"/>
            </a:solidFill>
            <a:prstDash val="solid"/>
            <a:tailEnd type="triangle"/>
          </a:ln>
        </p:spPr>
      </p:sp>
      <p:sp>
        <p:nvSpPr>
          <p:cNvPr id="16" name="Shape 14"/>
          <p:cNvSpPr/>
          <p:nvPr/>
        </p:nvSpPr>
        <p:spPr>
          <a:xfrm>
            <a:off x="6967728" y="2724912"/>
            <a:ext cx="4291279" cy="566928"/>
          </a:xfrm>
          <a:prstGeom prst="roundRect">
            <a:avLst>
              <a:gd name="adj" fmla="val 9677"/>
            </a:avLst>
          </a:prstGeom>
          <a:solidFill>
            <a:srgbClr val="F4F2EF"/>
          </a:solidFill>
          <a:ln/>
        </p:spPr>
      </p:sp>
      <p:sp>
        <p:nvSpPr>
          <p:cNvPr id="17" name="Shape 15"/>
          <p:cNvSpPr/>
          <p:nvPr/>
        </p:nvSpPr>
        <p:spPr>
          <a:xfrm>
            <a:off x="7150608" y="2862072"/>
            <a:ext cx="292608" cy="292608"/>
          </a:xfrm>
          <a:prstGeom prst="ellipse">
            <a:avLst/>
          </a:prstGeom>
          <a:solidFill>
            <a:srgbClr val="F2A413"/>
          </a:solidFill>
          <a:ln/>
        </p:spPr>
      </p:sp>
      <p:sp>
        <p:nvSpPr>
          <p:cNvPr id="18" name="Text 16"/>
          <p:cNvSpPr txBox="1"/>
          <p:nvPr/>
        </p:nvSpPr>
        <p:spPr>
          <a:xfrm>
            <a:off x="7150608" y="2862072"/>
            <a:ext cx="292608" cy="292608"/>
          </a:xfrm>
          <a:prstGeom prst="rect">
            <a:avLst/>
          </a:prstGeom>
          <a:noFill/>
          <a:ln/>
        </p:spPr>
        <p:txBody>
          <a:bodyPr wrap="square" lIns="0" tIns="0" rIns="0" bIns="0" rtlCol="0" anchor="ctr"/>
          <a:lstStyle/>
          <a:p>
            <a:pPr algn="ctr" indent="0" marL="0">
              <a:buNone/>
            </a:pPr>
            <a:r>
              <a:rPr lang="en-US" sz="900" b="1" dirty="0">
                <a:solidFill>
                  <a:srgbClr val="16191D"/>
                </a:solidFill>
                <a:latin typeface="Calibri" pitchFamily="34" charset="0"/>
                <a:ea typeface="Calibri" pitchFamily="34" charset="-122"/>
                <a:cs typeface="Calibri" pitchFamily="34" charset="-120"/>
              </a:rPr>
              <a:t>2</a:t>
            </a:r>
            <a:endParaRPr lang="en-US" sz="900" dirty="0"/>
          </a:p>
        </p:txBody>
      </p:sp>
      <p:sp>
        <p:nvSpPr>
          <p:cNvPr id="19" name="Text 17"/>
          <p:cNvSpPr txBox="1"/>
          <p:nvPr/>
        </p:nvSpPr>
        <p:spPr>
          <a:xfrm>
            <a:off x="7552944" y="2798064"/>
            <a:ext cx="3468319"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Tier 1 review</a:t>
            </a:r>
            <a:endParaRPr lang="en-US" sz="1150" dirty="0"/>
          </a:p>
        </p:txBody>
      </p:sp>
      <p:sp>
        <p:nvSpPr>
          <p:cNvPr id="20" name="Text 18"/>
          <p:cNvSpPr txBox="1"/>
          <p:nvPr/>
        </p:nvSpPr>
        <p:spPr>
          <a:xfrm>
            <a:off x="7552944" y="3017520"/>
            <a:ext cx="3468319"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Site Engineer or Construction Manager endorses it</a:t>
            </a:r>
            <a:endParaRPr lang="en-US" sz="950" dirty="0"/>
          </a:p>
        </p:txBody>
      </p:sp>
      <p:sp>
        <p:nvSpPr>
          <p:cNvPr id="21" name="Shape 19"/>
          <p:cNvSpPr/>
          <p:nvPr/>
        </p:nvSpPr>
        <p:spPr>
          <a:xfrm>
            <a:off x="9113368" y="3319272"/>
            <a:ext cx="0" cy="100584"/>
          </a:xfrm>
          <a:prstGeom prst="line">
            <a:avLst/>
          </a:prstGeom>
          <a:noFill/>
          <a:ln w="25400">
            <a:solidFill>
              <a:srgbClr val="F2A413"/>
            </a:solidFill>
            <a:prstDash val="solid"/>
            <a:tailEnd type="triangle"/>
          </a:ln>
        </p:spPr>
      </p:sp>
      <p:sp>
        <p:nvSpPr>
          <p:cNvPr id="22" name="Shape 20"/>
          <p:cNvSpPr/>
          <p:nvPr/>
        </p:nvSpPr>
        <p:spPr>
          <a:xfrm>
            <a:off x="6967728" y="3438144"/>
            <a:ext cx="4291279" cy="566928"/>
          </a:xfrm>
          <a:prstGeom prst="roundRect">
            <a:avLst>
              <a:gd name="adj" fmla="val 9677"/>
            </a:avLst>
          </a:prstGeom>
          <a:solidFill>
            <a:srgbClr val="F4F2EF"/>
          </a:solidFill>
          <a:ln/>
        </p:spPr>
      </p:sp>
      <p:sp>
        <p:nvSpPr>
          <p:cNvPr id="23" name="Shape 21"/>
          <p:cNvSpPr/>
          <p:nvPr/>
        </p:nvSpPr>
        <p:spPr>
          <a:xfrm>
            <a:off x="7150608" y="3575304"/>
            <a:ext cx="292608" cy="292608"/>
          </a:xfrm>
          <a:prstGeom prst="ellipse">
            <a:avLst/>
          </a:prstGeom>
          <a:solidFill>
            <a:srgbClr val="F2A413"/>
          </a:solidFill>
          <a:ln/>
        </p:spPr>
      </p:sp>
      <p:sp>
        <p:nvSpPr>
          <p:cNvPr id="24" name="Text 22"/>
          <p:cNvSpPr txBox="1"/>
          <p:nvPr/>
        </p:nvSpPr>
        <p:spPr>
          <a:xfrm>
            <a:off x="7150608" y="3575304"/>
            <a:ext cx="292608" cy="292608"/>
          </a:xfrm>
          <a:prstGeom prst="rect">
            <a:avLst/>
          </a:prstGeom>
          <a:noFill/>
          <a:ln/>
        </p:spPr>
        <p:txBody>
          <a:bodyPr wrap="square" lIns="0" tIns="0" rIns="0" bIns="0" rtlCol="0" anchor="ctr"/>
          <a:lstStyle/>
          <a:p>
            <a:pPr algn="ctr" indent="0" marL="0">
              <a:buNone/>
            </a:pPr>
            <a:r>
              <a:rPr lang="en-US" sz="900" b="1" dirty="0">
                <a:solidFill>
                  <a:srgbClr val="16191D"/>
                </a:solidFill>
                <a:latin typeface="Calibri" pitchFamily="34" charset="0"/>
                <a:ea typeface="Calibri" pitchFamily="34" charset="-122"/>
                <a:cs typeface="Calibri" pitchFamily="34" charset="-120"/>
              </a:rPr>
              <a:t>3</a:t>
            </a:r>
            <a:endParaRPr lang="en-US" sz="900" dirty="0"/>
          </a:p>
        </p:txBody>
      </p:sp>
      <p:sp>
        <p:nvSpPr>
          <p:cNvPr id="25" name="Text 23"/>
          <p:cNvSpPr txBox="1"/>
          <p:nvPr/>
        </p:nvSpPr>
        <p:spPr>
          <a:xfrm>
            <a:off x="7552944" y="3511296"/>
            <a:ext cx="3468319"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Tier 2 approval</a:t>
            </a:r>
            <a:endParaRPr lang="en-US" sz="1150" dirty="0"/>
          </a:p>
        </p:txBody>
      </p:sp>
      <p:sp>
        <p:nvSpPr>
          <p:cNvPr id="26" name="Text 24"/>
          <p:cNvSpPr txBox="1"/>
          <p:nvPr/>
        </p:nvSpPr>
        <p:spPr>
          <a:xfrm>
            <a:off x="7552944" y="3730752"/>
            <a:ext cx="3468319"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HR Personnel gives the final approval</a:t>
            </a:r>
            <a:endParaRPr lang="en-US" sz="950" dirty="0"/>
          </a:p>
        </p:txBody>
      </p:sp>
      <p:sp>
        <p:nvSpPr>
          <p:cNvPr id="27" name="Shape 25"/>
          <p:cNvSpPr/>
          <p:nvPr/>
        </p:nvSpPr>
        <p:spPr>
          <a:xfrm>
            <a:off x="9113368" y="4032504"/>
            <a:ext cx="0" cy="100584"/>
          </a:xfrm>
          <a:prstGeom prst="line">
            <a:avLst/>
          </a:prstGeom>
          <a:noFill/>
          <a:ln w="25400">
            <a:solidFill>
              <a:srgbClr val="F2A413"/>
            </a:solidFill>
            <a:prstDash val="solid"/>
            <a:tailEnd type="triangle"/>
          </a:ln>
        </p:spPr>
      </p:sp>
      <p:sp>
        <p:nvSpPr>
          <p:cNvPr id="28" name="Shape 26"/>
          <p:cNvSpPr/>
          <p:nvPr/>
        </p:nvSpPr>
        <p:spPr>
          <a:xfrm>
            <a:off x="6967728" y="4151376"/>
            <a:ext cx="4291279" cy="566928"/>
          </a:xfrm>
          <a:prstGeom prst="roundRect">
            <a:avLst>
              <a:gd name="adj" fmla="val 9677"/>
            </a:avLst>
          </a:prstGeom>
          <a:solidFill>
            <a:srgbClr val="F2A413"/>
          </a:solidFill>
          <a:ln/>
        </p:spPr>
      </p:sp>
      <p:sp>
        <p:nvSpPr>
          <p:cNvPr id="29" name="Shape 27"/>
          <p:cNvSpPr/>
          <p:nvPr/>
        </p:nvSpPr>
        <p:spPr>
          <a:xfrm>
            <a:off x="7150608" y="4288536"/>
            <a:ext cx="292608" cy="292608"/>
          </a:xfrm>
          <a:prstGeom prst="ellipse">
            <a:avLst/>
          </a:prstGeom>
          <a:solidFill>
            <a:srgbClr val="16191D"/>
          </a:solidFill>
          <a:ln/>
        </p:spPr>
      </p:sp>
      <p:sp>
        <p:nvSpPr>
          <p:cNvPr id="30" name="Text 28"/>
          <p:cNvSpPr txBox="1"/>
          <p:nvPr/>
        </p:nvSpPr>
        <p:spPr>
          <a:xfrm>
            <a:off x="7150608" y="4288536"/>
            <a:ext cx="292608" cy="292608"/>
          </a:xfrm>
          <a:prstGeom prst="rect">
            <a:avLst/>
          </a:prstGeom>
          <a:noFill/>
          <a:ln/>
        </p:spPr>
        <p:txBody>
          <a:bodyPr wrap="square" lIns="0" tIns="0" rIns="0" bIns="0" rtlCol="0" anchor="ctr"/>
          <a:lstStyle/>
          <a:p>
            <a:pPr algn="ctr" indent="0" marL="0">
              <a:buNone/>
            </a:pPr>
            <a:r>
              <a:rPr lang="en-US" sz="900" b="1" dirty="0">
                <a:solidFill>
                  <a:srgbClr val="F2A413"/>
                </a:solidFill>
                <a:latin typeface="Calibri" pitchFamily="34" charset="0"/>
                <a:ea typeface="Calibri" pitchFamily="34" charset="-122"/>
                <a:cs typeface="Calibri" pitchFamily="34" charset="-120"/>
              </a:rPr>
              <a:t>4</a:t>
            </a:r>
            <a:endParaRPr lang="en-US" sz="900" dirty="0"/>
          </a:p>
        </p:txBody>
      </p:sp>
      <p:sp>
        <p:nvSpPr>
          <p:cNvPr id="31" name="Text 29"/>
          <p:cNvSpPr txBox="1"/>
          <p:nvPr/>
        </p:nvSpPr>
        <p:spPr>
          <a:xfrm>
            <a:off x="7552944" y="4224528"/>
            <a:ext cx="3468319" cy="219456"/>
          </a:xfrm>
          <a:prstGeom prst="rect">
            <a:avLst/>
          </a:prstGeom>
          <a:noFill/>
          <a:ln/>
        </p:spPr>
        <p:txBody>
          <a:bodyPr wrap="square" lIns="0" tIns="0" rIns="0" bIns="0" rtlCol="0" anchor="t"/>
          <a:lstStyle/>
          <a:p>
            <a:pPr indent="0" marL="0">
              <a:buNone/>
            </a:pPr>
            <a:r>
              <a:rPr lang="en-US" sz="1150" b="1" dirty="0">
                <a:solidFill>
                  <a:srgbClr val="16191D"/>
                </a:solidFill>
                <a:latin typeface="Calibri" pitchFamily="34" charset="0"/>
                <a:ea typeface="Calibri" pitchFamily="34" charset="-122"/>
                <a:cs typeface="Calibri" pitchFamily="34" charset="-120"/>
              </a:rPr>
              <a:t>Reflected in payroll</a:t>
            </a:r>
            <a:endParaRPr lang="en-US" sz="1150" dirty="0"/>
          </a:p>
        </p:txBody>
      </p:sp>
      <p:sp>
        <p:nvSpPr>
          <p:cNvPr id="32" name="Text 30"/>
          <p:cNvSpPr txBox="1"/>
          <p:nvPr/>
        </p:nvSpPr>
        <p:spPr>
          <a:xfrm>
            <a:off x="7552944" y="4443984"/>
            <a:ext cx="3468319" cy="219456"/>
          </a:xfrm>
          <a:prstGeom prst="rect">
            <a:avLst/>
          </a:prstGeom>
          <a:noFill/>
          <a:ln/>
        </p:spPr>
        <p:txBody>
          <a:bodyPr wrap="square" lIns="0" tIns="0" rIns="0" bIns="0" rtlCol="0" anchor="t"/>
          <a:lstStyle/>
          <a:p>
            <a:pPr algn="l" indent="0" marL="0">
              <a:lnSpc>
                <a:spcPct val="108000"/>
              </a:lnSpc>
              <a:buNone/>
            </a:pPr>
            <a:r>
              <a:rPr lang="en-US" sz="950" dirty="0">
                <a:solidFill>
                  <a:srgbClr val="5A656F"/>
                </a:solidFill>
                <a:latin typeface="Calibri" pitchFamily="34" charset="0"/>
                <a:ea typeface="Calibri" pitchFamily="34" charset="-122"/>
                <a:cs typeface="Calibri" pitchFamily="34" charset="-120"/>
              </a:rPr>
              <a:t>Applied to the cutoff and reconciled against attendance</a:t>
            </a:r>
            <a:endParaRPr lang="en-US" sz="950" dirty="0"/>
          </a:p>
        </p:txBody>
      </p:sp>
      <p:sp>
        <p:nvSpPr>
          <p:cNvPr id="33" name="Shape 31"/>
          <p:cNvSpPr/>
          <p:nvPr/>
        </p:nvSpPr>
        <p:spPr>
          <a:xfrm>
            <a:off x="548640" y="4983480"/>
            <a:ext cx="11094415" cy="1234440"/>
          </a:xfrm>
          <a:prstGeom prst="roundRect">
            <a:avLst>
              <a:gd name="adj" fmla="val 4444"/>
            </a:avLst>
          </a:prstGeom>
          <a:solidFill>
            <a:srgbClr val="16191D"/>
          </a:solidFill>
          <a:ln/>
        </p:spPr>
      </p:sp>
      <p:sp>
        <p:nvSpPr>
          <p:cNvPr id="34" name="Text 32"/>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35" name="Text 33"/>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Replaces verbal and paper approvals that routinely fail to reach payroll before the cutoff closes.</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 10 OF 10</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Audit Trail and Compliance Review</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31</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Efren S. Cabudbud Jr.  ·  Database &amp; QA Lead</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IT DOES</a:t>
            </a:r>
            <a:endParaRPr lang="en-US" sz="1050" dirty="0"/>
          </a:p>
        </p:txBody>
      </p:sp>
      <p:sp>
        <p:nvSpPr>
          <p:cNvPr id="7" name="Text 5"/>
          <p:cNvSpPr txBox="1"/>
          <p:nvPr/>
        </p:nvSpPr>
        <p:spPr>
          <a:xfrm>
            <a:off x="548640" y="1700784"/>
            <a:ext cx="5760720" cy="2971800"/>
          </a:xfrm>
          <a:prstGeom prst="rect">
            <a:avLst/>
          </a:prstGeom>
          <a:noFill/>
          <a:ln/>
        </p:spPr>
        <p:txBody>
          <a:bodyPr wrap="square" lIns="0" tIns="0" rIns="0" bIns="0" rtlCol="0" anchor="ctr"/>
          <a:lstStyle/>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Every override, re-assignment, retroactive approval and record correction writes an audit log entry.</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Each entry records who acted, what changed, when it changed and which record it touched.</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The Crypto Signature Ledger separately keeps the verification outcome of every synced batch.</a:t>
            </a:r>
            <a:endParaRPr lang="en-US" sz="1250" dirty="0"/>
          </a:p>
          <a:p>
            <a:pPr marL="342900" indent="-342900">
              <a:lnSpc>
                <a:spcPct val="105000"/>
              </a:lnSpc>
              <a:spcAft>
                <a:spcPts val="1100"/>
              </a:spcAft>
              <a:buSzPct val="100000"/>
              <a:buChar char="▪"/>
            </a:pPr>
            <a:r>
              <a:rPr lang="en-US" sz="1250" dirty="0">
                <a:solidFill>
                  <a:srgbClr val="5A656F"/>
                </a:solidFill>
                <a:latin typeface="Calibri" pitchFamily="34" charset="0"/>
                <a:ea typeface="Calibri" pitchFamily="34" charset="-122"/>
                <a:cs typeface="Calibri" pitchFamily="34" charset="-120"/>
              </a:rPr>
              <a:t>Management reviews labor cost, site punctuality and override frequency from the same verified data.</a:t>
            </a:r>
            <a:endParaRPr lang="en-US" sz="1250" dirty="0"/>
          </a:p>
        </p:txBody>
      </p:sp>
      <p:sp>
        <p:nvSpPr>
          <p:cNvPr id="8" name="Shape 6"/>
          <p:cNvSpPr/>
          <p:nvPr/>
        </p:nvSpPr>
        <p:spPr>
          <a:xfrm>
            <a:off x="6583680" y="1371600"/>
            <a:ext cx="5059375" cy="3337560"/>
          </a:xfrm>
          <a:prstGeom prst="roundRect">
            <a:avLst>
              <a:gd name="adj" fmla="val 1644"/>
            </a:avLst>
          </a:prstGeom>
          <a:solidFill>
            <a:srgbClr val="FFFFFF"/>
          </a:solidFill>
          <a:ln w="12700">
            <a:solidFill>
              <a:srgbClr val="DCD7D0"/>
            </a:solidFill>
            <a:prstDash val="solid"/>
          </a:ln>
        </p:spPr>
      </p:sp>
      <p:sp>
        <p:nvSpPr>
          <p:cNvPr id="9" name="Text 7"/>
          <p:cNvSpPr txBox="1"/>
          <p:nvPr/>
        </p:nvSpPr>
        <p:spPr>
          <a:xfrm>
            <a:off x="6858000" y="1609344"/>
            <a:ext cx="4510735" cy="219456"/>
          </a:xfrm>
          <a:prstGeom prst="rect">
            <a:avLst/>
          </a:prstGeom>
          <a:noFill/>
          <a:ln/>
        </p:spPr>
        <p:txBody>
          <a:bodyPr wrap="square" lIns="0" tIns="0" rIns="0" bIns="0" rtlCol="0" anchor="ctr"/>
          <a:lstStyle/>
          <a:p>
            <a:pPr indent="0" marL="0">
              <a:buNone/>
            </a:pPr>
            <a:r>
              <a:rPr lang="en-US" sz="1050" b="1" spc="120" kern="0" dirty="0">
                <a:solidFill>
                  <a:srgbClr val="5A656F"/>
                </a:solidFill>
                <a:latin typeface="Calibri" pitchFamily="34" charset="0"/>
                <a:ea typeface="Calibri" pitchFamily="34" charset="-122"/>
                <a:cs typeface="Calibri" pitchFamily="34" charset="-120"/>
              </a:rPr>
              <a:t>AUDIT LOG</a:t>
            </a:r>
            <a:endParaRPr lang="en-US" sz="1050" dirty="0"/>
          </a:p>
        </p:txBody>
      </p:sp>
      <p:sp>
        <p:nvSpPr>
          <p:cNvPr id="10" name="Shape 8"/>
          <p:cNvSpPr/>
          <p:nvPr/>
        </p:nvSpPr>
        <p:spPr>
          <a:xfrm>
            <a:off x="6912864" y="2029968"/>
            <a:ext cx="4401007" cy="457200"/>
          </a:xfrm>
          <a:prstGeom prst="rect">
            <a:avLst/>
          </a:prstGeom>
          <a:solidFill>
            <a:srgbClr val="F4F2EF"/>
          </a:solidFill>
          <a:ln/>
        </p:spPr>
      </p:sp>
      <p:sp>
        <p:nvSpPr>
          <p:cNvPr id="11" name="Text 9"/>
          <p:cNvSpPr txBox="1"/>
          <p:nvPr/>
        </p:nvSpPr>
        <p:spPr>
          <a:xfrm>
            <a:off x="7022592" y="2157984"/>
            <a:ext cx="1691640" cy="237744"/>
          </a:xfrm>
          <a:prstGeom prst="rect">
            <a:avLst/>
          </a:prstGeom>
          <a:noFill/>
          <a:ln/>
        </p:spPr>
        <p:txBody>
          <a:bodyPr wrap="square" lIns="0" tIns="0" rIns="0" bIns="0" rtlCol="0" anchor="t"/>
          <a:lstStyle/>
          <a:p>
            <a:pPr algn="l" indent="0" marL="0">
              <a:lnSpc>
                <a:spcPct val="108000"/>
              </a:lnSpc>
              <a:buNone/>
            </a:pPr>
            <a:r>
              <a:rPr lang="en-US" sz="850" dirty="0">
                <a:solidFill>
                  <a:srgbClr val="16191D"/>
                </a:solidFill>
                <a:latin typeface="Calibri" pitchFamily="34" charset="0"/>
                <a:ea typeface="Calibri" pitchFamily="34" charset="-122"/>
                <a:cs typeface="Calibri" pitchFamily="34" charset="-120"/>
              </a:rPr>
              <a:t>FOREMAN_LATE_OVERRIDE</a:t>
            </a:r>
            <a:endParaRPr lang="en-US" sz="850" dirty="0"/>
          </a:p>
        </p:txBody>
      </p:sp>
      <p:sp>
        <p:nvSpPr>
          <p:cNvPr id="12" name="Text 10"/>
          <p:cNvSpPr txBox="1"/>
          <p:nvPr/>
        </p:nvSpPr>
        <p:spPr>
          <a:xfrm>
            <a:off x="8714232" y="2157984"/>
            <a:ext cx="137160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R. Delos Santos</a:t>
            </a:r>
            <a:endParaRPr lang="en-US" sz="850" dirty="0"/>
          </a:p>
        </p:txBody>
      </p:sp>
      <p:sp>
        <p:nvSpPr>
          <p:cNvPr id="13" name="Text 11"/>
          <p:cNvSpPr txBox="1"/>
          <p:nvPr/>
        </p:nvSpPr>
        <p:spPr>
          <a:xfrm>
            <a:off x="10085832" y="2157984"/>
            <a:ext cx="118872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07:00 credited</a:t>
            </a:r>
            <a:endParaRPr lang="en-US" sz="850" dirty="0"/>
          </a:p>
        </p:txBody>
      </p:sp>
      <p:sp>
        <p:nvSpPr>
          <p:cNvPr id="14" name="Text 12"/>
          <p:cNvSpPr txBox="1"/>
          <p:nvPr/>
        </p:nvSpPr>
        <p:spPr>
          <a:xfrm>
            <a:off x="7022592" y="2670048"/>
            <a:ext cx="1691640" cy="237744"/>
          </a:xfrm>
          <a:prstGeom prst="rect">
            <a:avLst/>
          </a:prstGeom>
          <a:noFill/>
          <a:ln/>
        </p:spPr>
        <p:txBody>
          <a:bodyPr wrap="square" lIns="0" tIns="0" rIns="0" bIns="0" rtlCol="0" anchor="t"/>
          <a:lstStyle/>
          <a:p>
            <a:pPr algn="l" indent="0" marL="0">
              <a:lnSpc>
                <a:spcPct val="108000"/>
              </a:lnSpc>
              <a:buNone/>
            </a:pPr>
            <a:r>
              <a:rPr lang="en-US" sz="850" dirty="0">
                <a:solidFill>
                  <a:srgbClr val="16191D"/>
                </a:solidFill>
                <a:latin typeface="Calibri" pitchFamily="34" charset="0"/>
                <a:ea typeface="Calibri" pitchFamily="34" charset="-122"/>
                <a:cs typeface="Calibri" pitchFamily="34" charset="-120"/>
              </a:rPr>
              <a:t>CREW_REASSIGNED</a:t>
            </a:r>
            <a:endParaRPr lang="en-US" sz="850" dirty="0"/>
          </a:p>
        </p:txBody>
      </p:sp>
      <p:sp>
        <p:nvSpPr>
          <p:cNvPr id="15" name="Text 13"/>
          <p:cNvSpPr txBox="1"/>
          <p:nvPr/>
        </p:nvSpPr>
        <p:spPr>
          <a:xfrm>
            <a:off x="8714232" y="2670048"/>
            <a:ext cx="137160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Engr. M. Lopez</a:t>
            </a:r>
            <a:endParaRPr lang="en-US" sz="850" dirty="0"/>
          </a:p>
        </p:txBody>
      </p:sp>
      <p:sp>
        <p:nvSpPr>
          <p:cNvPr id="16" name="Text 14"/>
          <p:cNvSpPr txBox="1"/>
          <p:nvPr/>
        </p:nvSpPr>
        <p:spPr>
          <a:xfrm>
            <a:off x="10085832" y="2670048"/>
            <a:ext cx="118872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Crew A to acting</a:t>
            </a:r>
            <a:endParaRPr lang="en-US" sz="850" dirty="0"/>
          </a:p>
        </p:txBody>
      </p:sp>
      <p:sp>
        <p:nvSpPr>
          <p:cNvPr id="17" name="Shape 15"/>
          <p:cNvSpPr/>
          <p:nvPr/>
        </p:nvSpPr>
        <p:spPr>
          <a:xfrm>
            <a:off x="6912864" y="3054096"/>
            <a:ext cx="4401007" cy="457200"/>
          </a:xfrm>
          <a:prstGeom prst="rect">
            <a:avLst/>
          </a:prstGeom>
          <a:solidFill>
            <a:srgbClr val="F4F2EF"/>
          </a:solidFill>
          <a:ln/>
        </p:spPr>
      </p:sp>
      <p:sp>
        <p:nvSpPr>
          <p:cNvPr id="18" name="Text 16"/>
          <p:cNvSpPr txBox="1"/>
          <p:nvPr/>
        </p:nvSpPr>
        <p:spPr>
          <a:xfrm>
            <a:off x="7022592" y="3182112"/>
            <a:ext cx="1691640" cy="237744"/>
          </a:xfrm>
          <a:prstGeom prst="rect">
            <a:avLst/>
          </a:prstGeom>
          <a:noFill/>
          <a:ln/>
        </p:spPr>
        <p:txBody>
          <a:bodyPr wrap="square" lIns="0" tIns="0" rIns="0" bIns="0" rtlCol="0" anchor="t"/>
          <a:lstStyle/>
          <a:p>
            <a:pPr algn="l" indent="0" marL="0">
              <a:lnSpc>
                <a:spcPct val="108000"/>
              </a:lnSpc>
              <a:buNone/>
            </a:pPr>
            <a:r>
              <a:rPr lang="en-US" sz="850" dirty="0">
                <a:solidFill>
                  <a:srgbClr val="16191D"/>
                </a:solidFill>
                <a:latin typeface="Calibri" pitchFamily="34" charset="0"/>
                <a:ea typeface="Calibri" pitchFamily="34" charset="-122"/>
                <a:cs typeface="Calibri" pitchFamily="34" charset="-120"/>
              </a:rPr>
              <a:t>RETROACTIVE_APPROVED</a:t>
            </a:r>
            <a:endParaRPr lang="en-US" sz="850" dirty="0"/>
          </a:p>
        </p:txBody>
      </p:sp>
      <p:sp>
        <p:nvSpPr>
          <p:cNvPr id="19" name="Text 17"/>
          <p:cNvSpPr txBox="1"/>
          <p:nvPr/>
        </p:nvSpPr>
        <p:spPr>
          <a:xfrm>
            <a:off x="8714232" y="3182112"/>
            <a:ext cx="137160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Engr. M. Lopez</a:t>
            </a:r>
            <a:endParaRPr lang="en-US" sz="850" dirty="0"/>
          </a:p>
        </p:txBody>
      </p:sp>
      <p:sp>
        <p:nvSpPr>
          <p:cNvPr id="20" name="Text 18"/>
          <p:cNvSpPr txBox="1"/>
          <p:nvPr/>
        </p:nvSpPr>
        <p:spPr>
          <a:xfrm>
            <a:off x="10085832" y="3182112"/>
            <a:ext cx="118872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12 records</a:t>
            </a:r>
            <a:endParaRPr lang="en-US" sz="850" dirty="0"/>
          </a:p>
        </p:txBody>
      </p:sp>
      <p:sp>
        <p:nvSpPr>
          <p:cNvPr id="21" name="Text 19"/>
          <p:cNvSpPr txBox="1"/>
          <p:nvPr/>
        </p:nvSpPr>
        <p:spPr>
          <a:xfrm>
            <a:off x="7022592" y="3694176"/>
            <a:ext cx="1691640" cy="237744"/>
          </a:xfrm>
          <a:prstGeom prst="rect">
            <a:avLst/>
          </a:prstGeom>
          <a:noFill/>
          <a:ln/>
        </p:spPr>
        <p:txBody>
          <a:bodyPr wrap="square" lIns="0" tIns="0" rIns="0" bIns="0" rtlCol="0" anchor="t"/>
          <a:lstStyle/>
          <a:p>
            <a:pPr algn="l" indent="0" marL="0">
              <a:lnSpc>
                <a:spcPct val="108000"/>
              </a:lnSpc>
              <a:buNone/>
            </a:pPr>
            <a:r>
              <a:rPr lang="en-US" sz="850" dirty="0">
                <a:solidFill>
                  <a:srgbClr val="16191D"/>
                </a:solidFill>
                <a:latin typeface="Calibri" pitchFamily="34" charset="0"/>
                <a:ea typeface="Calibri" pitchFamily="34" charset="-122"/>
                <a:cs typeface="Calibri" pitchFamily="34" charset="-120"/>
              </a:rPr>
              <a:t>SIGNATURE_VERIFIED</a:t>
            </a:r>
            <a:endParaRPr lang="en-US" sz="850" dirty="0"/>
          </a:p>
        </p:txBody>
      </p:sp>
      <p:sp>
        <p:nvSpPr>
          <p:cNvPr id="22" name="Text 20"/>
          <p:cNvSpPr txBox="1"/>
          <p:nvPr/>
        </p:nvSpPr>
        <p:spPr>
          <a:xfrm>
            <a:off x="8714232" y="3694176"/>
            <a:ext cx="137160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Device FRM-004</a:t>
            </a:r>
            <a:endParaRPr lang="en-US" sz="850" dirty="0"/>
          </a:p>
        </p:txBody>
      </p:sp>
      <p:sp>
        <p:nvSpPr>
          <p:cNvPr id="23" name="Text 21"/>
          <p:cNvSpPr txBox="1"/>
          <p:nvPr/>
        </p:nvSpPr>
        <p:spPr>
          <a:xfrm>
            <a:off x="10085832" y="3694176"/>
            <a:ext cx="118872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Batch 002 valid</a:t>
            </a:r>
            <a:endParaRPr lang="en-US" sz="850" dirty="0"/>
          </a:p>
        </p:txBody>
      </p:sp>
      <p:sp>
        <p:nvSpPr>
          <p:cNvPr id="24" name="Shape 22"/>
          <p:cNvSpPr/>
          <p:nvPr/>
        </p:nvSpPr>
        <p:spPr>
          <a:xfrm>
            <a:off x="6912864" y="4078224"/>
            <a:ext cx="4401007" cy="457200"/>
          </a:xfrm>
          <a:prstGeom prst="rect">
            <a:avLst/>
          </a:prstGeom>
          <a:solidFill>
            <a:srgbClr val="F4F2EF"/>
          </a:solidFill>
          <a:ln/>
        </p:spPr>
      </p:sp>
      <p:sp>
        <p:nvSpPr>
          <p:cNvPr id="25" name="Text 23"/>
          <p:cNvSpPr txBox="1"/>
          <p:nvPr/>
        </p:nvSpPr>
        <p:spPr>
          <a:xfrm>
            <a:off x="7022592" y="4206240"/>
            <a:ext cx="1691640" cy="237744"/>
          </a:xfrm>
          <a:prstGeom prst="rect">
            <a:avLst/>
          </a:prstGeom>
          <a:noFill/>
          <a:ln/>
        </p:spPr>
        <p:txBody>
          <a:bodyPr wrap="square" lIns="0" tIns="0" rIns="0" bIns="0" rtlCol="0" anchor="t"/>
          <a:lstStyle/>
          <a:p>
            <a:pPr algn="l" indent="0" marL="0">
              <a:lnSpc>
                <a:spcPct val="108000"/>
              </a:lnSpc>
              <a:buNone/>
            </a:pPr>
            <a:r>
              <a:rPr lang="en-US" sz="850" dirty="0">
                <a:solidFill>
                  <a:srgbClr val="B8352B"/>
                </a:solidFill>
                <a:latin typeface="Calibri" pitchFamily="34" charset="0"/>
                <a:ea typeface="Calibri" pitchFamily="34" charset="-122"/>
                <a:cs typeface="Calibri" pitchFamily="34" charset="-120"/>
              </a:rPr>
              <a:t>SIGNATURE_FAILED</a:t>
            </a:r>
            <a:endParaRPr lang="en-US" sz="850" dirty="0"/>
          </a:p>
        </p:txBody>
      </p:sp>
      <p:sp>
        <p:nvSpPr>
          <p:cNvPr id="26" name="Text 24"/>
          <p:cNvSpPr txBox="1"/>
          <p:nvPr/>
        </p:nvSpPr>
        <p:spPr>
          <a:xfrm>
            <a:off x="8714232" y="4206240"/>
            <a:ext cx="137160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Device FRM-009</a:t>
            </a:r>
            <a:endParaRPr lang="en-US" sz="850" dirty="0"/>
          </a:p>
        </p:txBody>
      </p:sp>
      <p:sp>
        <p:nvSpPr>
          <p:cNvPr id="27" name="Text 25"/>
          <p:cNvSpPr txBox="1"/>
          <p:nvPr/>
        </p:nvSpPr>
        <p:spPr>
          <a:xfrm>
            <a:off x="10085832" y="4206240"/>
            <a:ext cx="1188720" cy="237744"/>
          </a:xfrm>
          <a:prstGeom prst="rect">
            <a:avLst/>
          </a:prstGeom>
          <a:noFill/>
          <a:ln/>
        </p:spPr>
        <p:txBody>
          <a:bodyPr wrap="square" lIns="0" tIns="0" rIns="0" bIns="0" rtlCol="0" anchor="t"/>
          <a:lstStyle/>
          <a:p>
            <a:pPr algn="l" indent="0" marL="0">
              <a:lnSpc>
                <a:spcPct val="108000"/>
              </a:lnSpc>
              <a:buNone/>
            </a:pPr>
            <a:r>
              <a:rPr lang="en-US" sz="850" dirty="0">
                <a:solidFill>
                  <a:srgbClr val="5A656F"/>
                </a:solidFill>
                <a:latin typeface="Calibri" pitchFamily="34" charset="0"/>
                <a:ea typeface="Calibri" pitchFamily="34" charset="-122"/>
                <a:cs typeface="Calibri" pitchFamily="34" charset="-120"/>
              </a:rPr>
              <a:t>Quarantined</a:t>
            </a:r>
            <a:endParaRPr lang="en-US" sz="850" dirty="0"/>
          </a:p>
        </p:txBody>
      </p:sp>
      <p:sp>
        <p:nvSpPr>
          <p:cNvPr id="28" name="Text 26"/>
          <p:cNvSpPr txBox="1"/>
          <p:nvPr/>
        </p:nvSpPr>
        <p:spPr>
          <a:xfrm>
            <a:off x="6912864" y="4663440"/>
            <a:ext cx="4401007" cy="256032"/>
          </a:xfrm>
          <a:prstGeom prst="rect">
            <a:avLst/>
          </a:prstGeom>
          <a:noFill/>
          <a:ln/>
        </p:spPr>
        <p:txBody>
          <a:bodyPr wrap="square" lIns="0" tIns="0" rIns="0" bIns="0" rtlCol="0" anchor="t"/>
          <a:lstStyle/>
          <a:p>
            <a:pPr algn="l" indent="0" marL="0">
              <a:lnSpc>
                <a:spcPct val="108000"/>
              </a:lnSpc>
              <a:buNone/>
            </a:pPr>
            <a:r>
              <a:rPr lang="en-US" sz="950" dirty="0">
                <a:solidFill>
                  <a:srgbClr val="8A949D"/>
                </a:solidFill>
                <a:latin typeface="Calibri" pitchFamily="34" charset="0"/>
                <a:ea typeface="Calibri" pitchFamily="34" charset="-122"/>
                <a:cs typeface="Calibri" pitchFamily="34" charset="-120"/>
              </a:rPr>
              <a:t>Entries are append-only. Nothing in the trail can be edited or removed.</a:t>
            </a:r>
            <a:endParaRPr lang="en-US" sz="950" dirty="0"/>
          </a:p>
        </p:txBody>
      </p:sp>
      <p:sp>
        <p:nvSpPr>
          <p:cNvPr id="29" name="Shape 27"/>
          <p:cNvSpPr/>
          <p:nvPr/>
        </p:nvSpPr>
        <p:spPr>
          <a:xfrm>
            <a:off x="548640" y="4983480"/>
            <a:ext cx="11094415" cy="1234440"/>
          </a:xfrm>
          <a:prstGeom prst="roundRect">
            <a:avLst>
              <a:gd name="adj" fmla="val 4444"/>
            </a:avLst>
          </a:prstGeom>
          <a:solidFill>
            <a:srgbClr val="16191D"/>
          </a:solidFill>
          <a:ln/>
        </p:spPr>
      </p:sp>
      <p:sp>
        <p:nvSpPr>
          <p:cNvPr id="30" name="Text 28"/>
          <p:cNvSpPr txBox="1"/>
          <p:nvPr/>
        </p:nvSpPr>
        <p:spPr>
          <a:xfrm>
            <a:off x="868680" y="5193792"/>
            <a:ext cx="36576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THE PROBLEM IT SOLVES</a:t>
            </a:r>
            <a:endParaRPr lang="en-US" sz="1050" dirty="0"/>
          </a:p>
        </p:txBody>
      </p:sp>
      <p:sp>
        <p:nvSpPr>
          <p:cNvPr id="31" name="Text 29"/>
          <p:cNvSpPr txBox="1"/>
          <p:nvPr/>
        </p:nvSpPr>
        <p:spPr>
          <a:xfrm>
            <a:off x="868680" y="5468112"/>
            <a:ext cx="10454335" cy="548640"/>
          </a:xfrm>
          <a:prstGeom prst="rect">
            <a:avLst/>
          </a:prstGeom>
          <a:noFill/>
          <a:ln/>
        </p:spPr>
        <p:txBody>
          <a:bodyPr wrap="square" lIns="0" tIns="0" rIns="0" bIns="0" rtlCol="0" anchor="t"/>
          <a:lstStyle/>
          <a:p>
            <a:pPr algn="l" indent="0" marL="0">
              <a:lnSpc>
                <a:spcPct val="110000"/>
              </a:lnSpc>
              <a:buNone/>
            </a:pPr>
            <a:r>
              <a:rPr lang="en-US" sz="1250" dirty="0">
                <a:solidFill>
                  <a:srgbClr val="FFFFFF"/>
                </a:solidFill>
                <a:latin typeface="Calibri" pitchFamily="34" charset="0"/>
                <a:ea typeface="Calibri" pitchFamily="34" charset="-122"/>
                <a:cs typeface="Calibri" pitchFamily="34" charset="-120"/>
              </a:rPr>
              <a:t>Compliance review becomes possible after the fact, for DOLE, for the client, and for internal dispute resolution.</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CORE FEATURES · 6.2 PROTOTYPE DESIGN</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Interface Prototype</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32</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Text 4"/>
          <p:cNvSpPr txBox="1"/>
          <p:nvPr/>
        </p:nvSpPr>
        <p:spPr>
          <a:xfrm>
            <a:off x="548640" y="1371600"/>
            <a:ext cx="576072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DESIGN APPROACH</a:t>
            </a:r>
            <a:endParaRPr lang="en-US" sz="1050" dirty="0"/>
          </a:p>
        </p:txBody>
      </p:sp>
      <p:sp>
        <p:nvSpPr>
          <p:cNvPr id="7" name="Text 5"/>
          <p:cNvSpPr txBox="1"/>
          <p:nvPr/>
        </p:nvSpPr>
        <p:spPr>
          <a:xfrm>
            <a:off x="548640" y="1700784"/>
            <a:ext cx="5760720" cy="3108960"/>
          </a:xfrm>
          <a:prstGeom prst="rect">
            <a:avLst/>
          </a:prstGeom>
          <a:noFill/>
          <a:ln/>
        </p:spPr>
        <p:txBody>
          <a:bodyPr wrap="square" lIns="0" tIns="0" rIns="0" bIns="0" rtlCol="0" anchor="ctr"/>
          <a:lstStyle/>
          <a:p>
            <a:pPr marL="342900" indent="-342900">
              <a:lnSpc>
                <a:spcPct val="105000"/>
              </a:lnSpc>
              <a:spcAft>
                <a:spcPts val="1200"/>
              </a:spcAft>
              <a:buSzPct val="100000"/>
              <a:buChar char="▪"/>
            </a:pPr>
            <a:r>
              <a:rPr lang="en-US" sz="1250" dirty="0">
                <a:solidFill>
                  <a:srgbClr val="5A656F"/>
                </a:solidFill>
                <a:latin typeface="Calibri" pitchFamily="34" charset="0"/>
                <a:ea typeface="Calibri" pitchFamily="34" charset="-122"/>
                <a:cs typeface="Calibri" pitchFamily="34" charset="-120"/>
              </a:rPr>
              <a:t>Thirteen screens drawn against one shared design system, so the web portal and the mobile app read as a single product.</a:t>
            </a:r>
            <a:endParaRPr lang="en-US" sz="1250" dirty="0"/>
          </a:p>
          <a:p>
            <a:pPr marL="342900" indent="-342900">
              <a:lnSpc>
                <a:spcPct val="105000"/>
              </a:lnSpc>
              <a:spcAft>
                <a:spcPts val="1200"/>
              </a:spcAft>
              <a:buSzPct val="100000"/>
              <a:buChar char="▪"/>
            </a:pPr>
            <a:r>
              <a:rPr lang="en-US" sz="1250" dirty="0">
                <a:solidFill>
                  <a:srgbClr val="5A656F"/>
                </a:solidFill>
                <a:latin typeface="Calibri" pitchFamily="34" charset="0"/>
                <a:ea typeface="Calibri" pitchFamily="34" charset="-122"/>
                <a:cs typeface="Calibri" pitchFamily="34" charset="-120"/>
              </a:rPr>
              <a:t>Every screen is tied to a use case. Nothing was designed that UC-01 to UC-10 does not call for.</a:t>
            </a:r>
            <a:endParaRPr lang="en-US" sz="1250" dirty="0"/>
          </a:p>
          <a:p>
            <a:pPr marL="342900" indent="-342900">
              <a:lnSpc>
                <a:spcPct val="105000"/>
              </a:lnSpc>
              <a:spcAft>
                <a:spcPts val="1200"/>
              </a:spcAft>
              <a:buSzPct val="100000"/>
              <a:buChar char="▪"/>
            </a:pPr>
            <a:r>
              <a:rPr lang="en-US" sz="1250" dirty="0">
                <a:solidFill>
                  <a:srgbClr val="5A656F"/>
                </a:solidFill>
                <a:latin typeface="Calibri" pitchFamily="34" charset="0"/>
                <a:ea typeface="Calibri" pitchFamily="34" charset="-122"/>
                <a:cs typeface="Calibri" pitchFamily="34" charset="-120"/>
              </a:rPr>
              <a:t>Mobile screens assume gloved hands, direct sunlight and one-handed use while standing at a site.</a:t>
            </a:r>
            <a:endParaRPr lang="en-US" sz="1250" dirty="0"/>
          </a:p>
          <a:p>
            <a:pPr marL="342900" indent="-342900">
              <a:lnSpc>
                <a:spcPct val="105000"/>
              </a:lnSpc>
              <a:spcAft>
                <a:spcPts val="1200"/>
              </a:spcAft>
              <a:buSzPct val="100000"/>
              <a:buChar char="▪"/>
            </a:pPr>
            <a:r>
              <a:rPr lang="en-US" sz="1250" dirty="0">
                <a:solidFill>
                  <a:srgbClr val="5A656F"/>
                </a:solidFill>
                <a:latin typeface="Calibri" pitchFamily="34" charset="0"/>
                <a:ea typeface="Calibri" pitchFamily="34" charset="-122"/>
                <a:cs typeface="Calibri" pitchFamily="34" charset="-120"/>
              </a:rPr>
              <a:t>Field screens always state connection status and what is still held on the phone, in plain language rather than system terms.</a:t>
            </a:r>
            <a:endParaRPr lang="en-US" sz="1250" dirty="0"/>
          </a:p>
        </p:txBody>
      </p:sp>
      <p:sp>
        <p:nvSpPr>
          <p:cNvPr id="8" name="Shape 6"/>
          <p:cNvSpPr/>
          <p:nvPr/>
        </p:nvSpPr>
        <p:spPr>
          <a:xfrm>
            <a:off x="548640" y="5029200"/>
            <a:ext cx="5760720" cy="1143000"/>
          </a:xfrm>
          <a:prstGeom prst="roundRect">
            <a:avLst>
              <a:gd name="adj" fmla="val 4800"/>
            </a:avLst>
          </a:prstGeom>
          <a:solidFill>
            <a:srgbClr val="FDF1DA"/>
          </a:solidFill>
          <a:ln/>
        </p:spPr>
      </p:sp>
      <p:sp>
        <p:nvSpPr>
          <p:cNvPr id="9" name="Text 7"/>
          <p:cNvSpPr txBox="1"/>
          <p:nvPr/>
        </p:nvSpPr>
        <p:spPr>
          <a:xfrm>
            <a:off x="822960" y="5230368"/>
            <a:ext cx="5212080" cy="777240"/>
          </a:xfrm>
          <a:prstGeom prst="rect">
            <a:avLst/>
          </a:prstGeom>
          <a:noFill/>
          <a:ln/>
        </p:spPr>
        <p:txBody>
          <a:bodyPr wrap="square" lIns="0" tIns="0" rIns="0" bIns="0" rtlCol="0" anchor="t"/>
          <a:lstStyle/>
          <a:p>
            <a:pPr algn="l" indent="0" marL="0">
              <a:lnSpc>
                <a:spcPct val="110000"/>
              </a:lnSpc>
              <a:buNone/>
            </a:pPr>
            <a:r>
              <a:rPr lang="en-US" sz="1150" dirty="0">
                <a:solidFill>
                  <a:srgbClr val="16191D"/>
                </a:solidFill>
                <a:latin typeface="Calibri" pitchFamily="34" charset="0"/>
                <a:ea typeface="Calibri" pitchFamily="34" charset="-122"/>
                <a:cs typeface="Calibri" pitchFamily="34" charset="-120"/>
              </a:rPr>
              <a:t>These are working HTML prototypes, not static mock-ups. The web screens and the mobile screens shown next are the ones being built against.</a:t>
            </a:r>
            <a:endParaRPr lang="en-US" sz="1150" dirty="0"/>
          </a:p>
        </p:txBody>
      </p:sp>
      <p:sp>
        <p:nvSpPr>
          <p:cNvPr id="10" name="Shape 8"/>
          <p:cNvSpPr/>
          <p:nvPr/>
        </p:nvSpPr>
        <p:spPr>
          <a:xfrm>
            <a:off x="6583680" y="1371600"/>
            <a:ext cx="5059375" cy="4800600"/>
          </a:xfrm>
          <a:prstGeom prst="roundRect">
            <a:avLst>
              <a:gd name="adj" fmla="val 1143"/>
            </a:avLst>
          </a:prstGeom>
          <a:solidFill>
            <a:srgbClr val="FFFFFF"/>
          </a:solidFill>
          <a:ln w="12700">
            <a:solidFill>
              <a:srgbClr val="DCD7D0"/>
            </a:solidFill>
            <a:prstDash val="solid"/>
          </a:ln>
        </p:spPr>
      </p:sp>
      <p:sp>
        <p:nvSpPr>
          <p:cNvPr id="11" name="Shape 9"/>
          <p:cNvSpPr/>
          <p:nvPr/>
        </p:nvSpPr>
        <p:spPr>
          <a:xfrm>
            <a:off x="6876288" y="1627632"/>
            <a:ext cx="2057400" cy="274320"/>
          </a:xfrm>
          <a:prstGeom prst="roundRect">
            <a:avLst>
              <a:gd name="adj" fmla="val 40000"/>
            </a:avLst>
          </a:prstGeom>
          <a:solidFill>
            <a:srgbClr val="2A3138"/>
          </a:solidFill>
          <a:ln/>
        </p:spPr>
      </p:sp>
      <p:sp>
        <p:nvSpPr>
          <p:cNvPr id="12" name="Text 10"/>
          <p:cNvSpPr txBox="1"/>
          <p:nvPr/>
        </p:nvSpPr>
        <p:spPr>
          <a:xfrm>
            <a:off x="6876288" y="1627632"/>
            <a:ext cx="2057400" cy="27432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WEB PORTAL · 7 SCREENS</a:t>
            </a:r>
            <a:endParaRPr lang="en-US" sz="900" dirty="0"/>
          </a:p>
        </p:txBody>
      </p:sp>
      <p:sp>
        <p:nvSpPr>
          <p:cNvPr id="13" name="Shape 11"/>
          <p:cNvSpPr/>
          <p:nvPr/>
        </p:nvSpPr>
        <p:spPr>
          <a:xfrm>
            <a:off x="6912864" y="2103120"/>
            <a:ext cx="100584" cy="100584"/>
          </a:xfrm>
          <a:prstGeom prst="ellipse">
            <a:avLst/>
          </a:prstGeom>
          <a:solidFill>
            <a:srgbClr val="F2A413"/>
          </a:solidFill>
          <a:ln/>
        </p:spPr>
      </p:sp>
      <p:sp>
        <p:nvSpPr>
          <p:cNvPr id="14" name="Text 12"/>
          <p:cNvSpPr txBox="1"/>
          <p:nvPr/>
        </p:nvSpPr>
        <p:spPr>
          <a:xfrm>
            <a:off x="7150608" y="2029968"/>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Login and Role Shell</a:t>
            </a:r>
            <a:endParaRPr lang="en-US" sz="1100" dirty="0"/>
          </a:p>
        </p:txBody>
      </p:sp>
      <p:sp>
        <p:nvSpPr>
          <p:cNvPr id="15" name="Shape 13"/>
          <p:cNvSpPr/>
          <p:nvPr/>
        </p:nvSpPr>
        <p:spPr>
          <a:xfrm>
            <a:off x="6912864" y="2368296"/>
            <a:ext cx="100584" cy="100584"/>
          </a:xfrm>
          <a:prstGeom prst="ellipse">
            <a:avLst/>
          </a:prstGeom>
          <a:solidFill>
            <a:srgbClr val="F2A413"/>
          </a:solidFill>
          <a:ln/>
        </p:spPr>
      </p:sp>
      <p:sp>
        <p:nvSpPr>
          <p:cNvPr id="16" name="Text 14"/>
          <p:cNvSpPr txBox="1"/>
          <p:nvPr/>
        </p:nvSpPr>
        <p:spPr>
          <a:xfrm>
            <a:off x="7150608" y="2295144"/>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Employee Records</a:t>
            </a:r>
            <a:endParaRPr lang="en-US" sz="1100" dirty="0"/>
          </a:p>
        </p:txBody>
      </p:sp>
      <p:sp>
        <p:nvSpPr>
          <p:cNvPr id="17" name="Shape 15"/>
          <p:cNvSpPr/>
          <p:nvPr/>
        </p:nvSpPr>
        <p:spPr>
          <a:xfrm>
            <a:off x="6912864" y="2633472"/>
            <a:ext cx="100584" cy="100584"/>
          </a:xfrm>
          <a:prstGeom prst="ellipse">
            <a:avLst/>
          </a:prstGeom>
          <a:solidFill>
            <a:srgbClr val="F2A413"/>
          </a:solidFill>
          <a:ln/>
        </p:spPr>
      </p:sp>
      <p:sp>
        <p:nvSpPr>
          <p:cNvPr id="18" name="Text 16"/>
          <p:cNvSpPr txBox="1"/>
          <p:nvPr/>
        </p:nvSpPr>
        <p:spPr>
          <a:xfrm>
            <a:off x="7150608" y="2560320"/>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Crew Builder — Manpower Allocation</a:t>
            </a:r>
            <a:endParaRPr lang="en-US" sz="1100" dirty="0"/>
          </a:p>
        </p:txBody>
      </p:sp>
      <p:sp>
        <p:nvSpPr>
          <p:cNvPr id="19" name="Shape 17"/>
          <p:cNvSpPr/>
          <p:nvPr/>
        </p:nvSpPr>
        <p:spPr>
          <a:xfrm>
            <a:off x="6912864" y="2898648"/>
            <a:ext cx="100584" cy="100584"/>
          </a:xfrm>
          <a:prstGeom prst="ellipse">
            <a:avLst/>
          </a:prstGeom>
          <a:solidFill>
            <a:srgbClr val="F2A413"/>
          </a:solidFill>
          <a:ln/>
        </p:spPr>
      </p:sp>
      <p:sp>
        <p:nvSpPr>
          <p:cNvPr id="20" name="Text 18"/>
          <p:cNvSpPr txBox="1"/>
          <p:nvPr/>
        </p:nvSpPr>
        <p:spPr>
          <a:xfrm>
            <a:off x="7150608" y="2825496"/>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Payroll Run</a:t>
            </a:r>
            <a:endParaRPr lang="en-US" sz="1100" dirty="0"/>
          </a:p>
        </p:txBody>
      </p:sp>
      <p:sp>
        <p:nvSpPr>
          <p:cNvPr id="21" name="Shape 19"/>
          <p:cNvSpPr/>
          <p:nvPr/>
        </p:nvSpPr>
        <p:spPr>
          <a:xfrm>
            <a:off x="6912864" y="3163824"/>
            <a:ext cx="100584" cy="100584"/>
          </a:xfrm>
          <a:prstGeom prst="ellipse">
            <a:avLst/>
          </a:prstGeom>
          <a:solidFill>
            <a:srgbClr val="F2A413"/>
          </a:solidFill>
          <a:ln/>
        </p:spPr>
      </p:sp>
      <p:sp>
        <p:nvSpPr>
          <p:cNvPr id="22" name="Text 20"/>
          <p:cNvSpPr txBox="1"/>
          <p:nvPr/>
        </p:nvSpPr>
        <p:spPr>
          <a:xfrm>
            <a:off x="7150608" y="3090672"/>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Executive Dashboard</a:t>
            </a:r>
            <a:endParaRPr lang="en-US" sz="1100" dirty="0"/>
          </a:p>
        </p:txBody>
      </p:sp>
      <p:sp>
        <p:nvSpPr>
          <p:cNvPr id="23" name="Shape 21"/>
          <p:cNvSpPr/>
          <p:nvPr/>
        </p:nvSpPr>
        <p:spPr>
          <a:xfrm>
            <a:off x="6912864" y="3429000"/>
            <a:ext cx="100584" cy="100584"/>
          </a:xfrm>
          <a:prstGeom prst="ellipse">
            <a:avLst/>
          </a:prstGeom>
          <a:solidFill>
            <a:srgbClr val="F2A413"/>
          </a:solidFill>
          <a:ln/>
        </p:spPr>
      </p:sp>
      <p:sp>
        <p:nvSpPr>
          <p:cNvPr id="24" name="Text 22"/>
          <p:cNvSpPr txBox="1"/>
          <p:nvPr/>
        </p:nvSpPr>
        <p:spPr>
          <a:xfrm>
            <a:off x="7150608" y="3355848"/>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Late Override Audit</a:t>
            </a:r>
            <a:endParaRPr lang="en-US" sz="1100" dirty="0"/>
          </a:p>
        </p:txBody>
      </p:sp>
      <p:sp>
        <p:nvSpPr>
          <p:cNvPr id="25" name="Shape 23"/>
          <p:cNvSpPr/>
          <p:nvPr/>
        </p:nvSpPr>
        <p:spPr>
          <a:xfrm>
            <a:off x="6912864" y="3694176"/>
            <a:ext cx="100584" cy="100584"/>
          </a:xfrm>
          <a:prstGeom prst="ellipse">
            <a:avLst/>
          </a:prstGeom>
          <a:solidFill>
            <a:srgbClr val="F2A413"/>
          </a:solidFill>
          <a:ln/>
        </p:spPr>
      </p:sp>
      <p:sp>
        <p:nvSpPr>
          <p:cNvPr id="26" name="Text 24"/>
          <p:cNvSpPr txBox="1"/>
          <p:nvPr/>
        </p:nvSpPr>
        <p:spPr>
          <a:xfrm>
            <a:off x="7150608" y="3621024"/>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Attendance Recovery Sign-off</a:t>
            </a:r>
            <a:endParaRPr lang="en-US" sz="1100" dirty="0"/>
          </a:p>
        </p:txBody>
      </p:sp>
      <p:sp>
        <p:nvSpPr>
          <p:cNvPr id="27" name="Shape 25"/>
          <p:cNvSpPr/>
          <p:nvPr/>
        </p:nvSpPr>
        <p:spPr>
          <a:xfrm>
            <a:off x="6876288" y="4041648"/>
            <a:ext cx="1874520" cy="274320"/>
          </a:xfrm>
          <a:prstGeom prst="roundRect">
            <a:avLst>
              <a:gd name="adj" fmla="val 40000"/>
            </a:avLst>
          </a:prstGeom>
          <a:solidFill>
            <a:srgbClr val="F2A413"/>
          </a:solidFill>
          <a:ln/>
        </p:spPr>
      </p:sp>
      <p:sp>
        <p:nvSpPr>
          <p:cNvPr id="28" name="Text 26"/>
          <p:cNvSpPr txBox="1"/>
          <p:nvPr/>
        </p:nvSpPr>
        <p:spPr>
          <a:xfrm>
            <a:off x="6876288" y="4041648"/>
            <a:ext cx="1874520" cy="274320"/>
          </a:xfrm>
          <a:prstGeom prst="rect">
            <a:avLst/>
          </a:prstGeom>
          <a:noFill/>
          <a:ln/>
        </p:spPr>
        <p:txBody>
          <a:bodyPr wrap="square" lIns="0" tIns="0" rIns="0" bIns="0" rtlCol="0" anchor="ctr"/>
          <a:lstStyle/>
          <a:p>
            <a:pPr algn="ctr" indent="0" marL="0">
              <a:buNone/>
            </a:pPr>
            <a:r>
              <a:rPr lang="en-US" sz="900" b="1" dirty="0">
                <a:solidFill>
                  <a:srgbClr val="16191D"/>
                </a:solidFill>
                <a:latin typeface="Calibri" pitchFamily="34" charset="0"/>
                <a:ea typeface="Calibri" pitchFamily="34" charset="-122"/>
                <a:cs typeface="Calibri" pitchFamily="34" charset="-120"/>
              </a:rPr>
              <a:t>MOBILE · 6 SCREENS</a:t>
            </a:r>
            <a:endParaRPr lang="en-US" sz="900" dirty="0"/>
          </a:p>
        </p:txBody>
      </p:sp>
      <p:sp>
        <p:nvSpPr>
          <p:cNvPr id="29" name="Shape 27"/>
          <p:cNvSpPr/>
          <p:nvPr/>
        </p:nvSpPr>
        <p:spPr>
          <a:xfrm>
            <a:off x="6912864" y="4517136"/>
            <a:ext cx="100584" cy="100584"/>
          </a:xfrm>
          <a:prstGeom prst="ellipse">
            <a:avLst/>
          </a:prstGeom>
          <a:solidFill>
            <a:srgbClr val="F2A413"/>
          </a:solidFill>
          <a:ln/>
        </p:spPr>
      </p:sp>
      <p:sp>
        <p:nvSpPr>
          <p:cNvPr id="30" name="Text 28"/>
          <p:cNvSpPr txBox="1"/>
          <p:nvPr/>
        </p:nvSpPr>
        <p:spPr>
          <a:xfrm>
            <a:off x="7150608" y="4443984"/>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Foreman Home</a:t>
            </a:r>
            <a:endParaRPr lang="en-US" sz="1100" dirty="0"/>
          </a:p>
        </p:txBody>
      </p:sp>
      <p:sp>
        <p:nvSpPr>
          <p:cNvPr id="31" name="Shape 29"/>
          <p:cNvSpPr/>
          <p:nvPr/>
        </p:nvSpPr>
        <p:spPr>
          <a:xfrm>
            <a:off x="6912864" y="4782312"/>
            <a:ext cx="100584" cy="100584"/>
          </a:xfrm>
          <a:prstGeom prst="ellipse">
            <a:avLst/>
          </a:prstGeom>
          <a:solidFill>
            <a:srgbClr val="F2A413"/>
          </a:solidFill>
          <a:ln/>
        </p:spPr>
      </p:sp>
      <p:sp>
        <p:nvSpPr>
          <p:cNvPr id="32" name="Text 30"/>
          <p:cNvSpPr txBox="1"/>
          <p:nvPr/>
        </p:nvSpPr>
        <p:spPr>
          <a:xfrm>
            <a:off x="7150608" y="4709160"/>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Roll Call</a:t>
            </a:r>
            <a:endParaRPr lang="en-US" sz="1100" dirty="0"/>
          </a:p>
        </p:txBody>
      </p:sp>
      <p:sp>
        <p:nvSpPr>
          <p:cNvPr id="33" name="Shape 31"/>
          <p:cNvSpPr/>
          <p:nvPr/>
        </p:nvSpPr>
        <p:spPr>
          <a:xfrm>
            <a:off x="6912864" y="5047488"/>
            <a:ext cx="100584" cy="100584"/>
          </a:xfrm>
          <a:prstGeom prst="ellipse">
            <a:avLst/>
          </a:prstGeom>
          <a:solidFill>
            <a:srgbClr val="F2A413"/>
          </a:solidFill>
          <a:ln/>
        </p:spPr>
      </p:sp>
      <p:sp>
        <p:nvSpPr>
          <p:cNvPr id="34" name="Text 32"/>
          <p:cNvSpPr txBox="1"/>
          <p:nvPr/>
        </p:nvSpPr>
        <p:spPr>
          <a:xfrm>
            <a:off x="7150608" y="4974336"/>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Sync Queue</a:t>
            </a:r>
            <a:endParaRPr lang="en-US" sz="1100" dirty="0"/>
          </a:p>
        </p:txBody>
      </p:sp>
      <p:sp>
        <p:nvSpPr>
          <p:cNvPr id="35" name="Shape 33"/>
          <p:cNvSpPr/>
          <p:nvPr/>
        </p:nvSpPr>
        <p:spPr>
          <a:xfrm>
            <a:off x="6912864" y="5312664"/>
            <a:ext cx="100584" cy="100584"/>
          </a:xfrm>
          <a:prstGeom prst="ellipse">
            <a:avLst/>
          </a:prstGeom>
          <a:solidFill>
            <a:srgbClr val="F2A413"/>
          </a:solidFill>
          <a:ln/>
        </p:spPr>
      </p:sp>
      <p:sp>
        <p:nvSpPr>
          <p:cNvPr id="36" name="Text 34"/>
          <p:cNvSpPr txBox="1"/>
          <p:nvPr/>
        </p:nvSpPr>
        <p:spPr>
          <a:xfrm>
            <a:off x="7150608" y="5239512"/>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Device Binding</a:t>
            </a:r>
            <a:endParaRPr lang="en-US" sz="1100" dirty="0"/>
          </a:p>
        </p:txBody>
      </p:sp>
      <p:sp>
        <p:nvSpPr>
          <p:cNvPr id="37" name="Shape 35"/>
          <p:cNvSpPr/>
          <p:nvPr/>
        </p:nvSpPr>
        <p:spPr>
          <a:xfrm>
            <a:off x="6912864" y="5577840"/>
            <a:ext cx="100584" cy="100584"/>
          </a:xfrm>
          <a:prstGeom prst="ellipse">
            <a:avLst/>
          </a:prstGeom>
          <a:solidFill>
            <a:srgbClr val="F2A413"/>
          </a:solidFill>
          <a:ln/>
        </p:spPr>
      </p:sp>
      <p:sp>
        <p:nvSpPr>
          <p:cNvPr id="38" name="Text 36"/>
          <p:cNvSpPr txBox="1"/>
          <p:nvPr/>
        </p:nvSpPr>
        <p:spPr>
          <a:xfrm>
            <a:off x="7150608" y="5504688"/>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Request Form — Overtime and Leave</a:t>
            </a:r>
            <a:endParaRPr lang="en-US" sz="1100" dirty="0"/>
          </a:p>
        </p:txBody>
      </p:sp>
      <p:sp>
        <p:nvSpPr>
          <p:cNvPr id="39" name="Shape 37"/>
          <p:cNvSpPr/>
          <p:nvPr/>
        </p:nvSpPr>
        <p:spPr>
          <a:xfrm>
            <a:off x="6912864" y="5843016"/>
            <a:ext cx="100584" cy="100584"/>
          </a:xfrm>
          <a:prstGeom prst="ellipse">
            <a:avLst/>
          </a:prstGeom>
          <a:solidFill>
            <a:srgbClr val="F2A413"/>
          </a:solidFill>
          <a:ln/>
        </p:spPr>
      </p:sp>
      <p:sp>
        <p:nvSpPr>
          <p:cNvPr id="40" name="Text 38"/>
          <p:cNvSpPr txBox="1"/>
          <p:nvPr/>
        </p:nvSpPr>
        <p:spPr>
          <a:xfrm>
            <a:off x="7150608" y="5769864"/>
            <a:ext cx="4190695" cy="237744"/>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Acting Foreman Re-assignment</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PROTOTYPE · WEB PORTAL</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Sign-in, Role Shell and Employee Records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33</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Shape 4"/>
          <p:cNvSpPr/>
          <p:nvPr/>
        </p:nvSpPr>
        <p:spPr>
          <a:xfrm>
            <a:off x="644290" y="1435608"/>
            <a:ext cx="5268673" cy="3566160"/>
          </a:xfrm>
          <a:prstGeom prst="rect">
            <a:avLst/>
          </a:prstGeom>
          <a:solidFill>
            <a:srgbClr val="FFFFFF"/>
          </a:solidFill>
          <a:ln w="12700">
            <a:solidFill>
              <a:srgbClr val="DCD7D0"/>
            </a:solidFill>
            <a:prstDash val="solid"/>
          </a:ln>
        </p:spPr>
      </p:sp>
      <p:pic>
        <p:nvPicPr>
          <p:cNvPr id="7" name="Image 0" descr="C:\Users\Melva Portes\AppData\Local\Temp\claude\C--projects-capstone-hris\182000bb-a31f-4b93-902f-0570dbf9396e\scratchpad\shots\login-and-role-shell.png">    </p:cNvPr>
          <p:cNvPicPr>
            <a:picLocks noChangeAspect="1"/>
          </p:cNvPicPr>
          <p:nvPr/>
        </p:nvPicPr>
        <p:blipFill>
          <a:blip r:embed="rId1"/>
          <a:stretch>
            <a:fillRect/>
          </a:stretch>
        </p:blipFill>
        <p:spPr>
          <a:xfrm>
            <a:off x="690010" y="1481328"/>
            <a:ext cx="5177233" cy="3474720"/>
          </a:xfrm>
          <a:prstGeom prst="rect">
            <a:avLst/>
          </a:prstGeom>
        </p:spPr>
      </p:pic>
      <p:sp>
        <p:nvSpPr>
          <p:cNvPr id="8" name="Shape 5"/>
          <p:cNvSpPr/>
          <p:nvPr/>
        </p:nvSpPr>
        <p:spPr>
          <a:xfrm>
            <a:off x="6233004" y="1435608"/>
            <a:ext cx="5314401" cy="3566160"/>
          </a:xfrm>
          <a:prstGeom prst="rect">
            <a:avLst/>
          </a:prstGeom>
          <a:solidFill>
            <a:srgbClr val="FFFFFF"/>
          </a:solidFill>
          <a:ln w="12700">
            <a:solidFill>
              <a:srgbClr val="DCD7D0"/>
            </a:solidFill>
            <a:prstDash val="solid"/>
          </a:ln>
        </p:spPr>
      </p:sp>
      <p:pic>
        <p:nvPicPr>
          <p:cNvPr id="9" name="Image 1" descr="C:\Users\Melva Portes\AppData\Local\Temp\claude\C--projects-capstone-hris\182000bb-a31f-4b93-902f-0570dbf9396e\scratchpad\shots\employee-records.png">    </p:cNvPr>
          <p:cNvPicPr>
            <a:picLocks noChangeAspect="1"/>
          </p:cNvPicPr>
          <p:nvPr/>
        </p:nvPicPr>
        <p:blipFill>
          <a:blip r:embed="rId2"/>
          <a:stretch>
            <a:fillRect/>
          </a:stretch>
        </p:blipFill>
        <p:spPr>
          <a:xfrm>
            <a:off x="6278724" y="1481328"/>
            <a:ext cx="5222961" cy="3474720"/>
          </a:xfrm>
          <a:prstGeom prst="rect">
            <a:avLst/>
          </a:prstGeom>
        </p:spPr>
      </p:pic>
      <p:sp>
        <p:nvSpPr>
          <p:cNvPr id="10" name="Text 6"/>
          <p:cNvSpPr txBox="1"/>
          <p:nvPr/>
        </p:nvSpPr>
        <p:spPr>
          <a:xfrm>
            <a:off x="690010" y="5138928"/>
            <a:ext cx="5177233"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Login and Role Shell</a:t>
            </a:r>
            <a:endParaRPr lang="en-US" sz="1350" dirty="0"/>
          </a:p>
        </p:txBody>
      </p:sp>
      <p:sp>
        <p:nvSpPr>
          <p:cNvPr id="11" name="Text 7"/>
          <p:cNvSpPr txBox="1"/>
          <p:nvPr/>
        </p:nvSpPr>
        <p:spPr>
          <a:xfrm>
            <a:off x="690010" y="5431536"/>
            <a:ext cx="5177233" cy="77724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One entry point for all five login-capable roles. What loads after sign-in is decided by the role, not by a separate app per role. Server reachability is shown before the user even tries to sign in.</a:t>
            </a:r>
            <a:endParaRPr lang="en-US" sz="1100" dirty="0"/>
          </a:p>
        </p:txBody>
      </p:sp>
      <p:sp>
        <p:nvSpPr>
          <p:cNvPr id="12" name="Text 8"/>
          <p:cNvSpPr txBox="1"/>
          <p:nvPr/>
        </p:nvSpPr>
        <p:spPr>
          <a:xfrm>
            <a:off x="6278724" y="5138928"/>
            <a:ext cx="5222961"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Employee Records</a:t>
            </a:r>
            <a:endParaRPr lang="en-US" sz="1350" dirty="0"/>
          </a:p>
        </p:txBody>
      </p:sp>
      <p:sp>
        <p:nvSpPr>
          <p:cNvPr id="13" name="Text 9"/>
          <p:cNvSpPr txBox="1"/>
          <p:nvPr/>
        </p:nvSpPr>
        <p:spPr>
          <a:xfrm>
            <a:off x="6278724" y="5431536"/>
            <a:ext cx="5222961" cy="77724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201 active workers, filtered by role, project site, employment status and certification expiry. Certification state is a first-class filter because an expired certificate blocks crew assignment.</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PROTOTYPE · WEB PORTAL</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Crew Builder — Manpower Allocation</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34</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Shape 4"/>
          <p:cNvSpPr/>
          <p:nvPr/>
        </p:nvSpPr>
        <p:spPr>
          <a:xfrm>
            <a:off x="502920" y="1417320"/>
            <a:ext cx="5899846" cy="4407408"/>
          </a:xfrm>
          <a:prstGeom prst="rect">
            <a:avLst/>
          </a:prstGeom>
          <a:solidFill>
            <a:srgbClr val="FFFFFF"/>
          </a:solidFill>
          <a:ln w="12700">
            <a:solidFill>
              <a:srgbClr val="DCD7D0"/>
            </a:solidFill>
            <a:prstDash val="solid"/>
          </a:ln>
        </p:spPr>
      </p:sp>
      <p:pic>
        <p:nvPicPr>
          <p:cNvPr id="7" name="Image 0" descr="C:\Users\Melva Portes\AppData\Local\Temp\claude\C--projects-capstone-hris\182000bb-a31f-4b93-902f-0570dbf9396e\scratchpad\shots\crew-builder.png">    </p:cNvPr>
          <p:cNvPicPr>
            <a:picLocks noChangeAspect="1"/>
          </p:cNvPicPr>
          <p:nvPr/>
        </p:nvPicPr>
        <p:blipFill>
          <a:blip r:embed="rId1"/>
          <a:stretch>
            <a:fillRect/>
          </a:stretch>
        </p:blipFill>
        <p:spPr>
          <a:xfrm>
            <a:off x="548640" y="1463040"/>
            <a:ext cx="5808406" cy="4315968"/>
          </a:xfrm>
          <a:prstGeom prst="rect">
            <a:avLst/>
          </a:prstGeom>
        </p:spPr>
      </p:pic>
      <p:sp>
        <p:nvSpPr>
          <p:cNvPr id="8" name="Text 5"/>
          <p:cNvSpPr txBox="1"/>
          <p:nvPr/>
        </p:nvSpPr>
        <p:spPr>
          <a:xfrm>
            <a:off x="6903720" y="1463040"/>
            <a:ext cx="4739335"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THE SCREEN ENFORCES</a:t>
            </a:r>
            <a:endParaRPr lang="en-US" sz="1050" dirty="0"/>
          </a:p>
        </p:txBody>
      </p:sp>
      <p:sp>
        <p:nvSpPr>
          <p:cNvPr id="9" name="Text 6"/>
          <p:cNvSpPr txBox="1"/>
          <p:nvPr/>
        </p:nvSpPr>
        <p:spPr>
          <a:xfrm>
            <a:off x="6903720" y="1783080"/>
            <a:ext cx="4739335" cy="3246120"/>
          </a:xfrm>
          <a:prstGeom prst="rect">
            <a:avLst/>
          </a:prstGeom>
          <a:noFill/>
          <a:ln/>
        </p:spPr>
        <p:txBody>
          <a:bodyPr wrap="square" lIns="0" tIns="0" rIns="0" bIns="0" rtlCol="0" anchor="ctr"/>
          <a:lstStyle/>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The available pool sits on the left, the crew being built on the right, with assign and remove between them.</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Workers with expired certificates or on approved leave cannot be selected. The rule is enforced in the interface, not only on save.</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Naming a foreman who already leads another crew warns that the other crew will drop to an acting foreman.</a:t>
            </a:r>
            <a:endParaRPr lang="en-US" sz="1150" dirty="0"/>
          </a:p>
          <a:p>
            <a:pPr marL="342900" indent="-342900">
              <a:lnSpc>
                <a:spcPct val="105000"/>
              </a:lnSpc>
              <a:spcAft>
                <a:spcPts val="1000"/>
              </a:spcAft>
              <a:buSzPct val="100000"/>
              <a:buChar char="▪"/>
            </a:pPr>
            <a:r>
              <a:rPr lang="en-US" sz="1150" dirty="0">
                <a:solidFill>
                  <a:srgbClr val="5A656F"/>
                </a:solidFill>
                <a:latin typeface="Calibri" pitchFamily="34" charset="0"/>
                <a:ea typeface="Calibri" pitchFamily="34" charset="-122"/>
                <a:cs typeface="Calibri" pitchFamily="34" charset="-120"/>
              </a:rPr>
              <a:t>Crew size is tracked against a target, so an under-manned deployment is visible before it is saved.</a:t>
            </a:r>
            <a:endParaRPr lang="en-US" sz="1150" dirty="0"/>
          </a:p>
        </p:txBody>
      </p:sp>
      <p:sp>
        <p:nvSpPr>
          <p:cNvPr id="10" name="Shape 7"/>
          <p:cNvSpPr/>
          <p:nvPr/>
        </p:nvSpPr>
        <p:spPr>
          <a:xfrm>
            <a:off x="6903720" y="5138928"/>
            <a:ext cx="4739335" cy="1051560"/>
          </a:xfrm>
          <a:prstGeom prst="roundRect">
            <a:avLst>
              <a:gd name="adj" fmla="val 5217"/>
            </a:avLst>
          </a:prstGeom>
          <a:solidFill>
            <a:srgbClr val="16191D"/>
          </a:solidFill>
          <a:ln/>
        </p:spPr>
      </p:sp>
      <p:sp>
        <p:nvSpPr>
          <p:cNvPr id="11" name="Text 8"/>
          <p:cNvSpPr txBox="1"/>
          <p:nvPr/>
        </p:nvSpPr>
        <p:spPr>
          <a:xfrm>
            <a:off x="7159752" y="5321808"/>
            <a:ext cx="4227271" cy="713232"/>
          </a:xfrm>
          <a:prstGeom prst="rect">
            <a:avLst/>
          </a:prstGeom>
          <a:noFill/>
          <a:ln/>
        </p:spPr>
        <p:txBody>
          <a:bodyPr wrap="square" lIns="0" tIns="0" rIns="0" bIns="0" rtlCol="0" anchor="t"/>
          <a:lstStyle/>
          <a:p>
            <a:pPr algn="l" indent="0" marL="0">
              <a:lnSpc>
                <a:spcPct val="110000"/>
              </a:lnSpc>
              <a:buNone/>
            </a:pPr>
            <a:r>
              <a:rPr lang="en-US" sz="1100" dirty="0">
                <a:solidFill>
                  <a:srgbClr val="FFFFFF"/>
                </a:solidFill>
                <a:latin typeface="Calibri" pitchFamily="34" charset="0"/>
                <a:ea typeface="Calibri" pitchFamily="34" charset="-122"/>
                <a:cs typeface="Calibri" pitchFamily="34" charset="-120"/>
              </a:rPr>
              <a:t>Deploying the crew notifies the assigned foreman, which is the step that pushes the roster onto the phone.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PROTOTYPE · MOBILE APP</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The Foreman's Daily Screens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35</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Text 4"/>
          <p:cNvSpPr txBox="1"/>
          <p:nvPr/>
        </p:nvSpPr>
        <p:spPr>
          <a:xfrm>
            <a:off x="548640" y="1371600"/>
            <a:ext cx="489204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DESIGNED FOR THE SITE, NOT THE OFFICE</a:t>
            </a:r>
            <a:endParaRPr lang="en-US" sz="1050" dirty="0"/>
          </a:p>
        </p:txBody>
      </p:sp>
      <p:sp>
        <p:nvSpPr>
          <p:cNvPr id="7" name="Text 5"/>
          <p:cNvSpPr txBox="1"/>
          <p:nvPr/>
        </p:nvSpPr>
        <p:spPr>
          <a:xfrm>
            <a:off x="548640" y="1700784"/>
            <a:ext cx="4892040" cy="3383280"/>
          </a:xfrm>
          <a:prstGeom prst="rect">
            <a:avLst/>
          </a:prstGeom>
          <a:noFill/>
          <a:ln/>
        </p:spPr>
        <p:txBody>
          <a:bodyPr wrap="square" lIns="0" tIns="0" rIns="0" bIns="0" rtlCol="0" anchor="ctr"/>
          <a:lstStyle/>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Home opens on today's roll call: 31 of 38 marked, 27 present, 3 late, 1 absent, and one button to continue.</a:t>
            </a:r>
            <a:endParaRPr lang="en-US" sz="1150" dirty="0"/>
          </a:p>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Roll call is the three-choice tap list, with Undo on every marked worker and the offline duration shown at the top.</a:t>
            </a:r>
            <a:endParaRPr lang="en-US" sz="1150" dirty="0"/>
          </a:p>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Sync lists what is still held on the phone, oldest first, and states plainly that sending starts by itself.</a:t>
            </a:r>
            <a:endParaRPr lang="en-US" sz="1150" dirty="0"/>
          </a:p>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Every screen says whether the device is online and how many records are pending, in words a foreman can act on.</a:t>
            </a:r>
            <a:endParaRPr lang="en-US" sz="1150" dirty="0"/>
          </a:p>
        </p:txBody>
      </p:sp>
      <p:sp>
        <p:nvSpPr>
          <p:cNvPr id="8" name="Shape 6"/>
          <p:cNvSpPr/>
          <p:nvPr/>
        </p:nvSpPr>
        <p:spPr>
          <a:xfrm>
            <a:off x="548640" y="5230368"/>
            <a:ext cx="4892040" cy="960120"/>
          </a:xfrm>
          <a:prstGeom prst="roundRect">
            <a:avLst>
              <a:gd name="adj" fmla="val 5714"/>
            </a:avLst>
          </a:prstGeom>
          <a:solidFill>
            <a:srgbClr val="FDF1DA"/>
          </a:solidFill>
          <a:ln/>
        </p:spPr>
      </p:sp>
      <p:sp>
        <p:nvSpPr>
          <p:cNvPr id="9" name="Text 7"/>
          <p:cNvSpPr txBox="1"/>
          <p:nvPr/>
        </p:nvSpPr>
        <p:spPr>
          <a:xfrm>
            <a:off x="804672" y="5431536"/>
            <a:ext cx="4379976" cy="548640"/>
          </a:xfrm>
          <a:prstGeom prst="rect">
            <a:avLst/>
          </a:prstGeom>
          <a:noFill/>
          <a:ln/>
        </p:spPr>
        <p:txBody>
          <a:bodyPr wrap="square" lIns="0" tIns="0" rIns="0" bIns="0" rtlCol="0" anchor="t"/>
          <a:lstStyle/>
          <a:p>
            <a:pPr algn="l" indent="0" marL="0">
              <a:lnSpc>
                <a:spcPct val="110000"/>
              </a:lnSpc>
              <a:buNone/>
            </a:pPr>
            <a:r>
              <a:rPr lang="en-US" sz="1100" dirty="0">
                <a:solidFill>
                  <a:srgbClr val="16191D"/>
                </a:solidFill>
                <a:latin typeface="Calibri" pitchFamily="34" charset="0"/>
                <a:ea typeface="Calibri" pitchFamily="34" charset="-122"/>
                <a:cs typeface="Calibri" pitchFamily="34" charset="-120"/>
              </a:rPr>
              <a:t>“Saves to this phone. Nothing is lost if you close the app.” — wording from the actual screen.</a:t>
            </a:r>
            <a:endParaRPr lang="en-US" sz="1100" dirty="0"/>
          </a:p>
        </p:txBody>
      </p:sp>
      <p:sp>
        <p:nvSpPr>
          <p:cNvPr id="10" name="Shape 8"/>
          <p:cNvSpPr/>
          <p:nvPr/>
        </p:nvSpPr>
        <p:spPr>
          <a:xfrm>
            <a:off x="6155736" y="1417320"/>
            <a:ext cx="1625466" cy="3977640"/>
          </a:xfrm>
          <a:prstGeom prst="rect">
            <a:avLst/>
          </a:prstGeom>
          <a:solidFill>
            <a:srgbClr val="FFFFFF"/>
          </a:solidFill>
          <a:ln w="12700">
            <a:solidFill>
              <a:srgbClr val="DCD7D0"/>
            </a:solidFill>
            <a:prstDash val="solid"/>
          </a:ln>
        </p:spPr>
      </p:sp>
      <p:pic>
        <p:nvPicPr>
          <p:cNvPr id="11" name="Image 0" descr="C:\Users\Melva Portes\AppData\Local\Temp\claude\C--projects-capstone-hris\182000bb-a31f-4b93-902f-0570dbf9396e\scratchpad\shots\foreman-home.png">    </p:cNvPr>
          <p:cNvPicPr>
            <a:picLocks noChangeAspect="1"/>
          </p:cNvPicPr>
          <p:nvPr/>
        </p:nvPicPr>
        <p:blipFill>
          <a:blip r:embed="rId1"/>
          <a:stretch>
            <a:fillRect/>
          </a:stretch>
        </p:blipFill>
        <p:spPr>
          <a:xfrm>
            <a:off x="6201456" y="1463040"/>
            <a:ext cx="1534026" cy="3886200"/>
          </a:xfrm>
          <a:prstGeom prst="rect">
            <a:avLst/>
          </a:prstGeom>
        </p:spPr>
      </p:pic>
      <p:sp>
        <p:nvSpPr>
          <p:cNvPr id="12" name="Text 9"/>
          <p:cNvSpPr txBox="1"/>
          <p:nvPr/>
        </p:nvSpPr>
        <p:spPr>
          <a:xfrm>
            <a:off x="6018576" y="5477256"/>
            <a:ext cx="1899786" cy="274320"/>
          </a:xfrm>
          <a:prstGeom prst="rect">
            <a:avLst/>
          </a:prstGeom>
          <a:noFill/>
          <a:ln/>
        </p:spPr>
        <p:txBody>
          <a:bodyPr wrap="square" lIns="0" tIns="0" rIns="0" bIns="0" rtlCol="0" anchor="t"/>
          <a:lstStyle/>
          <a:p>
            <a:pPr algn="ctr" indent="0" marL="0">
              <a:lnSpc>
                <a:spcPct val="108000"/>
              </a:lnSpc>
              <a:buNone/>
            </a:pPr>
            <a:r>
              <a:rPr lang="en-US" sz="1000" dirty="0">
                <a:solidFill>
                  <a:srgbClr val="16191D"/>
                </a:solidFill>
                <a:latin typeface="Calibri" pitchFamily="34" charset="0"/>
                <a:ea typeface="Calibri" pitchFamily="34" charset="-122"/>
                <a:cs typeface="Calibri" pitchFamily="34" charset="-120"/>
              </a:rPr>
              <a:t>Home</a:t>
            </a:r>
            <a:endParaRPr lang="en-US" sz="1000" dirty="0"/>
          </a:p>
        </p:txBody>
      </p:sp>
      <p:sp>
        <p:nvSpPr>
          <p:cNvPr id="13" name="Shape 10"/>
          <p:cNvSpPr/>
          <p:nvPr/>
        </p:nvSpPr>
        <p:spPr>
          <a:xfrm>
            <a:off x="8146962" y="1417320"/>
            <a:ext cx="1129535" cy="3977640"/>
          </a:xfrm>
          <a:prstGeom prst="rect">
            <a:avLst/>
          </a:prstGeom>
          <a:solidFill>
            <a:srgbClr val="FFFFFF"/>
          </a:solidFill>
          <a:ln w="12700">
            <a:solidFill>
              <a:srgbClr val="DCD7D0"/>
            </a:solidFill>
            <a:prstDash val="solid"/>
          </a:ln>
        </p:spPr>
      </p:sp>
      <p:pic>
        <p:nvPicPr>
          <p:cNvPr id="14" name="Image 1" descr="C:\Users\Melva Portes\AppData\Local\Temp\claude\C--projects-capstone-hris\182000bb-a31f-4b93-902f-0570dbf9396e\scratchpad\shots\foreman-attendance-mobile.png">    </p:cNvPr>
          <p:cNvPicPr>
            <a:picLocks noChangeAspect="1"/>
          </p:cNvPicPr>
          <p:nvPr/>
        </p:nvPicPr>
        <p:blipFill>
          <a:blip r:embed="rId2"/>
          <a:stretch>
            <a:fillRect/>
          </a:stretch>
        </p:blipFill>
        <p:spPr>
          <a:xfrm>
            <a:off x="8192682" y="1463040"/>
            <a:ext cx="1038095" cy="3886200"/>
          </a:xfrm>
          <a:prstGeom prst="rect">
            <a:avLst/>
          </a:prstGeom>
        </p:spPr>
      </p:pic>
      <p:sp>
        <p:nvSpPr>
          <p:cNvPr id="15" name="Text 11"/>
          <p:cNvSpPr txBox="1"/>
          <p:nvPr/>
        </p:nvSpPr>
        <p:spPr>
          <a:xfrm>
            <a:off x="8009802" y="5477256"/>
            <a:ext cx="1403855" cy="274320"/>
          </a:xfrm>
          <a:prstGeom prst="rect">
            <a:avLst/>
          </a:prstGeom>
          <a:noFill/>
          <a:ln/>
        </p:spPr>
        <p:txBody>
          <a:bodyPr wrap="square" lIns="0" tIns="0" rIns="0" bIns="0" rtlCol="0" anchor="t"/>
          <a:lstStyle/>
          <a:p>
            <a:pPr algn="ctr" indent="0" marL="0">
              <a:lnSpc>
                <a:spcPct val="108000"/>
              </a:lnSpc>
              <a:buNone/>
            </a:pPr>
            <a:r>
              <a:rPr lang="en-US" sz="1000" dirty="0">
                <a:solidFill>
                  <a:srgbClr val="16191D"/>
                </a:solidFill>
                <a:latin typeface="Calibri" pitchFamily="34" charset="0"/>
                <a:ea typeface="Calibri" pitchFamily="34" charset="-122"/>
                <a:cs typeface="Calibri" pitchFamily="34" charset="-120"/>
              </a:rPr>
              <a:t>Roll Call</a:t>
            </a:r>
            <a:endParaRPr lang="en-US" sz="1000" dirty="0"/>
          </a:p>
        </p:txBody>
      </p:sp>
      <p:sp>
        <p:nvSpPr>
          <p:cNvPr id="16" name="Shape 12"/>
          <p:cNvSpPr/>
          <p:nvPr/>
        </p:nvSpPr>
        <p:spPr>
          <a:xfrm>
            <a:off x="9642257" y="1417320"/>
            <a:ext cx="1560062" cy="3977640"/>
          </a:xfrm>
          <a:prstGeom prst="rect">
            <a:avLst/>
          </a:prstGeom>
          <a:solidFill>
            <a:srgbClr val="FFFFFF"/>
          </a:solidFill>
          <a:ln w="12700">
            <a:solidFill>
              <a:srgbClr val="DCD7D0"/>
            </a:solidFill>
            <a:prstDash val="solid"/>
          </a:ln>
        </p:spPr>
      </p:sp>
      <p:pic>
        <p:nvPicPr>
          <p:cNvPr id="17" name="Image 2" descr="C:\Users\Melva Portes\AppData\Local\Temp\claude\C--projects-capstone-hris\182000bb-a31f-4b93-902f-0570dbf9396e\scratchpad\shots\foreman-sync-queue.png">    </p:cNvPr>
          <p:cNvPicPr>
            <a:picLocks noChangeAspect="1"/>
          </p:cNvPicPr>
          <p:nvPr/>
        </p:nvPicPr>
        <p:blipFill>
          <a:blip r:embed="rId3"/>
          <a:stretch>
            <a:fillRect/>
          </a:stretch>
        </p:blipFill>
        <p:spPr>
          <a:xfrm>
            <a:off x="9687977" y="1463040"/>
            <a:ext cx="1468622" cy="3886200"/>
          </a:xfrm>
          <a:prstGeom prst="rect">
            <a:avLst/>
          </a:prstGeom>
        </p:spPr>
      </p:pic>
      <p:sp>
        <p:nvSpPr>
          <p:cNvPr id="18" name="Text 13"/>
          <p:cNvSpPr txBox="1"/>
          <p:nvPr/>
        </p:nvSpPr>
        <p:spPr>
          <a:xfrm>
            <a:off x="9505097" y="5477256"/>
            <a:ext cx="1834382" cy="274320"/>
          </a:xfrm>
          <a:prstGeom prst="rect">
            <a:avLst/>
          </a:prstGeom>
          <a:noFill/>
          <a:ln/>
        </p:spPr>
        <p:txBody>
          <a:bodyPr wrap="square" lIns="0" tIns="0" rIns="0" bIns="0" rtlCol="0" anchor="t"/>
          <a:lstStyle/>
          <a:p>
            <a:pPr algn="ctr" indent="0" marL="0">
              <a:lnSpc>
                <a:spcPct val="108000"/>
              </a:lnSpc>
              <a:buNone/>
            </a:pPr>
            <a:r>
              <a:rPr lang="en-US" sz="1000" dirty="0">
                <a:solidFill>
                  <a:srgbClr val="16191D"/>
                </a:solidFill>
                <a:latin typeface="Calibri" pitchFamily="34" charset="0"/>
                <a:ea typeface="Calibri" pitchFamily="34" charset="-122"/>
                <a:cs typeface="Calibri" pitchFamily="34" charset="-120"/>
              </a:rPr>
              <a:t>Sync Queue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PROTOTYPE · MOBILE APP</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Setup, Requests and Covering an Absent Foreman</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36</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Text 4"/>
          <p:cNvSpPr txBox="1"/>
          <p:nvPr/>
        </p:nvSpPr>
        <p:spPr>
          <a:xfrm>
            <a:off x="548640" y="1371600"/>
            <a:ext cx="489204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THE SCREENS BEHIND THE EDGE CASES</a:t>
            </a:r>
            <a:endParaRPr lang="en-US" sz="1050" dirty="0"/>
          </a:p>
        </p:txBody>
      </p:sp>
      <p:sp>
        <p:nvSpPr>
          <p:cNvPr id="7" name="Text 5"/>
          <p:cNvSpPr txBox="1"/>
          <p:nvPr/>
        </p:nvSpPr>
        <p:spPr>
          <a:xfrm>
            <a:off x="548640" y="1700784"/>
            <a:ext cx="4892040" cy="3383280"/>
          </a:xfrm>
          <a:prstGeom prst="rect">
            <a:avLst/>
          </a:prstGeom>
          <a:noFill/>
          <a:ln/>
        </p:spPr>
        <p:txBody>
          <a:bodyPr wrap="square" lIns="0" tIns="0" rIns="0" bIns="0" rtlCol="0" anchor="ctr"/>
          <a:lstStyle/>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Device binding is a one-time setup that creates the phone's key in hardware and registers it with HR, described as a safety lock rather than in cryptographic terms.</a:t>
            </a:r>
            <a:endParaRPr lang="en-US" sz="1150" dirty="0"/>
          </a:p>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The request form files overtime or leave for a whole crew in a few taps, with preset reasons and an optional photo.</a:t>
            </a:r>
            <a:endParaRPr lang="en-US" sz="1150" dirty="0"/>
          </a:p>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An absent foreman is covered by another Site Foreman, whom the Site Engineer assigns from the web portal.</a:t>
            </a:r>
            <a:endParaRPr lang="en-US" sz="1150" dirty="0"/>
          </a:p>
          <a:p>
            <a:pPr marL="342900" indent="-342900">
              <a:lnSpc>
                <a:spcPct val="105000"/>
              </a:lnSpc>
              <a:spcAft>
                <a:spcPts val="1200"/>
              </a:spcAft>
              <a:buSzPct val="100000"/>
              <a:buChar char="▪"/>
            </a:pPr>
            <a:r>
              <a:rPr lang="en-US" sz="1150" dirty="0">
                <a:solidFill>
                  <a:srgbClr val="5A656F"/>
                </a:solidFill>
                <a:latin typeface="Calibri" pitchFamily="34" charset="0"/>
                <a:ea typeface="Calibri" pitchFamily="34" charset="-122"/>
                <a:cs typeface="Calibri" pitchFamily="34" charset="-120"/>
              </a:rPr>
              <a:t>The acting foreman is notified immediately, and the re-assignment is written to the audit log.</a:t>
            </a:r>
            <a:endParaRPr lang="en-US" sz="1150" dirty="0"/>
          </a:p>
        </p:txBody>
      </p:sp>
      <p:sp>
        <p:nvSpPr>
          <p:cNvPr id="8" name="Shape 6"/>
          <p:cNvSpPr/>
          <p:nvPr/>
        </p:nvSpPr>
        <p:spPr>
          <a:xfrm>
            <a:off x="548640" y="5230368"/>
            <a:ext cx="4892040" cy="960120"/>
          </a:xfrm>
          <a:prstGeom prst="roundRect">
            <a:avLst>
              <a:gd name="adj" fmla="val 5714"/>
            </a:avLst>
          </a:prstGeom>
          <a:solidFill>
            <a:srgbClr val="16191D"/>
          </a:solidFill>
          <a:ln/>
        </p:spPr>
      </p:sp>
      <p:sp>
        <p:nvSpPr>
          <p:cNvPr id="9" name="Text 7"/>
          <p:cNvSpPr txBox="1"/>
          <p:nvPr/>
        </p:nvSpPr>
        <p:spPr>
          <a:xfrm>
            <a:off x="804672" y="5431536"/>
            <a:ext cx="4379976" cy="548640"/>
          </a:xfrm>
          <a:prstGeom prst="rect">
            <a:avLst/>
          </a:prstGeom>
          <a:noFill/>
          <a:ln/>
        </p:spPr>
        <p:txBody>
          <a:bodyPr wrap="square" lIns="0" tIns="0" rIns="0" bIns="0" rtlCol="0" anchor="t"/>
          <a:lstStyle/>
          <a:p>
            <a:pPr algn="l" indent="0" marL="0">
              <a:lnSpc>
                <a:spcPct val="110000"/>
              </a:lnSpc>
              <a:buNone/>
            </a:pPr>
            <a:r>
              <a:rPr lang="en-US" sz="1100" dirty="0">
                <a:solidFill>
                  <a:srgbClr val="FFFFFF"/>
                </a:solidFill>
                <a:latin typeface="Calibri" pitchFamily="34" charset="0"/>
                <a:ea typeface="Calibri" pitchFamily="34" charset="-122"/>
                <a:cs typeface="Calibri" pitchFamily="34" charset="-120"/>
              </a:rPr>
              <a:t>A regular worker cannot act as foreman, even with a certification: they have no login and no bound device to sign with.</a:t>
            </a:r>
            <a:endParaRPr lang="en-US" sz="1100" dirty="0"/>
          </a:p>
        </p:txBody>
      </p:sp>
      <p:sp>
        <p:nvSpPr>
          <p:cNvPr id="10" name="Shape 8"/>
          <p:cNvSpPr/>
          <p:nvPr/>
        </p:nvSpPr>
        <p:spPr>
          <a:xfrm>
            <a:off x="6054771" y="1417320"/>
            <a:ext cx="1837544" cy="3977640"/>
          </a:xfrm>
          <a:prstGeom prst="rect">
            <a:avLst/>
          </a:prstGeom>
          <a:solidFill>
            <a:srgbClr val="FFFFFF"/>
          </a:solidFill>
          <a:ln w="12700">
            <a:solidFill>
              <a:srgbClr val="DCD7D0"/>
            </a:solidFill>
            <a:prstDash val="solid"/>
          </a:ln>
        </p:spPr>
      </p:sp>
      <p:pic>
        <p:nvPicPr>
          <p:cNvPr id="11" name="Image 0" descr="C:\Users\Melva Portes\AppData\Local\Temp\claude\C--projects-capstone-hris\182000bb-a31f-4b93-902f-0570dbf9396e\scratchpad\shots\foreman-device-binding.png">    </p:cNvPr>
          <p:cNvPicPr>
            <a:picLocks noChangeAspect="1"/>
          </p:cNvPicPr>
          <p:nvPr/>
        </p:nvPicPr>
        <p:blipFill>
          <a:blip r:embed="rId1"/>
          <a:stretch>
            <a:fillRect/>
          </a:stretch>
        </p:blipFill>
        <p:spPr>
          <a:xfrm>
            <a:off x="6100491" y="1463040"/>
            <a:ext cx="1746104" cy="3886200"/>
          </a:xfrm>
          <a:prstGeom prst="rect">
            <a:avLst/>
          </a:prstGeom>
        </p:spPr>
      </p:pic>
      <p:sp>
        <p:nvSpPr>
          <p:cNvPr id="12" name="Text 9"/>
          <p:cNvSpPr txBox="1"/>
          <p:nvPr/>
        </p:nvSpPr>
        <p:spPr>
          <a:xfrm>
            <a:off x="5917611" y="5477256"/>
            <a:ext cx="2111864" cy="274320"/>
          </a:xfrm>
          <a:prstGeom prst="rect">
            <a:avLst/>
          </a:prstGeom>
          <a:noFill/>
          <a:ln/>
        </p:spPr>
        <p:txBody>
          <a:bodyPr wrap="square" lIns="0" tIns="0" rIns="0" bIns="0" rtlCol="0" anchor="t"/>
          <a:lstStyle/>
          <a:p>
            <a:pPr algn="ctr" indent="0" marL="0">
              <a:lnSpc>
                <a:spcPct val="108000"/>
              </a:lnSpc>
              <a:buNone/>
            </a:pPr>
            <a:r>
              <a:rPr lang="en-US" sz="1000" dirty="0">
                <a:solidFill>
                  <a:srgbClr val="16191D"/>
                </a:solidFill>
                <a:latin typeface="Calibri" pitchFamily="34" charset="0"/>
                <a:ea typeface="Calibri" pitchFamily="34" charset="-122"/>
                <a:cs typeface="Calibri" pitchFamily="34" charset="-120"/>
              </a:rPr>
              <a:t>Device Binding</a:t>
            </a:r>
            <a:endParaRPr lang="en-US" sz="1000" dirty="0"/>
          </a:p>
        </p:txBody>
      </p:sp>
      <p:sp>
        <p:nvSpPr>
          <p:cNvPr id="13" name="Shape 10"/>
          <p:cNvSpPr/>
          <p:nvPr/>
        </p:nvSpPr>
        <p:spPr>
          <a:xfrm>
            <a:off x="8258075" y="1417320"/>
            <a:ext cx="1159529" cy="3977640"/>
          </a:xfrm>
          <a:prstGeom prst="rect">
            <a:avLst/>
          </a:prstGeom>
          <a:solidFill>
            <a:srgbClr val="FFFFFF"/>
          </a:solidFill>
          <a:ln w="12700">
            <a:solidFill>
              <a:srgbClr val="DCD7D0"/>
            </a:solidFill>
            <a:prstDash val="solid"/>
          </a:ln>
        </p:spPr>
      </p:sp>
      <p:pic>
        <p:nvPicPr>
          <p:cNvPr id="14" name="Image 1" descr="C:\Users\Melva Portes\AppData\Local\Temp\claude\C--projects-capstone-hris\182000bb-a31f-4b93-902f-0570dbf9396e\scratchpad\shots\foreman-request-form.png">    </p:cNvPr>
          <p:cNvPicPr>
            <a:picLocks noChangeAspect="1"/>
          </p:cNvPicPr>
          <p:nvPr/>
        </p:nvPicPr>
        <p:blipFill>
          <a:blip r:embed="rId2"/>
          <a:stretch>
            <a:fillRect/>
          </a:stretch>
        </p:blipFill>
        <p:spPr>
          <a:xfrm>
            <a:off x="8303795" y="1463040"/>
            <a:ext cx="1068089" cy="3886200"/>
          </a:xfrm>
          <a:prstGeom prst="rect">
            <a:avLst/>
          </a:prstGeom>
        </p:spPr>
      </p:pic>
      <p:sp>
        <p:nvSpPr>
          <p:cNvPr id="15" name="Text 11"/>
          <p:cNvSpPr txBox="1"/>
          <p:nvPr/>
        </p:nvSpPr>
        <p:spPr>
          <a:xfrm>
            <a:off x="8120915" y="5477256"/>
            <a:ext cx="1433849" cy="274320"/>
          </a:xfrm>
          <a:prstGeom prst="rect">
            <a:avLst/>
          </a:prstGeom>
          <a:noFill/>
          <a:ln/>
        </p:spPr>
        <p:txBody>
          <a:bodyPr wrap="square" lIns="0" tIns="0" rIns="0" bIns="0" rtlCol="0" anchor="t"/>
          <a:lstStyle/>
          <a:p>
            <a:pPr algn="ctr" indent="0" marL="0">
              <a:lnSpc>
                <a:spcPct val="108000"/>
              </a:lnSpc>
              <a:buNone/>
            </a:pPr>
            <a:r>
              <a:rPr lang="en-US" sz="1000" dirty="0">
                <a:solidFill>
                  <a:srgbClr val="16191D"/>
                </a:solidFill>
                <a:latin typeface="Calibri" pitchFamily="34" charset="0"/>
                <a:ea typeface="Calibri" pitchFamily="34" charset="-122"/>
                <a:cs typeface="Calibri" pitchFamily="34" charset="-120"/>
              </a:rPr>
              <a:t>Request Form</a:t>
            </a:r>
            <a:endParaRPr lang="en-US" sz="1000" dirty="0"/>
          </a:p>
        </p:txBody>
      </p:sp>
      <p:sp>
        <p:nvSpPr>
          <p:cNvPr id="16" name="Shape 12"/>
          <p:cNvSpPr/>
          <p:nvPr/>
        </p:nvSpPr>
        <p:spPr>
          <a:xfrm>
            <a:off x="9783364" y="1417320"/>
            <a:ext cx="1519921" cy="3977640"/>
          </a:xfrm>
          <a:prstGeom prst="rect">
            <a:avLst/>
          </a:prstGeom>
          <a:solidFill>
            <a:srgbClr val="FFFFFF"/>
          </a:solidFill>
          <a:ln w="12700">
            <a:solidFill>
              <a:srgbClr val="DCD7D0"/>
            </a:solidFill>
            <a:prstDash val="solid"/>
          </a:ln>
        </p:spPr>
      </p:sp>
      <p:pic>
        <p:nvPicPr>
          <p:cNvPr id="17" name="Image 2" descr="C:\Users\Melva Portes\AppData\Local\Temp\claude\C--projects-capstone-hris\182000bb-a31f-4b93-902f-0570dbf9396e\scratchpad\shots\acting-foreman-reassignment.png">    </p:cNvPr>
          <p:cNvPicPr>
            <a:picLocks noChangeAspect="1"/>
          </p:cNvPicPr>
          <p:nvPr/>
        </p:nvPicPr>
        <p:blipFill>
          <a:blip r:embed="rId3"/>
          <a:stretch>
            <a:fillRect/>
          </a:stretch>
        </p:blipFill>
        <p:spPr>
          <a:xfrm>
            <a:off x="9829084" y="1463040"/>
            <a:ext cx="1428481" cy="3886200"/>
          </a:xfrm>
          <a:prstGeom prst="rect">
            <a:avLst/>
          </a:prstGeom>
        </p:spPr>
      </p:pic>
      <p:sp>
        <p:nvSpPr>
          <p:cNvPr id="18" name="Text 13"/>
          <p:cNvSpPr txBox="1"/>
          <p:nvPr/>
        </p:nvSpPr>
        <p:spPr>
          <a:xfrm>
            <a:off x="9646204" y="5477256"/>
            <a:ext cx="1794241" cy="274320"/>
          </a:xfrm>
          <a:prstGeom prst="rect">
            <a:avLst/>
          </a:prstGeom>
          <a:noFill/>
          <a:ln/>
        </p:spPr>
        <p:txBody>
          <a:bodyPr wrap="square" lIns="0" tIns="0" rIns="0" bIns="0" rtlCol="0" anchor="t"/>
          <a:lstStyle/>
          <a:p>
            <a:pPr algn="ctr" indent="0" marL="0">
              <a:lnSpc>
                <a:spcPct val="108000"/>
              </a:lnSpc>
              <a:buNone/>
            </a:pPr>
            <a:r>
              <a:rPr lang="en-US" sz="1000" dirty="0">
                <a:solidFill>
                  <a:srgbClr val="16191D"/>
                </a:solidFill>
                <a:latin typeface="Calibri" pitchFamily="34" charset="0"/>
                <a:ea typeface="Calibri" pitchFamily="34" charset="-122"/>
                <a:cs typeface="Calibri" pitchFamily="34" charset="-120"/>
              </a:rPr>
              <a:t>Acting Foreman (draft)</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PROTOTYPE · WEB PORTAL</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Payroll Run and the Executive View</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37</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Shape 4"/>
          <p:cNvSpPr/>
          <p:nvPr/>
        </p:nvSpPr>
        <p:spPr>
          <a:xfrm>
            <a:off x="1216582" y="1435608"/>
            <a:ext cx="5314401" cy="3566160"/>
          </a:xfrm>
          <a:prstGeom prst="rect">
            <a:avLst/>
          </a:prstGeom>
          <a:solidFill>
            <a:srgbClr val="FFFFFF"/>
          </a:solidFill>
          <a:ln w="12700">
            <a:solidFill>
              <a:srgbClr val="DCD7D0"/>
            </a:solidFill>
            <a:prstDash val="solid"/>
          </a:ln>
        </p:spPr>
      </p:sp>
      <p:pic>
        <p:nvPicPr>
          <p:cNvPr id="7" name="Image 0" descr="C:\Users\Melva Portes\AppData\Local\Temp\claude\C--projects-capstone-hris\182000bb-a31f-4b93-902f-0570dbf9396e\scratchpad\shots\payroll-run.png">    </p:cNvPr>
          <p:cNvPicPr>
            <a:picLocks noChangeAspect="1"/>
          </p:cNvPicPr>
          <p:nvPr/>
        </p:nvPicPr>
        <p:blipFill>
          <a:blip r:embed="rId1"/>
          <a:stretch>
            <a:fillRect/>
          </a:stretch>
        </p:blipFill>
        <p:spPr>
          <a:xfrm>
            <a:off x="1262302" y="1481328"/>
            <a:ext cx="5222961" cy="3474720"/>
          </a:xfrm>
          <a:prstGeom prst="rect">
            <a:avLst/>
          </a:prstGeom>
        </p:spPr>
      </p:pic>
      <p:sp>
        <p:nvSpPr>
          <p:cNvPr id="8" name="Shape 5"/>
          <p:cNvSpPr/>
          <p:nvPr/>
        </p:nvSpPr>
        <p:spPr>
          <a:xfrm>
            <a:off x="6896743" y="1435608"/>
            <a:ext cx="4078370" cy="3566160"/>
          </a:xfrm>
          <a:prstGeom prst="rect">
            <a:avLst/>
          </a:prstGeom>
          <a:solidFill>
            <a:srgbClr val="FFFFFF"/>
          </a:solidFill>
          <a:ln w="12700">
            <a:solidFill>
              <a:srgbClr val="DCD7D0"/>
            </a:solidFill>
            <a:prstDash val="solid"/>
          </a:ln>
        </p:spPr>
      </p:sp>
      <p:pic>
        <p:nvPicPr>
          <p:cNvPr id="9" name="Image 1" descr="C:\Users\Melva Portes\AppData\Local\Temp\claude\C--projects-capstone-hris\182000bb-a31f-4b93-902f-0570dbf9396e\scratchpad\shots\executive-dashboard.png">    </p:cNvPr>
          <p:cNvPicPr>
            <a:picLocks noChangeAspect="1"/>
          </p:cNvPicPr>
          <p:nvPr/>
        </p:nvPicPr>
        <p:blipFill>
          <a:blip r:embed="rId2"/>
          <a:stretch>
            <a:fillRect/>
          </a:stretch>
        </p:blipFill>
        <p:spPr>
          <a:xfrm>
            <a:off x="6942463" y="1481328"/>
            <a:ext cx="3986930" cy="3474720"/>
          </a:xfrm>
          <a:prstGeom prst="rect">
            <a:avLst/>
          </a:prstGeom>
        </p:spPr>
      </p:pic>
      <p:sp>
        <p:nvSpPr>
          <p:cNvPr id="10" name="Text 6"/>
          <p:cNvSpPr txBox="1"/>
          <p:nvPr/>
        </p:nvSpPr>
        <p:spPr>
          <a:xfrm>
            <a:off x="1262302" y="5138928"/>
            <a:ext cx="5222961"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Payroll Run 2026-09-A</a:t>
            </a:r>
            <a:endParaRPr lang="en-US" sz="1350" dirty="0"/>
          </a:p>
        </p:txBody>
      </p:sp>
      <p:sp>
        <p:nvSpPr>
          <p:cNvPr id="11" name="Text 7"/>
          <p:cNvSpPr txBox="1"/>
          <p:nvPr/>
        </p:nvSpPr>
        <p:spPr>
          <a:xfrm>
            <a:off x="1262302" y="5431536"/>
            <a:ext cx="5222961" cy="77724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Semi-monthly, 13 working days: gross, deductions, net payable and pay date. Four rows are blocked because their attendance is unresolved, and the run carries a lock countdown.</a:t>
            </a:r>
            <a:endParaRPr lang="en-US" sz="1100" dirty="0"/>
          </a:p>
        </p:txBody>
      </p:sp>
      <p:sp>
        <p:nvSpPr>
          <p:cNvPr id="12" name="Text 8"/>
          <p:cNvSpPr txBox="1"/>
          <p:nvPr/>
        </p:nvSpPr>
        <p:spPr>
          <a:xfrm>
            <a:off x="6942463" y="5138928"/>
            <a:ext cx="3986930"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Executive Dashboard</a:t>
            </a:r>
            <a:endParaRPr lang="en-US" sz="1350" dirty="0"/>
          </a:p>
        </p:txBody>
      </p:sp>
      <p:sp>
        <p:nvSpPr>
          <p:cNvPr id="13" name="Text 9"/>
          <p:cNvSpPr txBox="1"/>
          <p:nvPr/>
        </p:nvSpPr>
        <p:spPr>
          <a:xfrm>
            <a:off x="6942463" y="5431536"/>
            <a:ext cx="3986930" cy="77724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Company-wide August 2026 across all 11 active sites: headcount, attendance rate and a comparison against the prior period. Read-only.</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PROTOTYPE · WEB PORTAL</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Override Audit and Attendance Recovery</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38</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CarlVey Sente  ·  UI/UX Designer</a:t>
            </a:r>
            <a:endParaRPr lang="en-US" sz="900" dirty="0"/>
          </a:p>
        </p:txBody>
      </p:sp>
      <p:sp>
        <p:nvSpPr>
          <p:cNvPr id="6" name="Shape 4"/>
          <p:cNvSpPr/>
          <p:nvPr/>
        </p:nvSpPr>
        <p:spPr>
          <a:xfrm>
            <a:off x="1205401" y="1435608"/>
            <a:ext cx="4100732" cy="3566160"/>
          </a:xfrm>
          <a:prstGeom prst="rect">
            <a:avLst/>
          </a:prstGeom>
          <a:solidFill>
            <a:srgbClr val="FFFFFF"/>
          </a:solidFill>
          <a:ln w="12700">
            <a:solidFill>
              <a:srgbClr val="DCD7D0"/>
            </a:solidFill>
            <a:prstDash val="solid"/>
          </a:ln>
        </p:spPr>
      </p:sp>
      <p:pic>
        <p:nvPicPr>
          <p:cNvPr id="7" name="Image 0" descr="C:\Users\Melva Portes\AppData\Local\Temp\claude\C--projects-capstone-hris\182000bb-a31f-4b93-902f-0570dbf9396e\scratchpad\shots\late-override-audit.png">    </p:cNvPr>
          <p:cNvPicPr>
            <a:picLocks noChangeAspect="1"/>
          </p:cNvPicPr>
          <p:nvPr/>
        </p:nvPicPr>
        <p:blipFill>
          <a:blip r:embed="rId1"/>
          <a:stretch>
            <a:fillRect/>
          </a:stretch>
        </p:blipFill>
        <p:spPr>
          <a:xfrm>
            <a:off x="1251121" y="1481328"/>
            <a:ext cx="4009292" cy="3474720"/>
          </a:xfrm>
          <a:prstGeom prst="rect">
            <a:avLst/>
          </a:prstGeom>
        </p:spPr>
      </p:pic>
      <p:sp>
        <p:nvSpPr>
          <p:cNvPr id="8" name="Shape 5"/>
          <p:cNvSpPr/>
          <p:nvPr/>
        </p:nvSpPr>
        <p:spPr>
          <a:xfrm>
            <a:off x="5671893" y="1435608"/>
            <a:ext cx="5314401" cy="3566160"/>
          </a:xfrm>
          <a:prstGeom prst="rect">
            <a:avLst/>
          </a:prstGeom>
          <a:solidFill>
            <a:srgbClr val="FFFFFF"/>
          </a:solidFill>
          <a:ln w="12700">
            <a:solidFill>
              <a:srgbClr val="DCD7D0"/>
            </a:solidFill>
            <a:prstDash val="solid"/>
          </a:ln>
        </p:spPr>
      </p:sp>
      <p:pic>
        <p:nvPicPr>
          <p:cNvPr id="9" name="Image 1" descr="C:\Users\Melva Portes\AppData\Local\Temp\claude\C--projects-capstone-hris\182000bb-a31f-4b93-902f-0570dbf9396e\scratchpad\shots\attendance-recovery-signoff.png">    </p:cNvPr>
          <p:cNvPicPr>
            <a:picLocks noChangeAspect="1"/>
          </p:cNvPicPr>
          <p:nvPr/>
        </p:nvPicPr>
        <p:blipFill>
          <a:blip r:embed="rId2"/>
          <a:stretch>
            <a:fillRect/>
          </a:stretch>
        </p:blipFill>
        <p:spPr>
          <a:xfrm>
            <a:off x="5717613" y="1481328"/>
            <a:ext cx="5222961" cy="3474720"/>
          </a:xfrm>
          <a:prstGeom prst="rect">
            <a:avLst/>
          </a:prstGeom>
        </p:spPr>
      </p:pic>
      <p:sp>
        <p:nvSpPr>
          <p:cNvPr id="10" name="Text 6"/>
          <p:cNvSpPr txBox="1"/>
          <p:nvPr/>
        </p:nvSpPr>
        <p:spPr>
          <a:xfrm>
            <a:off x="1251121" y="5138928"/>
            <a:ext cx="4009292"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Late Override Audit</a:t>
            </a:r>
            <a:endParaRPr lang="en-US" sz="1350" dirty="0"/>
          </a:p>
        </p:txBody>
      </p:sp>
      <p:sp>
        <p:nvSpPr>
          <p:cNvPr id="11" name="Text 7"/>
          <p:cNvSpPr txBox="1"/>
          <p:nvPr/>
        </p:nvSpPr>
        <p:spPr>
          <a:xfrm>
            <a:off x="1251121" y="5431536"/>
            <a:ext cx="4009292" cy="77724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41 flagged records across 6 override events, with the hours and the peso value at stake and a hard lock time. FOREMAN_LATE_OVERRIDE is a filter, not a footnote.</a:t>
            </a:r>
            <a:endParaRPr lang="en-US" sz="1100" dirty="0"/>
          </a:p>
        </p:txBody>
      </p:sp>
      <p:sp>
        <p:nvSpPr>
          <p:cNvPr id="12" name="Text 8"/>
          <p:cNvSpPr txBox="1"/>
          <p:nvPr/>
        </p:nvSpPr>
        <p:spPr>
          <a:xfrm>
            <a:off x="5717613" y="5138928"/>
            <a:ext cx="5222961" cy="274320"/>
          </a:xfrm>
          <a:prstGeom prst="rect">
            <a:avLst/>
          </a:prstGeom>
          <a:noFill/>
          <a:ln/>
        </p:spPr>
        <p:txBody>
          <a:bodyPr wrap="square" lIns="0" tIns="0" rIns="0" bIns="0" rtlCol="0" anchor="t"/>
          <a:lstStyle/>
          <a:p>
            <a:pPr indent="0" marL="0">
              <a:buNone/>
            </a:pPr>
            <a:r>
              <a:rPr lang="en-US" sz="1350" b="1" dirty="0">
                <a:solidFill>
                  <a:srgbClr val="16191D"/>
                </a:solidFill>
                <a:latin typeface="Calibri" pitchFamily="34" charset="0"/>
                <a:ea typeface="Calibri" pitchFamily="34" charset="-122"/>
                <a:cs typeface="Calibri" pitchFamily="34" charset="-120"/>
              </a:rPr>
              <a:t>Attendance Recovery Sign-off</a:t>
            </a:r>
            <a:endParaRPr lang="en-US" sz="1350" dirty="0"/>
          </a:p>
        </p:txBody>
      </p:sp>
      <p:sp>
        <p:nvSpPr>
          <p:cNvPr id="13" name="Text 9"/>
          <p:cNvSpPr txBox="1"/>
          <p:nvPr/>
        </p:nvSpPr>
        <p:spPr>
          <a:xfrm>
            <a:off x="5717613" y="5431536"/>
            <a:ext cx="5222961" cy="777240"/>
          </a:xfrm>
          <a:prstGeom prst="rect">
            <a:avLst/>
          </a:prstGeom>
          <a:noFill/>
          <a:ln/>
        </p:spPr>
        <p:txBody>
          <a:bodyPr wrap="square" lIns="0" tIns="0" rIns="0" bIns="0" rtlCol="0" anchor="t"/>
          <a:lstStyle/>
          <a:p>
            <a:pPr algn="l" indent="0" marL="0">
              <a:lnSpc>
                <a:spcPct val="108000"/>
              </a:lnSpc>
              <a:buNone/>
            </a:pPr>
            <a:r>
              <a:rPr lang="en-US" sz="1100" dirty="0">
                <a:solidFill>
                  <a:srgbClr val="5A656F"/>
                </a:solidFill>
                <a:latin typeface="Calibri" pitchFamily="34" charset="0"/>
                <a:ea typeface="Calibri" pitchFamily="34" charset="-122"/>
                <a:cs typeface="Calibri" pitchFamily="34" charset="-120"/>
              </a:rPr>
              <a:t>5 crew-days awaiting reconstruction covering 128 worker records and 1,142 hours that go unpaid if they are not recovered before the cut-off locks.</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59775" y="914400"/>
            <a:ext cx="3383280" cy="3108960"/>
          </a:xfrm>
          <a:prstGeom prst="rect">
            <a:avLst/>
          </a:prstGeom>
          <a:noFill/>
          <a:ln/>
        </p:spPr>
        <p:txBody>
          <a:bodyPr wrap="square" lIns="0" tIns="0" rIns="0" bIns="0" rtlCol="0" anchor="ctr"/>
          <a:lstStyle/>
          <a:p>
            <a:pPr algn="r" indent="0" marL="0">
              <a:buNone/>
            </a:pPr>
            <a:r>
              <a:rPr lang="en-US" sz="16000" b="1" dirty="0">
                <a:solidFill>
                  <a:srgbClr val="2A3138"/>
                </a:solidFill>
                <a:latin typeface="Cambria" pitchFamily="34" charset="0"/>
                <a:ea typeface="Cambria" pitchFamily="34" charset="-122"/>
                <a:cs typeface="Cambria" pitchFamily="34" charset="-120"/>
              </a:rPr>
              <a:t>07</a:t>
            </a:r>
            <a:endParaRPr lang="en-US" sz="16000" dirty="0"/>
          </a:p>
        </p:txBody>
      </p:sp>
      <p:sp>
        <p:nvSpPr>
          <p:cNvPr id="3" name="Text 1"/>
          <p:cNvSpPr txBox="1"/>
          <p:nvPr/>
        </p:nvSpPr>
        <p:spPr>
          <a:xfrm>
            <a:off x="822960" y="2240280"/>
            <a:ext cx="6949440" cy="274320"/>
          </a:xfrm>
          <a:prstGeom prst="rect">
            <a:avLst/>
          </a:prstGeom>
          <a:noFill/>
          <a:ln/>
        </p:spPr>
        <p:txBody>
          <a:bodyPr wrap="square" lIns="0" tIns="0" rIns="0" bIns="0" rtlCol="0" anchor="ctr"/>
          <a:lstStyle/>
          <a:p>
            <a:pPr indent="0" marL="0">
              <a:buNone/>
            </a:pPr>
            <a:r>
              <a:rPr lang="en-US" sz="1200" b="1" spc="160" kern="0" dirty="0">
                <a:solidFill>
                  <a:srgbClr val="F2A413"/>
                </a:solidFill>
                <a:latin typeface="Calibri" pitchFamily="34" charset="0"/>
                <a:ea typeface="Calibri" pitchFamily="34" charset="-122"/>
                <a:cs typeface="Calibri" pitchFamily="34" charset="-120"/>
              </a:rPr>
              <a:t>SECTION 7</a:t>
            </a:r>
            <a:endParaRPr lang="en-US" sz="1200" dirty="0"/>
          </a:p>
        </p:txBody>
      </p:sp>
      <p:sp>
        <p:nvSpPr>
          <p:cNvPr id="4" name="Text 2"/>
          <p:cNvSpPr txBox="1"/>
          <p:nvPr/>
        </p:nvSpPr>
        <p:spPr>
          <a:xfrm>
            <a:off x="822960" y="2487168"/>
            <a:ext cx="7315200" cy="1389888"/>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Development Milestones and Timeline</a:t>
            </a:r>
            <a:endParaRPr lang="en-US" sz="4000" dirty="0"/>
          </a:p>
        </p:txBody>
      </p:sp>
      <p:sp>
        <p:nvSpPr>
          <p:cNvPr id="5" name="Text 3"/>
          <p:cNvSpPr txBox="1"/>
          <p:nvPr/>
        </p:nvSpPr>
        <p:spPr>
          <a:xfrm>
            <a:off x="822960" y="3968496"/>
            <a:ext cx="6766560" cy="777240"/>
          </a:xfrm>
          <a:prstGeom prst="rect">
            <a:avLst/>
          </a:prstGeom>
          <a:noFill/>
          <a:ln/>
        </p:spPr>
        <p:txBody>
          <a:bodyPr wrap="square" lIns="0" tIns="0" rIns="0" bIns="0" rtlCol="0" anchor="ctr"/>
          <a:lstStyle/>
          <a:p>
            <a:pPr indent="0" marL="0">
              <a:buNone/>
            </a:pPr>
            <a:r>
              <a:rPr lang="en-US" sz="1500" dirty="0">
                <a:solidFill>
                  <a:srgbClr val="8A949D"/>
                </a:solidFill>
                <a:latin typeface="Calibri" pitchFamily="34" charset="0"/>
                <a:ea typeface="Calibri" pitchFamily="34" charset="-122"/>
                <a:cs typeface="Calibri" pitchFamily="34" charset="-120"/>
              </a:rPr>
              <a:t>Eighteen weeks, eight phases, and the milestone that closes each one.</a:t>
            </a:r>
            <a:endParaRPr lang="en-US" sz="1500" dirty="0"/>
          </a:p>
        </p:txBody>
      </p:sp>
      <p:sp>
        <p:nvSpPr>
          <p:cNvPr id="6" name="Shape 4"/>
          <p:cNvSpPr/>
          <p:nvPr/>
        </p:nvSpPr>
        <p:spPr>
          <a:xfrm>
            <a:off x="822960" y="4956048"/>
            <a:ext cx="310896" cy="310896"/>
          </a:xfrm>
          <a:prstGeom prst="ellipse">
            <a:avLst/>
          </a:prstGeom>
          <a:solidFill>
            <a:srgbClr val="F2A413"/>
          </a:solidFill>
          <a:ln/>
        </p:spPr>
      </p:sp>
      <p:sp>
        <p:nvSpPr>
          <p:cNvPr id="7" name="Text 5"/>
          <p:cNvSpPr txBox="1"/>
          <p:nvPr/>
        </p:nvSpPr>
        <p:spPr>
          <a:xfrm>
            <a:off x="1261872" y="4965192"/>
            <a:ext cx="640080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5 minutes</a:t>
            </a:r>
            <a:endParaRPr lang="en-US" sz="1300" dirty="0"/>
          </a:p>
        </p:txBody>
      </p:sp>
      <p:sp>
        <p:nvSpPr>
          <p:cNvPr id="8" name="Text 6"/>
          <p:cNvSpPr txBox="1"/>
          <p:nvPr/>
        </p:nvSpPr>
        <p:spPr>
          <a:xfrm>
            <a:off x="822960" y="5486400"/>
            <a:ext cx="1828800" cy="237744"/>
          </a:xfrm>
          <a:prstGeom prst="rect">
            <a:avLst/>
          </a:prstGeom>
          <a:noFill/>
          <a:ln/>
        </p:spPr>
        <p:txBody>
          <a:bodyPr wrap="square" lIns="0" tIns="0" rIns="0" bIns="0" rtlCol="0" anchor="ctr"/>
          <a:lstStyle/>
          <a:p>
            <a:pPr indent="0" marL="0">
              <a:buNone/>
            </a:pPr>
            <a:r>
              <a:rPr lang="en-US" sz="1000" b="1" spc="120" kern="0" dirty="0">
                <a:solidFill>
                  <a:srgbClr val="8A949D"/>
                </a:solidFill>
                <a:latin typeface="Calibri" pitchFamily="34" charset="0"/>
                <a:ea typeface="Calibri" pitchFamily="34" charset="-122"/>
                <a:cs typeface="Calibri" pitchFamily="34" charset="-120"/>
              </a:rPr>
              <a:t>Presented by</a:t>
            </a:r>
            <a:endParaRPr lang="en-US" sz="1000" dirty="0"/>
          </a:p>
        </p:txBody>
      </p:sp>
      <p:sp>
        <p:nvSpPr>
          <p:cNvPr id="9" name="Text 7"/>
          <p:cNvSpPr txBox="1"/>
          <p:nvPr/>
        </p:nvSpPr>
        <p:spPr>
          <a:xfrm>
            <a:off x="822960" y="5742432"/>
            <a:ext cx="6766560" cy="292608"/>
          </a:xfrm>
          <a:prstGeom prst="rect">
            <a:avLst/>
          </a:prstGeom>
          <a:noFill/>
          <a:ln/>
        </p:spPr>
        <p:txBody>
          <a:bodyPr wrap="square" lIns="0" tIns="0" rIns="0" bIns="0" rtlCol="0" anchor="ctr"/>
          <a:lstStyle/>
          <a:p>
            <a:pPr indent="0" marL="0">
              <a:buNone/>
            </a:pPr>
            <a:r>
              <a:rPr lang="en-US" sz="1400" b="1" dirty="0">
                <a:solidFill>
                  <a:srgbClr val="F2A413"/>
                </a:solidFill>
                <a:latin typeface="Calibri" pitchFamily="34" charset="0"/>
                <a:ea typeface="Calibri" pitchFamily="34" charset="-122"/>
                <a:cs typeface="Calibri" pitchFamily="34" charset="-120"/>
              </a:rPr>
              <a:t>Jay Mark A. Reños  —  Project Manager</a:t>
            </a:r>
            <a:endParaRPr lang="en-US" sz="1400" dirty="0"/>
          </a:p>
        </p:txBody>
      </p:sp>
      <p:sp>
        <p:nvSpPr>
          <p:cNvPr id="10" name="Text 8"/>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39</a:t>
            </a:r>
            <a:endParaRPr lang="en-US" sz="900" dirty="0"/>
          </a:p>
        </p:txBody>
      </p:sp>
      <p:sp>
        <p:nvSpPr>
          <p:cNvPr id="11" name="Text 9"/>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Jay Mark A. Reños  ·  Project Manager</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MILESTONES AND TIMELINE</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Eighteen-Week Development Schedule</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40</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Jay Mark A. Reños  ·  Project Manager</a:t>
            </a:r>
            <a:endParaRPr lang="en-US" sz="900" dirty="0"/>
          </a:p>
        </p:txBody>
      </p:sp>
      <p:sp>
        <p:nvSpPr>
          <p:cNvPr id="6" name="Text 4"/>
          <p:cNvSpPr txBox="1"/>
          <p:nvPr/>
        </p:nvSpPr>
        <p:spPr>
          <a:xfrm>
            <a:off x="3429000"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a:t>
            </a:r>
            <a:endParaRPr lang="en-US" sz="800" dirty="0"/>
          </a:p>
        </p:txBody>
      </p:sp>
      <p:sp>
        <p:nvSpPr>
          <p:cNvPr id="7" name="Shape 5"/>
          <p:cNvSpPr/>
          <p:nvPr/>
        </p:nvSpPr>
        <p:spPr>
          <a:xfrm>
            <a:off x="3429000" y="1773936"/>
            <a:ext cx="456336" cy="3931920"/>
          </a:xfrm>
          <a:prstGeom prst="rect">
            <a:avLst/>
          </a:prstGeom>
          <a:solidFill>
            <a:srgbClr val="EDEAE5"/>
          </a:solidFill>
          <a:ln/>
        </p:spPr>
      </p:sp>
      <p:sp>
        <p:nvSpPr>
          <p:cNvPr id="8" name="Text 6"/>
          <p:cNvSpPr txBox="1"/>
          <p:nvPr/>
        </p:nvSpPr>
        <p:spPr>
          <a:xfrm>
            <a:off x="3885336"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2</a:t>
            </a:r>
            <a:endParaRPr lang="en-US" sz="800" dirty="0"/>
          </a:p>
        </p:txBody>
      </p:sp>
      <p:sp>
        <p:nvSpPr>
          <p:cNvPr id="9" name="Text 7"/>
          <p:cNvSpPr txBox="1"/>
          <p:nvPr/>
        </p:nvSpPr>
        <p:spPr>
          <a:xfrm>
            <a:off x="4341673"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3</a:t>
            </a:r>
            <a:endParaRPr lang="en-US" sz="800" dirty="0"/>
          </a:p>
        </p:txBody>
      </p:sp>
      <p:sp>
        <p:nvSpPr>
          <p:cNvPr id="10" name="Shape 8"/>
          <p:cNvSpPr/>
          <p:nvPr/>
        </p:nvSpPr>
        <p:spPr>
          <a:xfrm>
            <a:off x="4341673" y="1773936"/>
            <a:ext cx="456336" cy="3931920"/>
          </a:xfrm>
          <a:prstGeom prst="rect">
            <a:avLst/>
          </a:prstGeom>
          <a:solidFill>
            <a:srgbClr val="EDEAE5"/>
          </a:solidFill>
          <a:ln/>
        </p:spPr>
      </p:sp>
      <p:sp>
        <p:nvSpPr>
          <p:cNvPr id="11" name="Text 9"/>
          <p:cNvSpPr txBox="1"/>
          <p:nvPr/>
        </p:nvSpPr>
        <p:spPr>
          <a:xfrm>
            <a:off x="4798009"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4</a:t>
            </a:r>
            <a:endParaRPr lang="en-US" sz="800" dirty="0"/>
          </a:p>
        </p:txBody>
      </p:sp>
      <p:sp>
        <p:nvSpPr>
          <p:cNvPr id="12" name="Text 10"/>
          <p:cNvSpPr txBox="1"/>
          <p:nvPr/>
        </p:nvSpPr>
        <p:spPr>
          <a:xfrm>
            <a:off x="5254346"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5</a:t>
            </a:r>
            <a:endParaRPr lang="en-US" sz="800" dirty="0"/>
          </a:p>
        </p:txBody>
      </p:sp>
      <p:sp>
        <p:nvSpPr>
          <p:cNvPr id="13" name="Shape 11"/>
          <p:cNvSpPr/>
          <p:nvPr/>
        </p:nvSpPr>
        <p:spPr>
          <a:xfrm>
            <a:off x="5254346" y="1773936"/>
            <a:ext cx="456336" cy="3931920"/>
          </a:xfrm>
          <a:prstGeom prst="rect">
            <a:avLst/>
          </a:prstGeom>
          <a:solidFill>
            <a:srgbClr val="EDEAE5"/>
          </a:solidFill>
          <a:ln/>
        </p:spPr>
      </p:sp>
      <p:sp>
        <p:nvSpPr>
          <p:cNvPr id="14" name="Text 12"/>
          <p:cNvSpPr txBox="1"/>
          <p:nvPr/>
        </p:nvSpPr>
        <p:spPr>
          <a:xfrm>
            <a:off x="5710682"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6</a:t>
            </a:r>
            <a:endParaRPr lang="en-US" sz="800" dirty="0"/>
          </a:p>
        </p:txBody>
      </p:sp>
      <p:sp>
        <p:nvSpPr>
          <p:cNvPr id="15" name="Text 13"/>
          <p:cNvSpPr txBox="1"/>
          <p:nvPr/>
        </p:nvSpPr>
        <p:spPr>
          <a:xfrm>
            <a:off x="6167018"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7</a:t>
            </a:r>
            <a:endParaRPr lang="en-US" sz="800" dirty="0"/>
          </a:p>
        </p:txBody>
      </p:sp>
      <p:sp>
        <p:nvSpPr>
          <p:cNvPr id="16" name="Shape 14"/>
          <p:cNvSpPr/>
          <p:nvPr/>
        </p:nvSpPr>
        <p:spPr>
          <a:xfrm>
            <a:off x="6167018" y="1773936"/>
            <a:ext cx="456336" cy="3931920"/>
          </a:xfrm>
          <a:prstGeom prst="rect">
            <a:avLst/>
          </a:prstGeom>
          <a:solidFill>
            <a:srgbClr val="EDEAE5"/>
          </a:solidFill>
          <a:ln/>
        </p:spPr>
      </p:sp>
      <p:sp>
        <p:nvSpPr>
          <p:cNvPr id="17" name="Text 15"/>
          <p:cNvSpPr txBox="1"/>
          <p:nvPr/>
        </p:nvSpPr>
        <p:spPr>
          <a:xfrm>
            <a:off x="6623355"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8</a:t>
            </a:r>
            <a:endParaRPr lang="en-US" sz="800" dirty="0"/>
          </a:p>
        </p:txBody>
      </p:sp>
      <p:sp>
        <p:nvSpPr>
          <p:cNvPr id="18" name="Text 16"/>
          <p:cNvSpPr txBox="1"/>
          <p:nvPr/>
        </p:nvSpPr>
        <p:spPr>
          <a:xfrm>
            <a:off x="7079691"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9</a:t>
            </a:r>
            <a:endParaRPr lang="en-US" sz="800" dirty="0"/>
          </a:p>
        </p:txBody>
      </p:sp>
      <p:sp>
        <p:nvSpPr>
          <p:cNvPr id="19" name="Shape 17"/>
          <p:cNvSpPr/>
          <p:nvPr/>
        </p:nvSpPr>
        <p:spPr>
          <a:xfrm>
            <a:off x="7079691" y="1773936"/>
            <a:ext cx="456336" cy="3931920"/>
          </a:xfrm>
          <a:prstGeom prst="rect">
            <a:avLst/>
          </a:prstGeom>
          <a:solidFill>
            <a:srgbClr val="EDEAE5"/>
          </a:solidFill>
          <a:ln/>
        </p:spPr>
      </p:sp>
      <p:sp>
        <p:nvSpPr>
          <p:cNvPr id="20" name="Text 18"/>
          <p:cNvSpPr txBox="1"/>
          <p:nvPr/>
        </p:nvSpPr>
        <p:spPr>
          <a:xfrm>
            <a:off x="7536028"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10</a:t>
            </a:r>
            <a:endParaRPr lang="en-US" sz="800" dirty="0"/>
          </a:p>
        </p:txBody>
      </p:sp>
      <p:sp>
        <p:nvSpPr>
          <p:cNvPr id="21" name="Text 19"/>
          <p:cNvSpPr txBox="1"/>
          <p:nvPr/>
        </p:nvSpPr>
        <p:spPr>
          <a:xfrm>
            <a:off x="7992364"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11</a:t>
            </a:r>
            <a:endParaRPr lang="en-US" sz="800" dirty="0"/>
          </a:p>
        </p:txBody>
      </p:sp>
      <p:sp>
        <p:nvSpPr>
          <p:cNvPr id="22" name="Shape 20"/>
          <p:cNvSpPr/>
          <p:nvPr/>
        </p:nvSpPr>
        <p:spPr>
          <a:xfrm>
            <a:off x="7992364" y="1773936"/>
            <a:ext cx="456336" cy="3931920"/>
          </a:xfrm>
          <a:prstGeom prst="rect">
            <a:avLst/>
          </a:prstGeom>
          <a:solidFill>
            <a:srgbClr val="EDEAE5"/>
          </a:solidFill>
          <a:ln/>
        </p:spPr>
      </p:sp>
      <p:sp>
        <p:nvSpPr>
          <p:cNvPr id="23" name="Text 21"/>
          <p:cNvSpPr txBox="1"/>
          <p:nvPr/>
        </p:nvSpPr>
        <p:spPr>
          <a:xfrm>
            <a:off x="8448700"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12</a:t>
            </a:r>
            <a:endParaRPr lang="en-US" sz="800" dirty="0"/>
          </a:p>
        </p:txBody>
      </p:sp>
      <p:sp>
        <p:nvSpPr>
          <p:cNvPr id="24" name="Text 22"/>
          <p:cNvSpPr txBox="1"/>
          <p:nvPr/>
        </p:nvSpPr>
        <p:spPr>
          <a:xfrm>
            <a:off x="8905037"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13</a:t>
            </a:r>
            <a:endParaRPr lang="en-US" sz="800" dirty="0"/>
          </a:p>
        </p:txBody>
      </p:sp>
      <p:sp>
        <p:nvSpPr>
          <p:cNvPr id="25" name="Shape 23"/>
          <p:cNvSpPr/>
          <p:nvPr/>
        </p:nvSpPr>
        <p:spPr>
          <a:xfrm>
            <a:off x="8905037" y="1773936"/>
            <a:ext cx="456336" cy="3931920"/>
          </a:xfrm>
          <a:prstGeom prst="rect">
            <a:avLst/>
          </a:prstGeom>
          <a:solidFill>
            <a:srgbClr val="EDEAE5"/>
          </a:solidFill>
          <a:ln/>
        </p:spPr>
      </p:sp>
      <p:sp>
        <p:nvSpPr>
          <p:cNvPr id="26" name="Text 24"/>
          <p:cNvSpPr txBox="1"/>
          <p:nvPr/>
        </p:nvSpPr>
        <p:spPr>
          <a:xfrm>
            <a:off x="9361373"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14</a:t>
            </a:r>
            <a:endParaRPr lang="en-US" sz="800" dirty="0"/>
          </a:p>
        </p:txBody>
      </p:sp>
      <p:sp>
        <p:nvSpPr>
          <p:cNvPr id="27" name="Text 25"/>
          <p:cNvSpPr txBox="1"/>
          <p:nvPr/>
        </p:nvSpPr>
        <p:spPr>
          <a:xfrm>
            <a:off x="9817710"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15</a:t>
            </a:r>
            <a:endParaRPr lang="en-US" sz="800" dirty="0"/>
          </a:p>
        </p:txBody>
      </p:sp>
      <p:sp>
        <p:nvSpPr>
          <p:cNvPr id="28" name="Shape 26"/>
          <p:cNvSpPr/>
          <p:nvPr/>
        </p:nvSpPr>
        <p:spPr>
          <a:xfrm>
            <a:off x="9817710" y="1773936"/>
            <a:ext cx="456336" cy="3931920"/>
          </a:xfrm>
          <a:prstGeom prst="rect">
            <a:avLst/>
          </a:prstGeom>
          <a:solidFill>
            <a:srgbClr val="EDEAE5"/>
          </a:solidFill>
          <a:ln/>
        </p:spPr>
      </p:sp>
      <p:sp>
        <p:nvSpPr>
          <p:cNvPr id="29" name="Text 27"/>
          <p:cNvSpPr txBox="1"/>
          <p:nvPr/>
        </p:nvSpPr>
        <p:spPr>
          <a:xfrm>
            <a:off x="10274046"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16</a:t>
            </a:r>
            <a:endParaRPr lang="en-US" sz="800" dirty="0"/>
          </a:p>
        </p:txBody>
      </p:sp>
      <p:sp>
        <p:nvSpPr>
          <p:cNvPr id="30" name="Text 28"/>
          <p:cNvSpPr txBox="1"/>
          <p:nvPr/>
        </p:nvSpPr>
        <p:spPr>
          <a:xfrm>
            <a:off x="10730382"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17</a:t>
            </a:r>
            <a:endParaRPr lang="en-US" sz="800" dirty="0"/>
          </a:p>
        </p:txBody>
      </p:sp>
      <p:sp>
        <p:nvSpPr>
          <p:cNvPr id="31" name="Shape 29"/>
          <p:cNvSpPr/>
          <p:nvPr/>
        </p:nvSpPr>
        <p:spPr>
          <a:xfrm>
            <a:off x="10730382" y="1773936"/>
            <a:ext cx="456336" cy="3931920"/>
          </a:xfrm>
          <a:prstGeom prst="rect">
            <a:avLst/>
          </a:prstGeom>
          <a:solidFill>
            <a:srgbClr val="EDEAE5"/>
          </a:solidFill>
          <a:ln/>
        </p:spPr>
      </p:sp>
      <p:sp>
        <p:nvSpPr>
          <p:cNvPr id="32" name="Text 30"/>
          <p:cNvSpPr txBox="1"/>
          <p:nvPr/>
        </p:nvSpPr>
        <p:spPr>
          <a:xfrm>
            <a:off x="11186719" y="1481328"/>
            <a:ext cx="456336" cy="237744"/>
          </a:xfrm>
          <a:prstGeom prst="rect">
            <a:avLst/>
          </a:prstGeom>
          <a:noFill/>
          <a:ln/>
        </p:spPr>
        <p:txBody>
          <a:bodyPr wrap="square" lIns="0" tIns="0" rIns="0" bIns="0" rtlCol="0" anchor="t"/>
          <a:lstStyle/>
          <a:p>
            <a:pPr algn="ctr" indent="0" marL="0">
              <a:lnSpc>
                <a:spcPct val="108000"/>
              </a:lnSpc>
              <a:buNone/>
            </a:pPr>
            <a:r>
              <a:rPr lang="en-US" sz="800" dirty="0">
                <a:solidFill>
                  <a:srgbClr val="8A949D"/>
                </a:solidFill>
                <a:latin typeface="Calibri" pitchFamily="34" charset="0"/>
                <a:ea typeface="Calibri" pitchFamily="34" charset="-122"/>
                <a:cs typeface="Calibri" pitchFamily="34" charset="-120"/>
              </a:rPr>
              <a:t>18</a:t>
            </a:r>
            <a:endParaRPr lang="en-US" sz="800" dirty="0"/>
          </a:p>
        </p:txBody>
      </p:sp>
      <p:sp>
        <p:nvSpPr>
          <p:cNvPr id="33" name="Text 31"/>
          <p:cNvSpPr txBox="1"/>
          <p:nvPr/>
        </p:nvSpPr>
        <p:spPr>
          <a:xfrm>
            <a:off x="3429000" y="1234440"/>
            <a:ext cx="274320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WEEK</a:t>
            </a:r>
            <a:endParaRPr lang="en-US" sz="1050" dirty="0"/>
          </a:p>
        </p:txBody>
      </p:sp>
      <p:sp>
        <p:nvSpPr>
          <p:cNvPr id="34" name="Text 32"/>
          <p:cNvSpPr txBox="1"/>
          <p:nvPr/>
        </p:nvSpPr>
        <p:spPr>
          <a:xfrm>
            <a:off x="548640" y="1234440"/>
            <a:ext cx="2697480"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PHASE</a:t>
            </a:r>
            <a:endParaRPr lang="en-US" sz="1050" dirty="0"/>
          </a:p>
        </p:txBody>
      </p:sp>
      <p:sp>
        <p:nvSpPr>
          <p:cNvPr id="35" name="Text 33"/>
          <p:cNvSpPr txBox="1"/>
          <p:nvPr/>
        </p:nvSpPr>
        <p:spPr>
          <a:xfrm>
            <a:off x="548640" y="1947672"/>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Requirements Gathering</a:t>
            </a:r>
            <a:endParaRPr lang="en-US" sz="1100" dirty="0"/>
          </a:p>
        </p:txBody>
      </p:sp>
      <p:sp>
        <p:nvSpPr>
          <p:cNvPr id="36" name="Shape 34"/>
          <p:cNvSpPr/>
          <p:nvPr/>
        </p:nvSpPr>
        <p:spPr>
          <a:xfrm>
            <a:off x="3456432" y="1847088"/>
            <a:ext cx="1314145" cy="429768"/>
          </a:xfrm>
          <a:prstGeom prst="roundRect">
            <a:avLst>
              <a:gd name="adj" fmla="val 21277"/>
            </a:avLst>
          </a:prstGeom>
          <a:solidFill>
            <a:srgbClr val="F2A413"/>
          </a:solidFill>
          <a:ln/>
        </p:spPr>
      </p:sp>
      <p:sp>
        <p:nvSpPr>
          <p:cNvPr id="37" name="Text 35"/>
          <p:cNvSpPr txBox="1"/>
          <p:nvPr/>
        </p:nvSpPr>
        <p:spPr>
          <a:xfrm>
            <a:off x="3456432" y="1965960"/>
            <a:ext cx="1314145"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W1–W3</a:t>
            </a:r>
            <a:endParaRPr lang="en-US" sz="900" dirty="0"/>
          </a:p>
        </p:txBody>
      </p:sp>
      <p:sp>
        <p:nvSpPr>
          <p:cNvPr id="38" name="Text 36"/>
          <p:cNvSpPr txBox="1"/>
          <p:nvPr/>
        </p:nvSpPr>
        <p:spPr>
          <a:xfrm>
            <a:off x="548640" y="2441448"/>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System Design</a:t>
            </a:r>
            <a:endParaRPr lang="en-US" sz="1100" dirty="0"/>
          </a:p>
        </p:txBody>
      </p:sp>
      <p:sp>
        <p:nvSpPr>
          <p:cNvPr id="39" name="Shape 37"/>
          <p:cNvSpPr/>
          <p:nvPr/>
        </p:nvSpPr>
        <p:spPr>
          <a:xfrm>
            <a:off x="4825441" y="2340864"/>
            <a:ext cx="1314145" cy="429768"/>
          </a:xfrm>
          <a:prstGeom prst="roundRect">
            <a:avLst>
              <a:gd name="adj" fmla="val 21277"/>
            </a:avLst>
          </a:prstGeom>
          <a:solidFill>
            <a:srgbClr val="F2A413"/>
          </a:solidFill>
          <a:ln/>
        </p:spPr>
      </p:sp>
      <p:sp>
        <p:nvSpPr>
          <p:cNvPr id="40" name="Text 38"/>
          <p:cNvSpPr txBox="1"/>
          <p:nvPr/>
        </p:nvSpPr>
        <p:spPr>
          <a:xfrm>
            <a:off x="4825441" y="2459736"/>
            <a:ext cx="1314145"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W4–W6</a:t>
            </a:r>
            <a:endParaRPr lang="en-US" sz="900" dirty="0"/>
          </a:p>
        </p:txBody>
      </p:sp>
      <p:sp>
        <p:nvSpPr>
          <p:cNvPr id="41" name="Text 39"/>
          <p:cNvSpPr txBox="1"/>
          <p:nvPr/>
        </p:nvSpPr>
        <p:spPr>
          <a:xfrm>
            <a:off x="548640" y="2935224"/>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Web Portal Development</a:t>
            </a:r>
            <a:endParaRPr lang="en-US" sz="1100" dirty="0"/>
          </a:p>
        </p:txBody>
      </p:sp>
      <p:sp>
        <p:nvSpPr>
          <p:cNvPr id="42" name="Shape 40"/>
          <p:cNvSpPr/>
          <p:nvPr/>
        </p:nvSpPr>
        <p:spPr>
          <a:xfrm>
            <a:off x="6194450" y="2834640"/>
            <a:ext cx="2226818" cy="429768"/>
          </a:xfrm>
          <a:prstGeom prst="roundRect">
            <a:avLst>
              <a:gd name="adj" fmla="val 21277"/>
            </a:avLst>
          </a:prstGeom>
          <a:solidFill>
            <a:srgbClr val="F2A413"/>
          </a:solidFill>
          <a:ln/>
        </p:spPr>
      </p:sp>
      <p:sp>
        <p:nvSpPr>
          <p:cNvPr id="43" name="Text 41"/>
          <p:cNvSpPr txBox="1"/>
          <p:nvPr/>
        </p:nvSpPr>
        <p:spPr>
          <a:xfrm>
            <a:off x="6194450" y="2953512"/>
            <a:ext cx="2226818"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W7–W11</a:t>
            </a:r>
            <a:endParaRPr lang="en-US" sz="900" dirty="0"/>
          </a:p>
        </p:txBody>
      </p:sp>
      <p:sp>
        <p:nvSpPr>
          <p:cNvPr id="44" name="Text 42"/>
          <p:cNvSpPr txBox="1"/>
          <p:nvPr/>
        </p:nvSpPr>
        <p:spPr>
          <a:xfrm>
            <a:off x="548640" y="3429000"/>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Mobile App Development</a:t>
            </a:r>
            <a:endParaRPr lang="en-US" sz="1100" dirty="0"/>
          </a:p>
        </p:txBody>
      </p:sp>
      <p:sp>
        <p:nvSpPr>
          <p:cNvPr id="45" name="Shape 43"/>
          <p:cNvSpPr/>
          <p:nvPr/>
        </p:nvSpPr>
        <p:spPr>
          <a:xfrm>
            <a:off x="7563460" y="3328416"/>
            <a:ext cx="1770482" cy="429768"/>
          </a:xfrm>
          <a:prstGeom prst="roundRect">
            <a:avLst>
              <a:gd name="adj" fmla="val 21277"/>
            </a:avLst>
          </a:prstGeom>
          <a:solidFill>
            <a:srgbClr val="F2A413"/>
          </a:solidFill>
          <a:ln/>
        </p:spPr>
      </p:sp>
      <p:sp>
        <p:nvSpPr>
          <p:cNvPr id="46" name="Text 44"/>
          <p:cNvSpPr txBox="1"/>
          <p:nvPr/>
        </p:nvSpPr>
        <p:spPr>
          <a:xfrm>
            <a:off x="7563460" y="3447288"/>
            <a:ext cx="1770482"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W10–W13</a:t>
            </a:r>
            <a:endParaRPr lang="en-US" sz="900" dirty="0"/>
          </a:p>
        </p:txBody>
      </p:sp>
      <p:sp>
        <p:nvSpPr>
          <p:cNvPr id="47" name="Text 45"/>
          <p:cNvSpPr txBox="1"/>
          <p:nvPr/>
        </p:nvSpPr>
        <p:spPr>
          <a:xfrm>
            <a:off x="548640" y="3922776"/>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Crypto Engine Integration</a:t>
            </a:r>
            <a:endParaRPr lang="en-US" sz="1100" dirty="0"/>
          </a:p>
        </p:txBody>
      </p:sp>
      <p:sp>
        <p:nvSpPr>
          <p:cNvPr id="48" name="Shape 46"/>
          <p:cNvSpPr/>
          <p:nvPr/>
        </p:nvSpPr>
        <p:spPr>
          <a:xfrm>
            <a:off x="8476132" y="3822192"/>
            <a:ext cx="1314145" cy="429768"/>
          </a:xfrm>
          <a:prstGeom prst="roundRect">
            <a:avLst>
              <a:gd name="adj" fmla="val 21277"/>
            </a:avLst>
          </a:prstGeom>
          <a:solidFill>
            <a:srgbClr val="F2A413"/>
          </a:solidFill>
          <a:ln/>
        </p:spPr>
      </p:sp>
      <p:sp>
        <p:nvSpPr>
          <p:cNvPr id="49" name="Text 47"/>
          <p:cNvSpPr txBox="1"/>
          <p:nvPr/>
        </p:nvSpPr>
        <p:spPr>
          <a:xfrm>
            <a:off x="8476132" y="3941064"/>
            <a:ext cx="1314145"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W12–W14</a:t>
            </a:r>
            <a:endParaRPr lang="en-US" sz="900" dirty="0"/>
          </a:p>
        </p:txBody>
      </p:sp>
      <p:sp>
        <p:nvSpPr>
          <p:cNvPr id="50" name="Text 48"/>
          <p:cNvSpPr txBox="1"/>
          <p:nvPr/>
        </p:nvSpPr>
        <p:spPr>
          <a:xfrm>
            <a:off x="548640" y="4416552"/>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Integration and Testing</a:t>
            </a:r>
            <a:endParaRPr lang="en-US" sz="1100" dirty="0"/>
          </a:p>
        </p:txBody>
      </p:sp>
      <p:sp>
        <p:nvSpPr>
          <p:cNvPr id="51" name="Shape 49"/>
          <p:cNvSpPr/>
          <p:nvPr/>
        </p:nvSpPr>
        <p:spPr>
          <a:xfrm>
            <a:off x="9388805" y="4315968"/>
            <a:ext cx="1314145" cy="429768"/>
          </a:xfrm>
          <a:prstGeom prst="roundRect">
            <a:avLst>
              <a:gd name="adj" fmla="val 21277"/>
            </a:avLst>
          </a:prstGeom>
          <a:solidFill>
            <a:srgbClr val="F2A413"/>
          </a:solidFill>
          <a:ln/>
        </p:spPr>
      </p:sp>
      <p:sp>
        <p:nvSpPr>
          <p:cNvPr id="52" name="Text 50"/>
          <p:cNvSpPr txBox="1"/>
          <p:nvPr/>
        </p:nvSpPr>
        <p:spPr>
          <a:xfrm>
            <a:off x="9388805" y="4434840"/>
            <a:ext cx="1314145"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W14–W16</a:t>
            </a:r>
            <a:endParaRPr lang="en-US" sz="900" dirty="0"/>
          </a:p>
        </p:txBody>
      </p:sp>
      <p:sp>
        <p:nvSpPr>
          <p:cNvPr id="53" name="Text 51"/>
          <p:cNvSpPr txBox="1"/>
          <p:nvPr/>
        </p:nvSpPr>
        <p:spPr>
          <a:xfrm>
            <a:off x="548640" y="4910328"/>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Documentation Finalisation</a:t>
            </a:r>
            <a:endParaRPr lang="en-US" sz="1100" dirty="0"/>
          </a:p>
        </p:txBody>
      </p:sp>
      <p:sp>
        <p:nvSpPr>
          <p:cNvPr id="54" name="Shape 52"/>
          <p:cNvSpPr/>
          <p:nvPr/>
        </p:nvSpPr>
        <p:spPr>
          <a:xfrm>
            <a:off x="9845142" y="4809744"/>
            <a:ext cx="1314145" cy="429768"/>
          </a:xfrm>
          <a:prstGeom prst="roundRect">
            <a:avLst>
              <a:gd name="adj" fmla="val 21277"/>
            </a:avLst>
          </a:prstGeom>
          <a:solidFill>
            <a:srgbClr val="F2A413"/>
          </a:solidFill>
          <a:ln/>
        </p:spPr>
      </p:sp>
      <p:sp>
        <p:nvSpPr>
          <p:cNvPr id="55" name="Text 53"/>
          <p:cNvSpPr txBox="1"/>
          <p:nvPr/>
        </p:nvSpPr>
        <p:spPr>
          <a:xfrm>
            <a:off x="9845142" y="4928616"/>
            <a:ext cx="1314145" cy="237744"/>
          </a:xfrm>
          <a:prstGeom prst="rect">
            <a:avLst/>
          </a:prstGeom>
          <a:noFill/>
          <a:ln/>
        </p:spPr>
        <p:txBody>
          <a:bodyPr wrap="square" lIns="0" tIns="0" rIns="0" bIns="0" rtlCol="0" anchor="t"/>
          <a:lstStyle/>
          <a:p>
            <a:pPr algn="ctr" indent="0" marL="0">
              <a:lnSpc>
                <a:spcPct val="108000"/>
              </a:lnSpc>
              <a:buNone/>
            </a:pPr>
            <a:r>
              <a:rPr lang="en-US" sz="900" dirty="0">
                <a:solidFill>
                  <a:srgbClr val="16191D"/>
                </a:solidFill>
                <a:latin typeface="Calibri" pitchFamily="34" charset="0"/>
                <a:ea typeface="Calibri" pitchFamily="34" charset="-122"/>
                <a:cs typeface="Calibri" pitchFamily="34" charset="-120"/>
              </a:rPr>
              <a:t>W15–W17</a:t>
            </a:r>
            <a:endParaRPr lang="en-US" sz="900" dirty="0"/>
          </a:p>
        </p:txBody>
      </p:sp>
      <p:sp>
        <p:nvSpPr>
          <p:cNvPr id="56" name="Text 54"/>
          <p:cNvSpPr txBox="1"/>
          <p:nvPr/>
        </p:nvSpPr>
        <p:spPr>
          <a:xfrm>
            <a:off x="548640" y="5404104"/>
            <a:ext cx="2697480" cy="274320"/>
          </a:xfrm>
          <a:prstGeom prst="rect">
            <a:avLst/>
          </a:prstGeom>
          <a:noFill/>
          <a:ln/>
        </p:spPr>
        <p:txBody>
          <a:bodyPr wrap="square" lIns="0" tIns="0" rIns="0" bIns="0" rtlCol="0" anchor="t"/>
          <a:lstStyle/>
          <a:p>
            <a:pPr algn="l" indent="0" marL="0">
              <a:lnSpc>
                <a:spcPct val="108000"/>
              </a:lnSpc>
              <a:buNone/>
            </a:pPr>
            <a:r>
              <a:rPr lang="en-US" sz="1100" dirty="0">
                <a:solidFill>
                  <a:srgbClr val="16191D"/>
                </a:solidFill>
                <a:latin typeface="Calibri" pitchFamily="34" charset="0"/>
                <a:ea typeface="Calibri" pitchFamily="34" charset="-122"/>
                <a:cs typeface="Calibri" pitchFamily="34" charset="-120"/>
              </a:rPr>
              <a:t>Capstone Defense</a:t>
            </a:r>
            <a:endParaRPr lang="en-US" sz="1100" dirty="0"/>
          </a:p>
        </p:txBody>
      </p:sp>
      <p:sp>
        <p:nvSpPr>
          <p:cNvPr id="57" name="Shape 55"/>
          <p:cNvSpPr/>
          <p:nvPr/>
        </p:nvSpPr>
        <p:spPr>
          <a:xfrm>
            <a:off x="11214151" y="5303520"/>
            <a:ext cx="401472" cy="429768"/>
          </a:xfrm>
          <a:prstGeom prst="roundRect">
            <a:avLst>
              <a:gd name="adj" fmla="val 22776"/>
            </a:avLst>
          </a:prstGeom>
          <a:solidFill>
            <a:srgbClr val="16191D"/>
          </a:solidFill>
          <a:ln/>
        </p:spPr>
      </p:sp>
      <p:sp>
        <p:nvSpPr>
          <p:cNvPr id="58" name="Text 56"/>
          <p:cNvSpPr txBox="1"/>
          <p:nvPr/>
        </p:nvSpPr>
        <p:spPr>
          <a:xfrm>
            <a:off x="11214151" y="5422392"/>
            <a:ext cx="401472" cy="237744"/>
          </a:xfrm>
          <a:prstGeom prst="rect">
            <a:avLst/>
          </a:prstGeom>
          <a:noFill/>
          <a:ln/>
        </p:spPr>
        <p:txBody>
          <a:bodyPr wrap="square" lIns="0" tIns="0" rIns="0" bIns="0" rtlCol="0" anchor="t"/>
          <a:lstStyle/>
          <a:p>
            <a:pPr algn="ctr" indent="0" marL="0">
              <a:lnSpc>
                <a:spcPct val="108000"/>
              </a:lnSpc>
              <a:buNone/>
            </a:pPr>
            <a:r>
              <a:rPr lang="en-US" sz="900" dirty="0">
                <a:solidFill>
                  <a:srgbClr val="FFFFFF"/>
                </a:solidFill>
                <a:latin typeface="Calibri" pitchFamily="34" charset="0"/>
                <a:ea typeface="Calibri" pitchFamily="34" charset="-122"/>
                <a:cs typeface="Calibri" pitchFamily="34" charset="-120"/>
              </a:rPr>
              <a:t>W18</a:t>
            </a:r>
            <a:endParaRPr lang="en-US" sz="900" dirty="0"/>
          </a:p>
        </p:txBody>
      </p:sp>
      <p:sp>
        <p:nvSpPr>
          <p:cNvPr id="59" name="Shape 57"/>
          <p:cNvSpPr/>
          <p:nvPr/>
        </p:nvSpPr>
        <p:spPr>
          <a:xfrm>
            <a:off x="548640" y="5852160"/>
            <a:ext cx="11094415" cy="457200"/>
          </a:xfrm>
          <a:prstGeom prst="roundRect">
            <a:avLst>
              <a:gd name="adj" fmla="val 12000"/>
            </a:avLst>
          </a:prstGeom>
          <a:solidFill>
            <a:srgbClr val="FDF1DA"/>
          </a:solidFill>
          <a:ln/>
        </p:spPr>
      </p:sp>
      <p:sp>
        <p:nvSpPr>
          <p:cNvPr id="60" name="Text 58"/>
          <p:cNvSpPr txBox="1"/>
          <p:nvPr/>
        </p:nvSpPr>
        <p:spPr>
          <a:xfrm>
            <a:off x="822960" y="5961888"/>
            <a:ext cx="9814255" cy="256032"/>
          </a:xfrm>
          <a:prstGeom prst="rect">
            <a:avLst/>
          </a:prstGeom>
          <a:noFill/>
          <a:ln/>
        </p:spPr>
        <p:txBody>
          <a:bodyPr wrap="square" lIns="0" tIns="0" rIns="0" bIns="0" rtlCol="0" anchor="t"/>
          <a:lstStyle/>
          <a:p>
            <a:pPr algn="l" indent="0" marL="0">
              <a:lnSpc>
                <a:spcPct val="108000"/>
              </a:lnSpc>
              <a:buNone/>
            </a:pPr>
            <a:r>
              <a:rPr lang="en-US" sz="1050" dirty="0">
                <a:solidFill>
                  <a:srgbClr val="9C6A08"/>
                </a:solidFill>
                <a:latin typeface="Calibri" pitchFamily="34" charset="0"/>
                <a:ea typeface="Calibri" pitchFamily="34" charset="-122"/>
                <a:cs typeface="Calibri" pitchFamily="34" charset="-120"/>
              </a:rPr>
              <a:t>Mobile development overlaps web development from week 10, and crypto integration overlaps testing from week 14. Those two overlaps are the critical path.</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2EF"/>
        </a:solidFill>
      </p:bgPr>
    </p:bg>
    <p:spTree>
      <p:nvGrpSpPr>
        <p:cNvPr id="1" name=""/>
        <p:cNvGrpSpPr/>
        <p:nvPr/>
      </p:nvGrpSpPr>
      <p:grpSpPr>
        <a:xfrm>
          <a:off x="0" y="0"/>
          <a:ext cx="0" cy="0"/>
          <a:chOff x="0" y="0"/>
          <a:chExt cx="0" cy="0"/>
        </a:xfrm>
      </p:grpSpPr>
      <p:sp>
        <p:nvSpPr>
          <p:cNvPr id="2" name="Text 0"/>
          <p:cNvSpPr txBox="1"/>
          <p:nvPr/>
        </p:nvSpPr>
        <p:spPr>
          <a:xfrm>
            <a:off x="548640" y="310896"/>
            <a:ext cx="11094415" cy="237744"/>
          </a:xfrm>
          <a:prstGeom prst="rect">
            <a:avLst/>
          </a:prstGeom>
          <a:noFill/>
          <a:ln/>
        </p:spPr>
        <p:txBody>
          <a:bodyPr wrap="square" lIns="0" tIns="0" rIns="0" bIns="0" rtlCol="0" anchor="ctr"/>
          <a:lstStyle/>
          <a:p>
            <a:pPr indent="0" marL="0">
              <a:buNone/>
            </a:pPr>
            <a:r>
              <a:rPr lang="en-US" sz="1100" b="1" spc="140" kern="0" dirty="0">
                <a:solidFill>
                  <a:srgbClr val="9C6A08"/>
                </a:solidFill>
                <a:latin typeface="Calibri" pitchFamily="34" charset="0"/>
                <a:ea typeface="Calibri" pitchFamily="34" charset="-122"/>
                <a:cs typeface="Calibri" pitchFamily="34" charset="-120"/>
              </a:rPr>
              <a:t>MILESTONES AND TIMELINE</a:t>
            </a:r>
            <a:endParaRPr lang="en-US" sz="1100" dirty="0"/>
          </a:p>
        </p:txBody>
      </p:sp>
      <p:sp>
        <p:nvSpPr>
          <p:cNvPr id="3" name="Text 1"/>
          <p:cNvSpPr txBox="1"/>
          <p:nvPr/>
        </p:nvSpPr>
        <p:spPr>
          <a:xfrm>
            <a:off x="548640" y="566928"/>
            <a:ext cx="11094415" cy="603504"/>
          </a:xfrm>
          <a:prstGeom prst="rect">
            <a:avLst/>
          </a:prstGeom>
          <a:noFill/>
          <a:ln/>
        </p:spPr>
        <p:txBody>
          <a:bodyPr wrap="square" lIns="0" tIns="0" rIns="0" bIns="0" rtlCol="0" anchor="ctr"/>
          <a:lstStyle/>
          <a:p>
            <a:pPr indent="0" marL="0">
              <a:buNone/>
            </a:pPr>
            <a:r>
              <a:rPr lang="en-US" sz="3000" b="1" dirty="0">
                <a:solidFill>
                  <a:srgbClr val="16191D"/>
                </a:solidFill>
                <a:latin typeface="Cambria" pitchFamily="34" charset="0"/>
                <a:ea typeface="Cambria" pitchFamily="34" charset="-122"/>
                <a:cs typeface="Cambria" pitchFamily="34" charset="-120"/>
              </a:rPr>
              <a:t>Milestone Deliverables</a:t>
            </a:r>
            <a:endParaRPr lang="en-US" sz="3000" dirty="0"/>
          </a:p>
        </p:txBody>
      </p:sp>
      <p:sp>
        <p:nvSpPr>
          <p:cNvPr id="4" name="Text 2"/>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41</a:t>
            </a:r>
            <a:endParaRPr lang="en-US" sz="900" dirty="0"/>
          </a:p>
        </p:txBody>
      </p:sp>
      <p:sp>
        <p:nvSpPr>
          <p:cNvPr id="5" name="Text 3"/>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Rayla G. Lanaza  ·  Documentation Lead</a:t>
            </a:r>
            <a:endParaRPr lang="en-US" sz="900" dirty="0"/>
          </a:p>
        </p:txBody>
      </p:sp>
      <p:sp>
        <p:nvSpPr>
          <p:cNvPr id="6" name="Shape 4"/>
          <p:cNvSpPr/>
          <p:nvPr/>
        </p:nvSpPr>
        <p:spPr>
          <a:xfrm>
            <a:off x="548640" y="1371600"/>
            <a:ext cx="2533574" cy="2057400"/>
          </a:xfrm>
          <a:prstGeom prst="roundRect">
            <a:avLst>
              <a:gd name="adj" fmla="val 2667"/>
            </a:avLst>
          </a:prstGeom>
          <a:solidFill>
            <a:srgbClr val="FFFFFF"/>
          </a:solidFill>
          <a:ln w="12700">
            <a:solidFill>
              <a:srgbClr val="DCD7D0"/>
            </a:solidFill>
            <a:prstDash val="solid"/>
          </a:ln>
        </p:spPr>
      </p:sp>
      <p:sp>
        <p:nvSpPr>
          <p:cNvPr id="7" name="Shape 5"/>
          <p:cNvSpPr/>
          <p:nvPr/>
        </p:nvSpPr>
        <p:spPr>
          <a:xfrm>
            <a:off x="786384" y="1609344"/>
            <a:ext cx="658368" cy="292608"/>
          </a:xfrm>
          <a:prstGeom prst="roundRect">
            <a:avLst>
              <a:gd name="adj" fmla="val 37500"/>
            </a:avLst>
          </a:prstGeom>
          <a:solidFill>
            <a:srgbClr val="16191D"/>
          </a:solidFill>
          <a:ln/>
        </p:spPr>
      </p:sp>
      <p:sp>
        <p:nvSpPr>
          <p:cNvPr id="8" name="Text 6"/>
          <p:cNvSpPr txBox="1"/>
          <p:nvPr/>
        </p:nvSpPr>
        <p:spPr>
          <a:xfrm>
            <a:off x="786384" y="160934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W3</a:t>
            </a:r>
            <a:endParaRPr lang="en-US" sz="1050" dirty="0"/>
          </a:p>
        </p:txBody>
      </p:sp>
      <p:sp>
        <p:nvSpPr>
          <p:cNvPr id="9" name="Text 7"/>
          <p:cNvSpPr txBox="1"/>
          <p:nvPr/>
        </p:nvSpPr>
        <p:spPr>
          <a:xfrm>
            <a:off x="786384" y="202996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Approved SRS</a:t>
            </a:r>
            <a:endParaRPr lang="en-US" sz="1300" dirty="0"/>
          </a:p>
        </p:txBody>
      </p:sp>
      <p:sp>
        <p:nvSpPr>
          <p:cNvPr id="10" name="Text 8"/>
          <p:cNvSpPr txBox="1"/>
          <p:nvPr/>
        </p:nvSpPr>
        <p:spPr>
          <a:xfrm>
            <a:off x="786384" y="267004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Requirements confirmed with the client and signed off by the adviser.</a:t>
            </a:r>
            <a:endParaRPr lang="en-US" sz="1050" dirty="0"/>
          </a:p>
        </p:txBody>
      </p:sp>
      <p:sp>
        <p:nvSpPr>
          <p:cNvPr id="11" name="Shape 9"/>
          <p:cNvSpPr/>
          <p:nvPr/>
        </p:nvSpPr>
        <p:spPr>
          <a:xfrm>
            <a:off x="3402254" y="1371600"/>
            <a:ext cx="2533574" cy="2057400"/>
          </a:xfrm>
          <a:prstGeom prst="roundRect">
            <a:avLst>
              <a:gd name="adj" fmla="val 2667"/>
            </a:avLst>
          </a:prstGeom>
          <a:solidFill>
            <a:srgbClr val="FFFFFF"/>
          </a:solidFill>
          <a:ln w="12700">
            <a:solidFill>
              <a:srgbClr val="DCD7D0"/>
            </a:solidFill>
            <a:prstDash val="solid"/>
          </a:ln>
        </p:spPr>
      </p:sp>
      <p:sp>
        <p:nvSpPr>
          <p:cNvPr id="12" name="Shape 10"/>
          <p:cNvSpPr/>
          <p:nvPr/>
        </p:nvSpPr>
        <p:spPr>
          <a:xfrm>
            <a:off x="3639998" y="1609344"/>
            <a:ext cx="658368" cy="292608"/>
          </a:xfrm>
          <a:prstGeom prst="roundRect">
            <a:avLst>
              <a:gd name="adj" fmla="val 37500"/>
            </a:avLst>
          </a:prstGeom>
          <a:solidFill>
            <a:srgbClr val="16191D"/>
          </a:solidFill>
          <a:ln/>
        </p:spPr>
      </p:sp>
      <p:sp>
        <p:nvSpPr>
          <p:cNvPr id="13" name="Text 11"/>
          <p:cNvSpPr txBox="1"/>
          <p:nvPr/>
        </p:nvSpPr>
        <p:spPr>
          <a:xfrm>
            <a:off x="3639998" y="160934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W6</a:t>
            </a:r>
            <a:endParaRPr lang="en-US" sz="1050" dirty="0"/>
          </a:p>
        </p:txBody>
      </p:sp>
      <p:sp>
        <p:nvSpPr>
          <p:cNvPr id="14" name="Text 12"/>
          <p:cNvSpPr txBox="1"/>
          <p:nvPr/>
        </p:nvSpPr>
        <p:spPr>
          <a:xfrm>
            <a:off x="3639998" y="202996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Approved SDD and prototypes</a:t>
            </a:r>
            <a:endParaRPr lang="en-US" sz="1300" dirty="0"/>
          </a:p>
        </p:txBody>
      </p:sp>
      <p:sp>
        <p:nvSpPr>
          <p:cNvPr id="15" name="Text 13"/>
          <p:cNvSpPr txBox="1"/>
          <p:nvPr/>
        </p:nvSpPr>
        <p:spPr>
          <a:xfrm>
            <a:off x="3639998" y="267004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Architecture, thirteen-table schema and screen designs settled.</a:t>
            </a:r>
            <a:endParaRPr lang="en-US" sz="1050" dirty="0"/>
          </a:p>
        </p:txBody>
      </p:sp>
      <p:sp>
        <p:nvSpPr>
          <p:cNvPr id="16" name="Shape 14"/>
          <p:cNvSpPr/>
          <p:nvPr/>
        </p:nvSpPr>
        <p:spPr>
          <a:xfrm>
            <a:off x="6255868" y="1371600"/>
            <a:ext cx="2533574" cy="2057400"/>
          </a:xfrm>
          <a:prstGeom prst="roundRect">
            <a:avLst>
              <a:gd name="adj" fmla="val 2667"/>
            </a:avLst>
          </a:prstGeom>
          <a:solidFill>
            <a:srgbClr val="FFFFFF"/>
          </a:solidFill>
          <a:ln w="12700">
            <a:solidFill>
              <a:srgbClr val="DCD7D0"/>
            </a:solidFill>
            <a:prstDash val="solid"/>
          </a:ln>
        </p:spPr>
      </p:sp>
      <p:sp>
        <p:nvSpPr>
          <p:cNvPr id="17" name="Shape 15"/>
          <p:cNvSpPr/>
          <p:nvPr/>
        </p:nvSpPr>
        <p:spPr>
          <a:xfrm>
            <a:off x="6493612" y="1609344"/>
            <a:ext cx="658368" cy="292608"/>
          </a:xfrm>
          <a:prstGeom prst="roundRect">
            <a:avLst>
              <a:gd name="adj" fmla="val 37500"/>
            </a:avLst>
          </a:prstGeom>
          <a:solidFill>
            <a:srgbClr val="16191D"/>
          </a:solidFill>
          <a:ln/>
        </p:spPr>
      </p:sp>
      <p:sp>
        <p:nvSpPr>
          <p:cNvPr id="18" name="Text 16"/>
          <p:cNvSpPr txBox="1"/>
          <p:nvPr/>
        </p:nvSpPr>
        <p:spPr>
          <a:xfrm>
            <a:off x="6493612" y="160934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W11</a:t>
            </a:r>
            <a:endParaRPr lang="en-US" sz="1050" dirty="0"/>
          </a:p>
        </p:txBody>
      </p:sp>
      <p:sp>
        <p:nvSpPr>
          <p:cNvPr id="19" name="Text 17"/>
          <p:cNvSpPr txBox="1"/>
          <p:nvPr/>
        </p:nvSpPr>
        <p:spPr>
          <a:xfrm>
            <a:off x="6493612" y="202996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Functional web HRIS</a:t>
            </a:r>
            <a:endParaRPr lang="en-US" sz="1300" dirty="0"/>
          </a:p>
        </p:txBody>
      </p:sp>
      <p:sp>
        <p:nvSpPr>
          <p:cNvPr id="20" name="Text 18"/>
          <p:cNvSpPr txBox="1"/>
          <p:nvPr/>
        </p:nvSpPr>
        <p:spPr>
          <a:xfrm>
            <a:off x="6493612" y="267004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Laravel API and React portal running the office-side modules.</a:t>
            </a:r>
            <a:endParaRPr lang="en-US" sz="1050" dirty="0"/>
          </a:p>
        </p:txBody>
      </p:sp>
      <p:sp>
        <p:nvSpPr>
          <p:cNvPr id="21" name="Shape 19"/>
          <p:cNvSpPr/>
          <p:nvPr/>
        </p:nvSpPr>
        <p:spPr>
          <a:xfrm>
            <a:off x="9109481" y="1371600"/>
            <a:ext cx="2533574" cy="2057400"/>
          </a:xfrm>
          <a:prstGeom prst="roundRect">
            <a:avLst>
              <a:gd name="adj" fmla="val 2667"/>
            </a:avLst>
          </a:prstGeom>
          <a:solidFill>
            <a:srgbClr val="FFFFFF"/>
          </a:solidFill>
          <a:ln w="12700">
            <a:solidFill>
              <a:srgbClr val="DCD7D0"/>
            </a:solidFill>
            <a:prstDash val="solid"/>
          </a:ln>
        </p:spPr>
      </p:sp>
      <p:sp>
        <p:nvSpPr>
          <p:cNvPr id="22" name="Shape 20"/>
          <p:cNvSpPr/>
          <p:nvPr/>
        </p:nvSpPr>
        <p:spPr>
          <a:xfrm>
            <a:off x="9347225" y="1609344"/>
            <a:ext cx="658368" cy="292608"/>
          </a:xfrm>
          <a:prstGeom prst="roundRect">
            <a:avLst>
              <a:gd name="adj" fmla="val 37500"/>
            </a:avLst>
          </a:prstGeom>
          <a:solidFill>
            <a:srgbClr val="16191D"/>
          </a:solidFill>
          <a:ln/>
        </p:spPr>
      </p:sp>
      <p:sp>
        <p:nvSpPr>
          <p:cNvPr id="23" name="Text 21"/>
          <p:cNvSpPr txBox="1"/>
          <p:nvPr/>
        </p:nvSpPr>
        <p:spPr>
          <a:xfrm>
            <a:off x="9347225" y="160934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W13</a:t>
            </a:r>
            <a:endParaRPr lang="en-US" sz="1050" dirty="0"/>
          </a:p>
        </p:txBody>
      </p:sp>
      <p:sp>
        <p:nvSpPr>
          <p:cNvPr id="24" name="Text 22"/>
          <p:cNvSpPr txBox="1"/>
          <p:nvPr/>
        </p:nvSpPr>
        <p:spPr>
          <a:xfrm>
            <a:off x="9347225" y="202996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Functional mobile app</a:t>
            </a:r>
            <a:endParaRPr lang="en-US" sz="1300" dirty="0"/>
          </a:p>
        </p:txBody>
      </p:sp>
      <p:sp>
        <p:nvSpPr>
          <p:cNvPr id="25" name="Text 23"/>
          <p:cNvSpPr txBox="1"/>
          <p:nvPr/>
        </p:nvSpPr>
        <p:spPr>
          <a:xfrm>
            <a:off x="9347225" y="267004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Android build performing offline roll call on encrypted local storage.</a:t>
            </a:r>
            <a:endParaRPr lang="en-US" sz="1050" dirty="0"/>
          </a:p>
        </p:txBody>
      </p:sp>
      <p:sp>
        <p:nvSpPr>
          <p:cNvPr id="26" name="Shape 24"/>
          <p:cNvSpPr/>
          <p:nvPr/>
        </p:nvSpPr>
        <p:spPr>
          <a:xfrm>
            <a:off x="548640" y="3749040"/>
            <a:ext cx="2533574" cy="2057400"/>
          </a:xfrm>
          <a:prstGeom prst="roundRect">
            <a:avLst>
              <a:gd name="adj" fmla="val 2667"/>
            </a:avLst>
          </a:prstGeom>
          <a:solidFill>
            <a:srgbClr val="FFFFFF"/>
          </a:solidFill>
          <a:ln w="12700">
            <a:solidFill>
              <a:srgbClr val="DCD7D0"/>
            </a:solidFill>
            <a:prstDash val="solid"/>
          </a:ln>
        </p:spPr>
      </p:sp>
      <p:sp>
        <p:nvSpPr>
          <p:cNvPr id="27" name="Shape 25"/>
          <p:cNvSpPr/>
          <p:nvPr/>
        </p:nvSpPr>
        <p:spPr>
          <a:xfrm>
            <a:off x="786384" y="3986784"/>
            <a:ext cx="658368" cy="292608"/>
          </a:xfrm>
          <a:prstGeom prst="roundRect">
            <a:avLst>
              <a:gd name="adj" fmla="val 37500"/>
            </a:avLst>
          </a:prstGeom>
          <a:solidFill>
            <a:srgbClr val="16191D"/>
          </a:solidFill>
          <a:ln/>
        </p:spPr>
      </p:sp>
      <p:sp>
        <p:nvSpPr>
          <p:cNvPr id="28" name="Text 26"/>
          <p:cNvSpPr txBox="1"/>
          <p:nvPr/>
        </p:nvSpPr>
        <p:spPr>
          <a:xfrm>
            <a:off x="786384" y="398678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W14</a:t>
            </a:r>
            <a:endParaRPr lang="en-US" sz="1050" dirty="0"/>
          </a:p>
        </p:txBody>
      </p:sp>
      <p:sp>
        <p:nvSpPr>
          <p:cNvPr id="29" name="Text 27"/>
          <p:cNvSpPr txBox="1"/>
          <p:nvPr/>
        </p:nvSpPr>
        <p:spPr>
          <a:xfrm>
            <a:off x="786384" y="440740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Crypto engine complete</a:t>
            </a:r>
            <a:endParaRPr lang="en-US" sz="1300" dirty="0"/>
          </a:p>
        </p:txBody>
      </p:sp>
      <p:sp>
        <p:nvSpPr>
          <p:cNvPr id="30" name="Text 28"/>
          <p:cNvSpPr txBox="1"/>
          <p:nvPr/>
        </p:nvSpPr>
        <p:spPr>
          <a:xfrm>
            <a:off x="786384" y="504748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All four integrity layers working end to end, device through server.</a:t>
            </a:r>
            <a:endParaRPr lang="en-US" sz="1050" dirty="0"/>
          </a:p>
        </p:txBody>
      </p:sp>
      <p:sp>
        <p:nvSpPr>
          <p:cNvPr id="31" name="Shape 29"/>
          <p:cNvSpPr/>
          <p:nvPr/>
        </p:nvSpPr>
        <p:spPr>
          <a:xfrm>
            <a:off x="3402254" y="3749040"/>
            <a:ext cx="2533574" cy="2057400"/>
          </a:xfrm>
          <a:prstGeom prst="roundRect">
            <a:avLst>
              <a:gd name="adj" fmla="val 2667"/>
            </a:avLst>
          </a:prstGeom>
          <a:solidFill>
            <a:srgbClr val="FFFFFF"/>
          </a:solidFill>
          <a:ln w="12700">
            <a:solidFill>
              <a:srgbClr val="DCD7D0"/>
            </a:solidFill>
            <a:prstDash val="solid"/>
          </a:ln>
        </p:spPr>
      </p:sp>
      <p:sp>
        <p:nvSpPr>
          <p:cNvPr id="32" name="Shape 30"/>
          <p:cNvSpPr/>
          <p:nvPr/>
        </p:nvSpPr>
        <p:spPr>
          <a:xfrm>
            <a:off x="3639998" y="3986784"/>
            <a:ext cx="658368" cy="292608"/>
          </a:xfrm>
          <a:prstGeom prst="roundRect">
            <a:avLst>
              <a:gd name="adj" fmla="val 37500"/>
            </a:avLst>
          </a:prstGeom>
          <a:solidFill>
            <a:srgbClr val="16191D"/>
          </a:solidFill>
          <a:ln/>
        </p:spPr>
      </p:sp>
      <p:sp>
        <p:nvSpPr>
          <p:cNvPr id="33" name="Text 31"/>
          <p:cNvSpPr txBox="1"/>
          <p:nvPr/>
        </p:nvSpPr>
        <p:spPr>
          <a:xfrm>
            <a:off x="3639998" y="398678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W16</a:t>
            </a:r>
            <a:endParaRPr lang="en-US" sz="1050" dirty="0"/>
          </a:p>
        </p:txBody>
      </p:sp>
      <p:sp>
        <p:nvSpPr>
          <p:cNvPr id="34" name="Text 32"/>
          <p:cNvSpPr txBox="1"/>
          <p:nvPr/>
        </p:nvSpPr>
        <p:spPr>
          <a:xfrm>
            <a:off x="3639998" y="440740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All test cases passed</a:t>
            </a:r>
            <a:endParaRPr lang="en-US" sz="1300" dirty="0"/>
          </a:p>
        </p:txBody>
      </p:sp>
      <p:sp>
        <p:nvSpPr>
          <p:cNvPr id="35" name="Text 33"/>
          <p:cNvSpPr txBox="1"/>
          <p:nvPr/>
        </p:nvSpPr>
        <p:spPr>
          <a:xfrm>
            <a:off x="3639998" y="504748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TC-01 to TC-06 executed, including the three attack simulations.</a:t>
            </a:r>
            <a:endParaRPr lang="en-US" sz="1050" dirty="0"/>
          </a:p>
        </p:txBody>
      </p:sp>
      <p:sp>
        <p:nvSpPr>
          <p:cNvPr id="36" name="Shape 34"/>
          <p:cNvSpPr/>
          <p:nvPr/>
        </p:nvSpPr>
        <p:spPr>
          <a:xfrm>
            <a:off x="6255868" y="3749040"/>
            <a:ext cx="2533574" cy="2057400"/>
          </a:xfrm>
          <a:prstGeom prst="roundRect">
            <a:avLst>
              <a:gd name="adj" fmla="val 2667"/>
            </a:avLst>
          </a:prstGeom>
          <a:solidFill>
            <a:srgbClr val="FFFFFF"/>
          </a:solidFill>
          <a:ln w="12700">
            <a:solidFill>
              <a:srgbClr val="DCD7D0"/>
            </a:solidFill>
            <a:prstDash val="solid"/>
          </a:ln>
        </p:spPr>
      </p:sp>
      <p:sp>
        <p:nvSpPr>
          <p:cNvPr id="37" name="Shape 35"/>
          <p:cNvSpPr/>
          <p:nvPr/>
        </p:nvSpPr>
        <p:spPr>
          <a:xfrm>
            <a:off x="6493612" y="3986784"/>
            <a:ext cx="658368" cy="292608"/>
          </a:xfrm>
          <a:prstGeom prst="roundRect">
            <a:avLst>
              <a:gd name="adj" fmla="val 37500"/>
            </a:avLst>
          </a:prstGeom>
          <a:solidFill>
            <a:srgbClr val="16191D"/>
          </a:solidFill>
          <a:ln/>
        </p:spPr>
      </p:sp>
      <p:sp>
        <p:nvSpPr>
          <p:cNvPr id="38" name="Text 36"/>
          <p:cNvSpPr txBox="1"/>
          <p:nvPr/>
        </p:nvSpPr>
        <p:spPr>
          <a:xfrm>
            <a:off x="6493612" y="398678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W17</a:t>
            </a:r>
            <a:endParaRPr lang="en-US" sz="1050" dirty="0"/>
          </a:p>
        </p:txBody>
      </p:sp>
      <p:sp>
        <p:nvSpPr>
          <p:cNvPr id="39" name="Text 37"/>
          <p:cNvSpPr txBox="1"/>
          <p:nvPr/>
        </p:nvSpPr>
        <p:spPr>
          <a:xfrm>
            <a:off x="6493612" y="440740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Documents submitted</a:t>
            </a:r>
            <a:endParaRPr lang="en-US" sz="1300" dirty="0"/>
          </a:p>
        </p:txBody>
      </p:sp>
      <p:sp>
        <p:nvSpPr>
          <p:cNvPr id="40" name="Text 38"/>
          <p:cNvSpPr txBox="1"/>
          <p:nvPr/>
        </p:nvSpPr>
        <p:spPr>
          <a:xfrm>
            <a:off x="6493612" y="504748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SPMP, SRS, SDD and STD finalised and packaged.</a:t>
            </a:r>
            <a:endParaRPr lang="en-US" sz="1050" dirty="0"/>
          </a:p>
        </p:txBody>
      </p:sp>
      <p:sp>
        <p:nvSpPr>
          <p:cNvPr id="41" name="Shape 39"/>
          <p:cNvSpPr/>
          <p:nvPr/>
        </p:nvSpPr>
        <p:spPr>
          <a:xfrm>
            <a:off x="9109481" y="3749040"/>
            <a:ext cx="2533574" cy="2057400"/>
          </a:xfrm>
          <a:prstGeom prst="roundRect">
            <a:avLst>
              <a:gd name="adj" fmla="val 2667"/>
            </a:avLst>
          </a:prstGeom>
          <a:solidFill>
            <a:srgbClr val="FFFFFF"/>
          </a:solidFill>
          <a:ln w="12700">
            <a:solidFill>
              <a:srgbClr val="DCD7D0"/>
            </a:solidFill>
            <a:prstDash val="solid"/>
          </a:ln>
        </p:spPr>
      </p:sp>
      <p:sp>
        <p:nvSpPr>
          <p:cNvPr id="42" name="Shape 40"/>
          <p:cNvSpPr/>
          <p:nvPr/>
        </p:nvSpPr>
        <p:spPr>
          <a:xfrm>
            <a:off x="9347225" y="3986784"/>
            <a:ext cx="658368" cy="292608"/>
          </a:xfrm>
          <a:prstGeom prst="roundRect">
            <a:avLst>
              <a:gd name="adj" fmla="val 37500"/>
            </a:avLst>
          </a:prstGeom>
          <a:solidFill>
            <a:srgbClr val="16191D"/>
          </a:solidFill>
          <a:ln/>
        </p:spPr>
      </p:sp>
      <p:sp>
        <p:nvSpPr>
          <p:cNvPr id="43" name="Text 41"/>
          <p:cNvSpPr txBox="1"/>
          <p:nvPr/>
        </p:nvSpPr>
        <p:spPr>
          <a:xfrm>
            <a:off x="9347225" y="3986784"/>
            <a:ext cx="658368" cy="292608"/>
          </a:xfrm>
          <a:prstGeom prst="rect">
            <a:avLst/>
          </a:prstGeom>
          <a:noFill/>
          <a:ln/>
        </p:spPr>
        <p:txBody>
          <a:bodyPr wrap="square" lIns="0" tIns="0" rIns="0" bIns="0" rtlCol="0" anchor="ctr"/>
          <a:lstStyle/>
          <a:p>
            <a:pPr algn="ctr" indent="0" marL="0">
              <a:buNone/>
            </a:pPr>
            <a:r>
              <a:rPr lang="en-US" sz="1050" b="1" dirty="0">
                <a:solidFill>
                  <a:srgbClr val="F2A413"/>
                </a:solidFill>
                <a:latin typeface="Calibri" pitchFamily="34" charset="0"/>
                <a:ea typeface="Calibri" pitchFamily="34" charset="-122"/>
                <a:cs typeface="Calibri" pitchFamily="34" charset="-120"/>
              </a:rPr>
              <a:t>W18</a:t>
            </a:r>
            <a:endParaRPr lang="en-US" sz="1050" dirty="0"/>
          </a:p>
        </p:txBody>
      </p:sp>
      <p:sp>
        <p:nvSpPr>
          <p:cNvPr id="44" name="Text 42"/>
          <p:cNvSpPr txBox="1"/>
          <p:nvPr/>
        </p:nvSpPr>
        <p:spPr>
          <a:xfrm>
            <a:off x="9347225" y="4407408"/>
            <a:ext cx="2058086" cy="548640"/>
          </a:xfrm>
          <a:prstGeom prst="rect">
            <a:avLst/>
          </a:prstGeom>
          <a:noFill/>
          <a:ln/>
        </p:spPr>
        <p:txBody>
          <a:bodyPr wrap="square" lIns="0" tIns="0" rIns="0" bIns="0" rtlCol="0" anchor="t"/>
          <a:lstStyle/>
          <a:p>
            <a:pPr indent="0" marL="0">
              <a:buNone/>
            </a:pPr>
            <a:r>
              <a:rPr lang="en-US" sz="1300" b="1" dirty="0">
                <a:solidFill>
                  <a:srgbClr val="16191D"/>
                </a:solidFill>
                <a:latin typeface="Calibri" pitchFamily="34" charset="0"/>
                <a:ea typeface="Calibri" pitchFamily="34" charset="-122"/>
                <a:cs typeface="Calibri" pitchFamily="34" charset="-120"/>
              </a:rPr>
              <a:t>Defense completed</a:t>
            </a:r>
            <a:endParaRPr lang="en-US" sz="1300" dirty="0"/>
          </a:p>
        </p:txBody>
      </p:sp>
      <p:sp>
        <p:nvSpPr>
          <p:cNvPr id="45" name="Text 43"/>
          <p:cNvSpPr txBox="1"/>
          <p:nvPr/>
        </p:nvSpPr>
        <p:spPr>
          <a:xfrm>
            <a:off x="9347225" y="5047488"/>
            <a:ext cx="2058086" cy="640080"/>
          </a:xfrm>
          <a:prstGeom prst="rect">
            <a:avLst/>
          </a:prstGeom>
          <a:noFill/>
          <a:ln/>
        </p:spPr>
        <p:txBody>
          <a:bodyPr wrap="square" lIns="0" tIns="0" rIns="0" bIns="0" rtlCol="0" anchor="t"/>
          <a:lstStyle/>
          <a:p>
            <a:pPr algn="l" indent="0" marL="0">
              <a:lnSpc>
                <a:spcPct val="108000"/>
              </a:lnSpc>
              <a:buNone/>
            </a:pPr>
            <a:r>
              <a:rPr lang="en-US" sz="1050" dirty="0">
                <a:solidFill>
                  <a:srgbClr val="5A656F"/>
                </a:solidFill>
                <a:latin typeface="Calibri" pitchFamily="34" charset="0"/>
                <a:ea typeface="Calibri" pitchFamily="34" charset="-122"/>
                <a:cs typeface="Calibri" pitchFamily="34" charset="-120"/>
              </a:rPr>
              <a:t>Live demonstration, question and answer, project handoff.</a:t>
            </a:r>
            <a:endParaRPr lang="en-US" sz="1050" dirty="0"/>
          </a:p>
        </p:txBody>
      </p:sp>
      <p:sp>
        <p:nvSpPr>
          <p:cNvPr id="46" name="Text 44"/>
          <p:cNvSpPr txBox="1"/>
          <p:nvPr/>
        </p:nvSpPr>
        <p:spPr>
          <a:xfrm>
            <a:off x="548640" y="5943600"/>
            <a:ext cx="11094415" cy="274320"/>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Progress is reported to the Project Manager every Friday, and a written milestone report goes to the adviser at each phase close.</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11185855" y="6382512"/>
            <a:ext cx="54864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42</a:t>
            </a:r>
            <a:endParaRPr lang="en-US" sz="900" dirty="0"/>
          </a:p>
        </p:txBody>
      </p:sp>
      <p:sp>
        <p:nvSpPr>
          <p:cNvPr id="3" name="Text 1"/>
          <p:cNvSpPr txBox="1"/>
          <p:nvPr/>
        </p:nvSpPr>
        <p:spPr>
          <a:xfrm>
            <a:off x="7071055" y="6382512"/>
            <a:ext cx="4023360" cy="274320"/>
          </a:xfrm>
          <a:prstGeom prst="rect">
            <a:avLst/>
          </a:prstGeom>
          <a:noFill/>
          <a:ln/>
        </p:spPr>
        <p:txBody>
          <a:bodyPr wrap="square" lIns="0" tIns="0" rIns="0" bIns="0" rtlCol="0" anchor="ctr"/>
          <a:lstStyle/>
          <a:p>
            <a:pPr algn="r" indent="0" marL="0">
              <a:buNone/>
            </a:pPr>
            <a:r>
              <a:rPr lang="en-US" sz="900" dirty="0">
                <a:solidFill>
                  <a:srgbClr val="8A949D"/>
                </a:solidFill>
                <a:latin typeface="Calibri" pitchFamily="34" charset="0"/>
                <a:ea typeface="Calibri" pitchFamily="34" charset="-122"/>
                <a:cs typeface="Calibri" pitchFamily="34" charset="-120"/>
              </a:rPr>
              <a:t>Jay Mark A. Reños  ·  Project Manager</a:t>
            </a:r>
            <a:endParaRPr lang="en-US" sz="900" dirty="0"/>
          </a:p>
        </p:txBody>
      </p:sp>
      <p:sp>
        <p:nvSpPr>
          <p:cNvPr id="4" name="Text 2"/>
          <p:cNvSpPr txBox="1"/>
          <p:nvPr/>
        </p:nvSpPr>
        <p:spPr>
          <a:xfrm>
            <a:off x="548640" y="475488"/>
            <a:ext cx="548640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SECTION 8</a:t>
            </a:r>
            <a:endParaRPr lang="en-US" sz="1050" dirty="0"/>
          </a:p>
        </p:txBody>
      </p:sp>
      <p:sp>
        <p:nvSpPr>
          <p:cNvPr id="5" name="Text 3"/>
          <p:cNvSpPr txBox="1"/>
          <p:nvPr/>
        </p:nvSpPr>
        <p:spPr>
          <a:xfrm>
            <a:off x="548640" y="731520"/>
            <a:ext cx="73152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Proposal Summary</a:t>
            </a:r>
            <a:endParaRPr lang="en-US" sz="3400" dirty="0"/>
          </a:p>
        </p:txBody>
      </p:sp>
      <p:sp>
        <p:nvSpPr>
          <p:cNvPr id="6" name="Shape 4"/>
          <p:cNvSpPr/>
          <p:nvPr/>
        </p:nvSpPr>
        <p:spPr>
          <a:xfrm>
            <a:off x="548640" y="1645920"/>
            <a:ext cx="164592" cy="164592"/>
          </a:xfrm>
          <a:prstGeom prst="ellipse">
            <a:avLst/>
          </a:prstGeom>
          <a:solidFill>
            <a:srgbClr val="F2A413"/>
          </a:solidFill>
          <a:ln/>
        </p:spPr>
      </p:sp>
      <p:sp>
        <p:nvSpPr>
          <p:cNvPr id="7" name="Text 5"/>
          <p:cNvSpPr txBox="1"/>
          <p:nvPr/>
        </p:nvSpPr>
        <p:spPr>
          <a:xfrm>
            <a:off x="877824" y="1572768"/>
            <a:ext cx="6528816" cy="256032"/>
          </a:xfrm>
          <a:prstGeom prst="rect">
            <a:avLst/>
          </a:prstGeom>
          <a:noFill/>
          <a:ln/>
        </p:spPr>
        <p:txBody>
          <a:bodyPr wrap="square" lIns="0" tIns="0" rIns="0" bIns="0" rtlCol="0" anchor="t"/>
          <a:lstStyle/>
          <a:p>
            <a:pPr indent="0" marL="0">
              <a:buNone/>
            </a:pPr>
            <a:r>
              <a:rPr lang="en-US" sz="1350" b="1" dirty="0">
                <a:solidFill>
                  <a:srgbClr val="F2A413"/>
                </a:solidFill>
                <a:latin typeface="Calibri" pitchFamily="34" charset="0"/>
                <a:ea typeface="Calibri" pitchFamily="34" charset="-122"/>
                <a:cs typeface="Calibri" pitchFamily="34" charset="-120"/>
              </a:rPr>
              <a:t>The problem</a:t>
            </a:r>
            <a:endParaRPr lang="en-US" sz="1350" dirty="0"/>
          </a:p>
        </p:txBody>
      </p:sp>
      <p:sp>
        <p:nvSpPr>
          <p:cNvPr id="8" name="Text 6"/>
          <p:cNvSpPr txBox="1"/>
          <p:nvPr/>
        </p:nvSpPr>
        <p:spPr>
          <a:xfrm>
            <a:off x="877824" y="1865376"/>
            <a:ext cx="6528816" cy="566928"/>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Attendance at remote construction sites is written on paper, cannot be verified, and is re-encoded days later. Payroll premiums are computed by hand.</a:t>
            </a:r>
            <a:endParaRPr lang="en-US" sz="1150" dirty="0"/>
          </a:p>
        </p:txBody>
      </p:sp>
      <p:sp>
        <p:nvSpPr>
          <p:cNvPr id="9" name="Shape 7"/>
          <p:cNvSpPr/>
          <p:nvPr/>
        </p:nvSpPr>
        <p:spPr>
          <a:xfrm>
            <a:off x="548640" y="2578608"/>
            <a:ext cx="164592" cy="164592"/>
          </a:xfrm>
          <a:prstGeom prst="ellipse">
            <a:avLst/>
          </a:prstGeom>
          <a:solidFill>
            <a:srgbClr val="F2A413"/>
          </a:solidFill>
          <a:ln/>
        </p:spPr>
      </p:sp>
      <p:sp>
        <p:nvSpPr>
          <p:cNvPr id="10" name="Text 8"/>
          <p:cNvSpPr txBox="1"/>
          <p:nvPr/>
        </p:nvSpPr>
        <p:spPr>
          <a:xfrm>
            <a:off x="877824" y="2505456"/>
            <a:ext cx="6528816" cy="256032"/>
          </a:xfrm>
          <a:prstGeom prst="rect">
            <a:avLst/>
          </a:prstGeom>
          <a:noFill/>
          <a:ln/>
        </p:spPr>
        <p:txBody>
          <a:bodyPr wrap="square" lIns="0" tIns="0" rIns="0" bIns="0" rtlCol="0" anchor="t"/>
          <a:lstStyle/>
          <a:p>
            <a:pPr indent="0" marL="0">
              <a:buNone/>
            </a:pPr>
            <a:r>
              <a:rPr lang="en-US" sz="1350" b="1" dirty="0">
                <a:solidFill>
                  <a:srgbClr val="F2A413"/>
                </a:solidFill>
                <a:latin typeface="Calibri" pitchFamily="34" charset="0"/>
                <a:ea typeface="Calibri" pitchFamily="34" charset="-122"/>
                <a:cs typeface="Calibri" pitchFamily="34" charset="-120"/>
              </a:rPr>
              <a:t>The proposal</a:t>
            </a:r>
            <a:endParaRPr lang="en-US" sz="1350" dirty="0"/>
          </a:p>
        </p:txBody>
      </p:sp>
      <p:sp>
        <p:nvSpPr>
          <p:cNvPr id="11" name="Text 9"/>
          <p:cNvSpPr txBox="1"/>
          <p:nvPr/>
        </p:nvSpPr>
        <p:spPr>
          <a:xfrm>
            <a:off x="877824" y="2798064"/>
            <a:ext cx="6528816" cy="566928"/>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A centralized web-based HRIS with a companion mobile application that records crew attendance at the site itself, with or without a connection.</a:t>
            </a:r>
            <a:endParaRPr lang="en-US" sz="1150" dirty="0"/>
          </a:p>
        </p:txBody>
      </p:sp>
      <p:sp>
        <p:nvSpPr>
          <p:cNvPr id="12" name="Shape 10"/>
          <p:cNvSpPr/>
          <p:nvPr/>
        </p:nvSpPr>
        <p:spPr>
          <a:xfrm>
            <a:off x="548640" y="3511296"/>
            <a:ext cx="164592" cy="164592"/>
          </a:xfrm>
          <a:prstGeom prst="ellipse">
            <a:avLst/>
          </a:prstGeom>
          <a:solidFill>
            <a:srgbClr val="F2A413"/>
          </a:solidFill>
          <a:ln/>
        </p:spPr>
      </p:sp>
      <p:sp>
        <p:nvSpPr>
          <p:cNvPr id="13" name="Text 11"/>
          <p:cNvSpPr txBox="1"/>
          <p:nvPr/>
        </p:nvSpPr>
        <p:spPr>
          <a:xfrm>
            <a:off x="877824" y="3438144"/>
            <a:ext cx="6528816" cy="256032"/>
          </a:xfrm>
          <a:prstGeom prst="rect">
            <a:avLst/>
          </a:prstGeom>
          <a:noFill/>
          <a:ln/>
        </p:spPr>
        <p:txBody>
          <a:bodyPr wrap="square" lIns="0" tIns="0" rIns="0" bIns="0" rtlCol="0" anchor="t"/>
          <a:lstStyle/>
          <a:p>
            <a:pPr indent="0" marL="0">
              <a:buNone/>
            </a:pPr>
            <a:r>
              <a:rPr lang="en-US" sz="1350" b="1" dirty="0">
                <a:solidFill>
                  <a:srgbClr val="F2A413"/>
                </a:solidFill>
                <a:latin typeface="Calibri" pitchFamily="34" charset="0"/>
                <a:ea typeface="Calibri" pitchFamily="34" charset="-122"/>
                <a:cs typeface="Calibri" pitchFamily="34" charset="-120"/>
              </a:rPr>
              <a:t>What makes it work</a:t>
            </a:r>
            <a:endParaRPr lang="en-US" sz="1350" dirty="0"/>
          </a:p>
        </p:txBody>
      </p:sp>
      <p:sp>
        <p:nvSpPr>
          <p:cNvPr id="14" name="Text 12"/>
          <p:cNvSpPr txBox="1"/>
          <p:nvPr/>
        </p:nvSpPr>
        <p:spPr>
          <a:xfrm>
            <a:off x="877824" y="3730752"/>
            <a:ext cx="6528816" cy="566928"/>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Four cryptographic layers, running on hardware the phones already have, make each record's time and content provably unaltered.</a:t>
            </a:r>
            <a:endParaRPr lang="en-US" sz="1150" dirty="0"/>
          </a:p>
        </p:txBody>
      </p:sp>
      <p:sp>
        <p:nvSpPr>
          <p:cNvPr id="15" name="Shape 13"/>
          <p:cNvSpPr/>
          <p:nvPr/>
        </p:nvSpPr>
        <p:spPr>
          <a:xfrm>
            <a:off x="548640" y="4443984"/>
            <a:ext cx="164592" cy="164592"/>
          </a:xfrm>
          <a:prstGeom prst="ellipse">
            <a:avLst/>
          </a:prstGeom>
          <a:solidFill>
            <a:srgbClr val="F2A413"/>
          </a:solidFill>
          <a:ln/>
        </p:spPr>
      </p:sp>
      <p:sp>
        <p:nvSpPr>
          <p:cNvPr id="16" name="Text 14"/>
          <p:cNvSpPr txBox="1"/>
          <p:nvPr/>
        </p:nvSpPr>
        <p:spPr>
          <a:xfrm>
            <a:off x="877824" y="4370832"/>
            <a:ext cx="6528816" cy="256032"/>
          </a:xfrm>
          <a:prstGeom prst="rect">
            <a:avLst/>
          </a:prstGeom>
          <a:noFill/>
          <a:ln/>
        </p:spPr>
        <p:txBody>
          <a:bodyPr wrap="square" lIns="0" tIns="0" rIns="0" bIns="0" rtlCol="0" anchor="t"/>
          <a:lstStyle/>
          <a:p>
            <a:pPr indent="0" marL="0">
              <a:buNone/>
            </a:pPr>
            <a:r>
              <a:rPr lang="en-US" sz="1350" b="1" dirty="0">
                <a:solidFill>
                  <a:srgbClr val="F2A413"/>
                </a:solidFill>
                <a:latin typeface="Calibri" pitchFamily="34" charset="0"/>
                <a:ea typeface="Calibri" pitchFamily="34" charset="-122"/>
                <a:cs typeface="Calibri" pitchFamily="34" charset="-120"/>
              </a:rPr>
              <a:t>The scope</a:t>
            </a:r>
            <a:endParaRPr lang="en-US" sz="1350" dirty="0"/>
          </a:p>
        </p:txBody>
      </p:sp>
      <p:sp>
        <p:nvSpPr>
          <p:cNvPr id="17" name="Text 15"/>
          <p:cNvSpPr txBox="1"/>
          <p:nvPr/>
        </p:nvSpPr>
        <p:spPr>
          <a:xfrm>
            <a:off x="877824" y="4663440"/>
            <a:ext cx="6528816" cy="566928"/>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Nine modules, ten core features, ten use cases, a thirteen-table schema, and seven roles of which five have system access.</a:t>
            </a:r>
            <a:endParaRPr lang="en-US" sz="1150" dirty="0"/>
          </a:p>
        </p:txBody>
      </p:sp>
      <p:sp>
        <p:nvSpPr>
          <p:cNvPr id="18" name="Shape 16"/>
          <p:cNvSpPr/>
          <p:nvPr/>
        </p:nvSpPr>
        <p:spPr>
          <a:xfrm>
            <a:off x="548640" y="5376672"/>
            <a:ext cx="164592" cy="164592"/>
          </a:xfrm>
          <a:prstGeom prst="ellipse">
            <a:avLst/>
          </a:prstGeom>
          <a:solidFill>
            <a:srgbClr val="F2A413"/>
          </a:solidFill>
          <a:ln/>
        </p:spPr>
      </p:sp>
      <p:sp>
        <p:nvSpPr>
          <p:cNvPr id="19" name="Text 17"/>
          <p:cNvSpPr txBox="1"/>
          <p:nvPr/>
        </p:nvSpPr>
        <p:spPr>
          <a:xfrm>
            <a:off x="877824" y="5303520"/>
            <a:ext cx="6528816" cy="256032"/>
          </a:xfrm>
          <a:prstGeom prst="rect">
            <a:avLst/>
          </a:prstGeom>
          <a:noFill/>
          <a:ln/>
        </p:spPr>
        <p:txBody>
          <a:bodyPr wrap="square" lIns="0" tIns="0" rIns="0" bIns="0" rtlCol="0" anchor="t"/>
          <a:lstStyle/>
          <a:p>
            <a:pPr indent="0" marL="0">
              <a:buNone/>
            </a:pPr>
            <a:r>
              <a:rPr lang="en-US" sz="1350" b="1" dirty="0">
                <a:solidFill>
                  <a:srgbClr val="F2A413"/>
                </a:solidFill>
                <a:latin typeface="Calibri" pitchFamily="34" charset="0"/>
                <a:ea typeface="Calibri" pitchFamily="34" charset="-122"/>
                <a:cs typeface="Calibri" pitchFamily="34" charset="-120"/>
              </a:rPr>
              <a:t>The delivery</a:t>
            </a:r>
            <a:endParaRPr lang="en-US" sz="1350" dirty="0"/>
          </a:p>
        </p:txBody>
      </p:sp>
      <p:sp>
        <p:nvSpPr>
          <p:cNvPr id="20" name="Text 18"/>
          <p:cNvSpPr txBox="1"/>
          <p:nvPr/>
        </p:nvSpPr>
        <p:spPr>
          <a:xfrm>
            <a:off x="877824" y="5596128"/>
            <a:ext cx="6528816" cy="566928"/>
          </a:xfrm>
          <a:prstGeom prst="rect">
            <a:avLst/>
          </a:prstGeom>
          <a:noFill/>
          <a:ln/>
        </p:spPr>
        <p:txBody>
          <a:bodyPr wrap="square" lIns="0" tIns="0" rIns="0" bIns="0" rtlCol="0" anchor="t"/>
          <a:lstStyle/>
          <a:p>
            <a:pPr algn="l" indent="0" marL="0">
              <a:lnSpc>
                <a:spcPct val="110000"/>
              </a:lnSpc>
              <a:buNone/>
            </a:pPr>
            <a:r>
              <a:rPr lang="en-US" sz="1150" dirty="0">
                <a:solidFill>
                  <a:srgbClr val="FFFFFF"/>
                </a:solidFill>
                <a:latin typeface="Calibri" pitchFamily="34" charset="0"/>
                <a:ea typeface="Calibri" pitchFamily="34" charset="-122"/>
                <a:cs typeface="Calibri" pitchFamily="34" charset="-120"/>
              </a:rPr>
              <a:t>Eighteen weeks on an Agile-Waterfall hybrid, a fixed open-source stack, and an estimated budget under PHP 2,500.</a:t>
            </a:r>
            <a:endParaRPr lang="en-US" sz="1150" dirty="0"/>
          </a:p>
        </p:txBody>
      </p:sp>
      <p:sp>
        <p:nvSpPr>
          <p:cNvPr id="21" name="Shape 19"/>
          <p:cNvSpPr/>
          <p:nvPr/>
        </p:nvSpPr>
        <p:spPr>
          <a:xfrm>
            <a:off x="7863840" y="1572768"/>
            <a:ext cx="1752448" cy="1325880"/>
          </a:xfrm>
          <a:prstGeom prst="roundRect">
            <a:avLst>
              <a:gd name="adj" fmla="val 4138"/>
            </a:avLst>
          </a:prstGeom>
          <a:solidFill>
            <a:srgbClr val="2A3138"/>
          </a:solidFill>
          <a:ln/>
        </p:spPr>
      </p:sp>
      <p:sp>
        <p:nvSpPr>
          <p:cNvPr id="22" name="Text 20"/>
          <p:cNvSpPr txBox="1"/>
          <p:nvPr/>
        </p:nvSpPr>
        <p:spPr>
          <a:xfrm>
            <a:off x="7955280" y="1792224"/>
            <a:ext cx="1569568" cy="658368"/>
          </a:xfrm>
          <a:prstGeom prst="rect">
            <a:avLst/>
          </a:prstGeom>
          <a:noFill/>
          <a:ln/>
        </p:spPr>
        <p:txBody>
          <a:bodyPr wrap="square" lIns="0" tIns="0" rIns="0" bIns="0" rtlCol="0" anchor="ctr"/>
          <a:lstStyle/>
          <a:p>
            <a:pPr algn="ctr" indent="0" marL="0">
              <a:buNone/>
            </a:pPr>
            <a:r>
              <a:rPr lang="en-US" sz="3800" b="1" dirty="0">
                <a:solidFill>
                  <a:srgbClr val="F2A413"/>
                </a:solidFill>
                <a:latin typeface="Cambria" pitchFamily="34" charset="0"/>
                <a:ea typeface="Cambria" pitchFamily="34" charset="-122"/>
                <a:cs typeface="Cambria" pitchFamily="34" charset="-120"/>
              </a:rPr>
              <a:t>18</a:t>
            </a:r>
            <a:endParaRPr lang="en-US" sz="3800" dirty="0"/>
          </a:p>
        </p:txBody>
      </p:sp>
      <p:sp>
        <p:nvSpPr>
          <p:cNvPr id="23" name="Text 21"/>
          <p:cNvSpPr txBox="1"/>
          <p:nvPr/>
        </p:nvSpPr>
        <p:spPr>
          <a:xfrm>
            <a:off x="8001000" y="2468880"/>
            <a:ext cx="1478128" cy="274320"/>
          </a:xfrm>
          <a:prstGeom prst="rect">
            <a:avLst/>
          </a:prstGeom>
          <a:noFill/>
          <a:ln/>
        </p:spPr>
        <p:txBody>
          <a:bodyPr wrap="square" lIns="0" tIns="0" rIns="0" bIns="0" rtlCol="0" anchor="t"/>
          <a:lstStyle/>
          <a:p>
            <a:pPr algn="ctr" indent="0" marL="0">
              <a:lnSpc>
                <a:spcPct val="108000"/>
              </a:lnSpc>
              <a:buNone/>
            </a:pPr>
            <a:r>
              <a:rPr lang="en-US" sz="1050" dirty="0">
                <a:solidFill>
                  <a:srgbClr val="8A949D"/>
                </a:solidFill>
                <a:latin typeface="Calibri" pitchFamily="34" charset="0"/>
                <a:ea typeface="Calibri" pitchFamily="34" charset="-122"/>
                <a:cs typeface="Calibri" pitchFamily="34" charset="-120"/>
              </a:rPr>
              <a:t>weeks to defense</a:t>
            </a:r>
            <a:endParaRPr lang="en-US" sz="1050" dirty="0"/>
          </a:p>
        </p:txBody>
      </p:sp>
      <p:sp>
        <p:nvSpPr>
          <p:cNvPr id="24" name="Shape 22"/>
          <p:cNvSpPr/>
          <p:nvPr/>
        </p:nvSpPr>
        <p:spPr>
          <a:xfrm>
            <a:off x="9890608" y="1572768"/>
            <a:ext cx="1752448" cy="1325880"/>
          </a:xfrm>
          <a:prstGeom prst="roundRect">
            <a:avLst>
              <a:gd name="adj" fmla="val 4138"/>
            </a:avLst>
          </a:prstGeom>
          <a:solidFill>
            <a:srgbClr val="2A3138"/>
          </a:solidFill>
          <a:ln/>
        </p:spPr>
      </p:sp>
      <p:sp>
        <p:nvSpPr>
          <p:cNvPr id="25" name="Text 23"/>
          <p:cNvSpPr txBox="1"/>
          <p:nvPr/>
        </p:nvSpPr>
        <p:spPr>
          <a:xfrm>
            <a:off x="9982048" y="1792224"/>
            <a:ext cx="1569568" cy="658368"/>
          </a:xfrm>
          <a:prstGeom prst="rect">
            <a:avLst/>
          </a:prstGeom>
          <a:noFill/>
          <a:ln/>
        </p:spPr>
        <p:txBody>
          <a:bodyPr wrap="square" lIns="0" tIns="0" rIns="0" bIns="0" rtlCol="0" anchor="ctr"/>
          <a:lstStyle/>
          <a:p>
            <a:pPr algn="ctr" indent="0" marL="0">
              <a:buNone/>
            </a:pPr>
            <a:r>
              <a:rPr lang="en-US" sz="3800" b="1" dirty="0">
                <a:solidFill>
                  <a:srgbClr val="F2A413"/>
                </a:solidFill>
                <a:latin typeface="Cambria" pitchFamily="34" charset="0"/>
                <a:ea typeface="Cambria" pitchFamily="34" charset="-122"/>
                <a:cs typeface="Cambria" pitchFamily="34" charset="-120"/>
              </a:rPr>
              <a:t>10</a:t>
            </a:r>
            <a:endParaRPr lang="en-US" sz="3800" dirty="0"/>
          </a:p>
        </p:txBody>
      </p:sp>
      <p:sp>
        <p:nvSpPr>
          <p:cNvPr id="26" name="Text 24"/>
          <p:cNvSpPr txBox="1"/>
          <p:nvPr/>
        </p:nvSpPr>
        <p:spPr>
          <a:xfrm>
            <a:off x="10027768" y="2468880"/>
            <a:ext cx="1478128" cy="274320"/>
          </a:xfrm>
          <a:prstGeom prst="rect">
            <a:avLst/>
          </a:prstGeom>
          <a:noFill/>
          <a:ln/>
        </p:spPr>
        <p:txBody>
          <a:bodyPr wrap="square" lIns="0" tIns="0" rIns="0" bIns="0" rtlCol="0" anchor="t"/>
          <a:lstStyle/>
          <a:p>
            <a:pPr algn="ctr" indent="0" marL="0">
              <a:lnSpc>
                <a:spcPct val="108000"/>
              </a:lnSpc>
              <a:buNone/>
            </a:pPr>
            <a:r>
              <a:rPr lang="en-US" sz="1050" dirty="0">
                <a:solidFill>
                  <a:srgbClr val="8A949D"/>
                </a:solidFill>
                <a:latin typeface="Calibri" pitchFamily="34" charset="0"/>
                <a:ea typeface="Calibri" pitchFamily="34" charset="-122"/>
                <a:cs typeface="Calibri" pitchFamily="34" charset="-120"/>
              </a:rPr>
              <a:t>core features</a:t>
            </a:r>
            <a:endParaRPr lang="en-US" sz="1050" dirty="0"/>
          </a:p>
        </p:txBody>
      </p:sp>
      <p:sp>
        <p:nvSpPr>
          <p:cNvPr id="27" name="Shape 25"/>
          <p:cNvSpPr/>
          <p:nvPr/>
        </p:nvSpPr>
        <p:spPr>
          <a:xfrm>
            <a:off x="7863840" y="3172968"/>
            <a:ext cx="1752448" cy="1325880"/>
          </a:xfrm>
          <a:prstGeom prst="roundRect">
            <a:avLst>
              <a:gd name="adj" fmla="val 4138"/>
            </a:avLst>
          </a:prstGeom>
          <a:solidFill>
            <a:srgbClr val="2A3138"/>
          </a:solidFill>
          <a:ln/>
        </p:spPr>
      </p:sp>
      <p:sp>
        <p:nvSpPr>
          <p:cNvPr id="28" name="Text 26"/>
          <p:cNvSpPr txBox="1"/>
          <p:nvPr/>
        </p:nvSpPr>
        <p:spPr>
          <a:xfrm>
            <a:off x="7955280" y="3392424"/>
            <a:ext cx="1569568" cy="658368"/>
          </a:xfrm>
          <a:prstGeom prst="rect">
            <a:avLst/>
          </a:prstGeom>
          <a:noFill/>
          <a:ln/>
        </p:spPr>
        <p:txBody>
          <a:bodyPr wrap="square" lIns="0" tIns="0" rIns="0" bIns="0" rtlCol="0" anchor="ctr"/>
          <a:lstStyle/>
          <a:p>
            <a:pPr algn="ctr" indent="0" marL="0">
              <a:buNone/>
            </a:pPr>
            <a:r>
              <a:rPr lang="en-US" sz="3800" b="1" dirty="0">
                <a:solidFill>
                  <a:srgbClr val="F2A413"/>
                </a:solidFill>
                <a:latin typeface="Cambria" pitchFamily="34" charset="0"/>
                <a:ea typeface="Cambria" pitchFamily="34" charset="-122"/>
                <a:cs typeface="Cambria" pitchFamily="34" charset="-120"/>
              </a:rPr>
              <a:t>4</a:t>
            </a:r>
            <a:endParaRPr lang="en-US" sz="3800" dirty="0"/>
          </a:p>
        </p:txBody>
      </p:sp>
      <p:sp>
        <p:nvSpPr>
          <p:cNvPr id="29" name="Text 27"/>
          <p:cNvSpPr txBox="1"/>
          <p:nvPr/>
        </p:nvSpPr>
        <p:spPr>
          <a:xfrm>
            <a:off x="8001000" y="4069080"/>
            <a:ext cx="1478128" cy="274320"/>
          </a:xfrm>
          <a:prstGeom prst="rect">
            <a:avLst/>
          </a:prstGeom>
          <a:noFill/>
          <a:ln/>
        </p:spPr>
        <p:txBody>
          <a:bodyPr wrap="square" lIns="0" tIns="0" rIns="0" bIns="0" rtlCol="0" anchor="t"/>
          <a:lstStyle/>
          <a:p>
            <a:pPr algn="ctr" indent="0" marL="0">
              <a:lnSpc>
                <a:spcPct val="108000"/>
              </a:lnSpc>
              <a:buNone/>
            </a:pPr>
            <a:r>
              <a:rPr lang="en-US" sz="1050" dirty="0">
                <a:solidFill>
                  <a:srgbClr val="8A949D"/>
                </a:solidFill>
                <a:latin typeface="Calibri" pitchFamily="34" charset="0"/>
                <a:ea typeface="Calibri" pitchFamily="34" charset="-122"/>
                <a:cs typeface="Calibri" pitchFamily="34" charset="-120"/>
              </a:rPr>
              <a:t>integrity layers</a:t>
            </a:r>
            <a:endParaRPr lang="en-US" sz="1050" dirty="0"/>
          </a:p>
        </p:txBody>
      </p:sp>
      <p:sp>
        <p:nvSpPr>
          <p:cNvPr id="30" name="Shape 28"/>
          <p:cNvSpPr/>
          <p:nvPr/>
        </p:nvSpPr>
        <p:spPr>
          <a:xfrm>
            <a:off x="9890608" y="3172968"/>
            <a:ext cx="1752448" cy="1325880"/>
          </a:xfrm>
          <a:prstGeom prst="roundRect">
            <a:avLst>
              <a:gd name="adj" fmla="val 4138"/>
            </a:avLst>
          </a:prstGeom>
          <a:solidFill>
            <a:srgbClr val="2A3138"/>
          </a:solidFill>
          <a:ln/>
        </p:spPr>
      </p:sp>
      <p:sp>
        <p:nvSpPr>
          <p:cNvPr id="31" name="Text 29"/>
          <p:cNvSpPr txBox="1"/>
          <p:nvPr/>
        </p:nvSpPr>
        <p:spPr>
          <a:xfrm>
            <a:off x="9982048" y="3392424"/>
            <a:ext cx="1569568" cy="658368"/>
          </a:xfrm>
          <a:prstGeom prst="rect">
            <a:avLst/>
          </a:prstGeom>
          <a:noFill/>
          <a:ln/>
        </p:spPr>
        <p:txBody>
          <a:bodyPr wrap="square" lIns="0" tIns="0" rIns="0" bIns="0" rtlCol="0" anchor="ctr"/>
          <a:lstStyle/>
          <a:p>
            <a:pPr algn="ctr" indent="0" marL="0">
              <a:buNone/>
            </a:pPr>
            <a:r>
              <a:rPr lang="en-US" sz="3800" b="1" dirty="0">
                <a:solidFill>
                  <a:srgbClr val="F2A413"/>
                </a:solidFill>
                <a:latin typeface="Cambria" pitchFamily="34" charset="0"/>
                <a:ea typeface="Cambria" pitchFamily="34" charset="-122"/>
                <a:cs typeface="Cambria" pitchFamily="34" charset="-120"/>
              </a:rPr>
              <a:t>13</a:t>
            </a:r>
            <a:endParaRPr lang="en-US" sz="3800" dirty="0"/>
          </a:p>
        </p:txBody>
      </p:sp>
      <p:sp>
        <p:nvSpPr>
          <p:cNvPr id="32" name="Text 30"/>
          <p:cNvSpPr txBox="1"/>
          <p:nvPr/>
        </p:nvSpPr>
        <p:spPr>
          <a:xfrm>
            <a:off x="10027768" y="4069080"/>
            <a:ext cx="1478128" cy="274320"/>
          </a:xfrm>
          <a:prstGeom prst="rect">
            <a:avLst/>
          </a:prstGeom>
          <a:noFill/>
          <a:ln/>
        </p:spPr>
        <p:txBody>
          <a:bodyPr wrap="square" lIns="0" tIns="0" rIns="0" bIns="0" rtlCol="0" anchor="t"/>
          <a:lstStyle/>
          <a:p>
            <a:pPr algn="ctr" indent="0" marL="0">
              <a:lnSpc>
                <a:spcPct val="108000"/>
              </a:lnSpc>
              <a:buNone/>
            </a:pPr>
            <a:r>
              <a:rPr lang="en-US" sz="1050" dirty="0">
                <a:solidFill>
                  <a:srgbClr val="8A949D"/>
                </a:solidFill>
                <a:latin typeface="Calibri" pitchFamily="34" charset="0"/>
                <a:ea typeface="Calibri" pitchFamily="34" charset="-122"/>
                <a:cs typeface="Calibri" pitchFamily="34" charset="-120"/>
              </a:rPr>
              <a:t>database tables</a:t>
            </a:r>
            <a:endParaRPr lang="en-US" sz="1050" dirty="0"/>
          </a:p>
        </p:txBody>
      </p:sp>
      <p:sp>
        <p:nvSpPr>
          <p:cNvPr id="33" name="Shape 31"/>
          <p:cNvSpPr/>
          <p:nvPr/>
        </p:nvSpPr>
        <p:spPr>
          <a:xfrm>
            <a:off x="7863840" y="4773168"/>
            <a:ext cx="3779215" cy="1298448"/>
          </a:xfrm>
          <a:prstGeom prst="roundRect">
            <a:avLst>
              <a:gd name="adj" fmla="val 4225"/>
            </a:avLst>
          </a:prstGeom>
          <a:solidFill>
            <a:srgbClr val="F2A413"/>
          </a:solidFill>
          <a:ln/>
        </p:spPr>
      </p:sp>
      <p:sp>
        <p:nvSpPr>
          <p:cNvPr id="34" name="Text 32"/>
          <p:cNvSpPr txBox="1"/>
          <p:nvPr/>
        </p:nvSpPr>
        <p:spPr>
          <a:xfrm>
            <a:off x="8138160" y="4992624"/>
            <a:ext cx="3230575" cy="219456"/>
          </a:xfrm>
          <a:prstGeom prst="rect">
            <a:avLst/>
          </a:prstGeom>
          <a:noFill/>
          <a:ln/>
        </p:spPr>
        <p:txBody>
          <a:bodyPr wrap="square" lIns="0" tIns="0" rIns="0" bIns="0" rtlCol="0" anchor="ctr"/>
          <a:lstStyle/>
          <a:p>
            <a:pPr indent="0" marL="0">
              <a:buNone/>
            </a:pPr>
            <a:r>
              <a:rPr lang="en-US" sz="1050" b="1" spc="120" kern="0" dirty="0">
                <a:solidFill>
                  <a:srgbClr val="9C6A08"/>
                </a:solidFill>
                <a:latin typeface="Calibri" pitchFamily="34" charset="0"/>
                <a:ea typeface="Calibri" pitchFamily="34" charset="-122"/>
                <a:cs typeface="Calibri" pitchFamily="34" charset="-120"/>
              </a:rPr>
              <a:t>WHAT WE ARE ASKING FOR</a:t>
            </a:r>
            <a:endParaRPr lang="en-US" sz="1050" dirty="0"/>
          </a:p>
        </p:txBody>
      </p:sp>
      <p:sp>
        <p:nvSpPr>
          <p:cNvPr id="35" name="Text 33"/>
          <p:cNvSpPr txBox="1"/>
          <p:nvPr/>
        </p:nvSpPr>
        <p:spPr>
          <a:xfrm>
            <a:off x="8138160" y="5266944"/>
            <a:ext cx="3230575" cy="603504"/>
          </a:xfrm>
          <a:prstGeom prst="rect">
            <a:avLst/>
          </a:prstGeom>
          <a:noFill/>
          <a:ln/>
        </p:spPr>
        <p:txBody>
          <a:bodyPr wrap="square" lIns="0" tIns="0" rIns="0" bIns="0" rtlCol="0" anchor="t"/>
          <a:lstStyle/>
          <a:p>
            <a:pPr algn="l" indent="0" marL="0">
              <a:lnSpc>
                <a:spcPct val="110000"/>
              </a:lnSpc>
              <a:buNone/>
            </a:pPr>
            <a:r>
              <a:rPr lang="en-US" sz="1250" dirty="0">
                <a:solidFill>
                  <a:srgbClr val="16191D"/>
                </a:solidFill>
                <a:latin typeface="Calibri" pitchFamily="34" charset="0"/>
                <a:ea typeface="Calibri" pitchFamily="34" charset="-122"/>
                <a:cs typeface="Calibri" pitchFamily="34" charset="-120"/>
              </a:rPr>
              <a:t>Approval of the project title and the scope as presented, so development can begin on the schedule shown.</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6191D"/>
        </a:solidFill>
      </p:bgPr>
    </p:bg>
    <p:spTree>
      <p:nvGrpSpPr>
        <p:cNvPr id="1" name=""/>
        <p:cNvGrpSpPr/>
        <p:nvPr/>
      </p:nvGrpSpPr>
      <p:grpSpPr>
        <a:xfrm>
          <a:off x="0" y="0"/>
          <a:ext cx="0" cy="0"/>
          <a:chOff x="0" y="0"/>
          <a:chExt cx="0" cy="0"/>
        </a:xfrm>
      </p:grpSpPr>
      <p:sp>
        <p:nvSpPr>
          <p:cNvPr id="2" name="Text 0"/>
          <p:cNvSpPr txBox="1"/>
          <p:nvPr/>
        </p:nvSpPr>
        <p:spPr>
          <a:xfrm>
            <a:off x="822960" y="1965960"/>
            <a:ext cx="6583680" cy="86868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3" name="Text 1"/>
          <p:cNvSpPr txBox="1"/>
          <p:nvPr/>
        </p:nvSpPr>
        <p:spPr>
          <a:xfrm>
            <a:off x="822960" y="2880360"/>
            <a:ext cx="6583680" cy="411480"/>
          </a:xfrm>
          <a:prstGeom prst="rect">
            <a:avLst/>
          </a:prstGeom>
          <a:noFill/>
          <a:ln/>
        </p:spPr>
        <p:txBody>
          <a:bodyPr wrap="square" lIns="0" tIns="0" rIns="0" bIns="0" rtlCol="0" anchor="ctr"/>
          <a:lstStyle/>
          <a:p>
            <a:pPr indent="0" marL="0">
              <a:buNone/>
            </a:pPr>
            <a:r>
              <a:rPr lang="en-US" sz="1700" dirty="0">
                <a:solidFill>
                  <a:srgbClr val="F2A413"/>
                </a:solidFill>
                <a:latin typeface="Calibri" pitchFamily="34" charset="0"/>
                <a:ea typeface="Calibri" pitchFamily="34" charset="-122"/>
                <a:cs typeface="Calibri" pitchFamily="34" charset="-120"/>
              </a:rPr>
              <a:t>We welcome your questions.</a:t>
            </a:r>
            <a:endParaRPr lang="en-US" sz="1700" dirty="0"/>
          </a:p>
        </p:txBody>
      </p:sp>
      <p:sp>
        <p:nvSpPr>
          <p:cNvPr id="4" name="Text 2"/>
          <p:cNvSpPr txBox="1"/>
          <p:nvPr/>
        </p:nvSpPr>
        <p:spPr>
          <a:xfrm>
            <a:off x="822960" y="3886200"/>
            <a:ext cx="4572000" cy="219456"/>
          </a:xfrm>
          <a:prstGeom prst="rect">
            <a:avLst/>
          </a:prstGeom>
          <a:noFill/>
          <a:ln/>
        </p:spPr>
        <p:txBody>
          <a:bodyPr wrap="square" lIns="0" tIns="0" rIns="0" bIns="0" rtlCol="0" anchor="ctr"/>
          <a:lstStyle/>
          <a:p>
            <a:pPr indent="0" marL="0">
              <a:buNone/>
            </a:pPr>
            <a:r>
              <a:rPr lang="en-US" sz="1050" b="1" spc="120" kern="0" dirty="0">
                <a:solidFill>
                  <a:srgbClr val="8A949D"/>
                </a:solidFill>
                <a:latin typeface="Calibri" pitchFamily="34" charset="0"/>
                <a:ea typeface="Calibri" pitchFamily="34" charset="-122"/>
                <a:cs typeface="Calibri" pitchFamily="34" charset="-120"/>
              </a:rPr>
              <a:t>PROJECT TEAM</a:t>
            </a:r>
            <a:endParaRPr lang="en-US" sz="1050" dirty="0"/>
          </a:p>
        </p:txBody>
      </p:sp>
      <p:sp>
        <p:nvSpPr>
          <p:cNvPr id="5" name="Text 3"/>
          <p:cNvSpPr txBox="1"/>
          <p:nvPr/>
        </p:nvSpPr>
        <p:spPr>
          <a:xfrm>
            <a:off x="822960" y="4114800"/>
            <a:ext cx="2468880" cy="274320"/>
          </a:xfrm>
          <a:prstGeom prst="rect">
            <a:avLst/>
          </a:prstGeom>
          <a:noFill/>
          <a:ln/>
        </p:spPr>
        <p:txBody>
          <a:bodyPr wrap="square" lIns="0" tIns="0" rIns="0" bIns="0" rtlCol="0" anchor="t"/>
          <a:lstStyle/>
          <a:p>
            <a:pPr algn="l" indent="0" marL="0">
              <a:lnSpc>
                <a:spcPct val="108000"/>
              </a:lnSpc>
              <a:buNone/>
            </a:pPr>
            <a:r>
              <a:rPr lang="en-US" sz="1150" dirty="0">
                <a:solidFill>
                  <a:srgbClr val="FFFFFF"/>
                </a:solidFill>
                <a:latin typeface="Calibri" pitchFamily="34" charset="0"/>
                <a:ea typeface="Calibri" pitchFamily="34" charset="-122"/>
                <a:cs typeface="Calibri" pitchFamily="34" charset="-120"/>
              </a:rPr>
              <a:t>Jay Mark A. Reños</a:t>
            </a:r>
            <a:endParaRPr lang="en-US" sz="1150" dirty="0"/>
          </a:p>
        </p:txBody>
      </p:sp>
      <p:sp>
        <p:nvSpPr>
          <p:cNvPr id="6" name="Text 4"/>
          <p:cNvSpPr txBox="1"/>
          <p:nvPr/>
        </p:nvSpPr>
        <p:spPr>
          <a:xfrm>
            <a:off x="3383280" y="4114800"/>
            <a:ext cx="3108960" cy="274320"/>
          </a:xfrm>
          <a:prstGeom prst="rect">
            <a:avLst/>
          </a:prstGeom>
          <a:noFill/>
          <a:ln/>
        </p:spPr>
        <p:txBody>
          <a:bodyPr wrap="square" lIns="0" tIns="0" rIns="0" bIns="0" rtlCol="0" anchor="t"/>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Project Manager</a:t>
            </a:r>
            <a:endParaRPr lang="en-US" sz="1150" dirty="0"/>
          </a:p>
        </p:txBody>
      </p:sp>
      <p:sp>
        <p:nvSpPr>
          <p:cNvPr id="7" name="Text 5"/>
          <p:cNvSpPr txBox="1"/>
          <p:nvPr/>
        </p:nvSpPr>
        <p:spPr>
          <a:xfrm>
            <a:off x="822960" y="4480560"/>
            <a:ext cx="2468880" cy="274320"/>
          </a:xfrm>
          <a:prstGeom prst="rect">
            <a:avLst/>
          </a:prstGeom>
          <a:noFill/>
          <a:ln/>
        </p:spPr>
        <p:txBody>
          <a:bodyPr wrap="square" lIns="0" tIns="0" rIns="0" bIns="0" rtlCol="0" anchor="t"/>
          <a:lstStyle/>
          <a:p>
            <a:pPr algn="l" indent="0" marL="0">
              <a:lnSpc>
                <a:spcPct val="108000"/>
              </a:lnSpc>
              <a:buNone/>
            </a:pPr>
            <a:r>
              <a:rPr lang="en-US" sz="1150" dirty="0">
                <a:solidFill>
                  <a:srgbClr val="FFFFFF"/>
                </a:solidFill>
                <a:latin typeface="Calibri" pitchFamily="34" charset="0"/>
                <a:ea typeface="Calibri" pitchFamily="34" charset="-122"/>
                <a:cs typeface="Calibri" pitchFamily="34" charset="-120"/>
              </a:rPr>
              <a:t>Liza Mae C. Sugala</a:t>
            </a:r>
            <a:endParaRPr lang="en-US" sz="1150" dirty="0"/>
          </a:p>
        </p:txBody>
      </p:sp>
      <p:sp>
        <p:nvSpPr>
          <p:cNvPr id="8" name="Text 6"/>
          <p:cNvSpPr txBox="1"/>
          <p:nvPr/>
        </p:nvSpPr>
        <p:spPr>
          <a:xfrm>
            <a:off x="3383280" y="4480560"/>
            <a:ext cx="3108960" cy="274320"/>
          </a:xfrm>
          <a:prstGeom prst="rect">
            <a:avLst/>
          </a:prstGeom>
          <a:noFill/>
          <a:ln/>
        </p:spPr>
        <p:txBody>
          <a:bodyPr wrap="square" lIns="0" tIns="0" rIns="0" bIns="0" rtlCol="0" anchor="t"/>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Systems Analyst</a:t>
            </a:r>
            <a:endParaRPr lang="en-US" sz="1150" dirty="0"/>
          </a:p>
        </p:txBody>
      </p:sp>
      <p:sp>
        <p:nvSpPr>
          <p:cNvPr id="9" name="Text 7"/>
          <p:cNvSpPr txBox="1"/>
          <p:nvPr/>
        </p:nvSpPr>
        <p:spPr>
          <a:xfrm>
            <a:off x="822960" y="4846320"/>
            <a:ext cx="2468880" cy="274320"/>
          </a:xfrm>
          <a:prstGeom prst="rect">
            <a:avLst/>
          </a:prstGeom>
          <a:noFill/>
          <a:ln/>
        </p:spPr>
        <p:txBody>
          <a:bodyPr wrap="square" lIns="0" tIns="0" rIns="0" bIns="0" rtlCol="0" anchor="t"/>
          <a:lstStyle/>
          <a:p>
            <a:pPr algn="l" indent="0" marL="0">
              <a:lnSpc>
                <a:spcPct val="108000"/>
              </a:lnSpc>
              <a:buNone/>
            </a:pPr>
            <a:r>
              <a:rPr lang="en-US" sz="1150" dirty="0">
                <a:solidFill>
                  <a:srgbClr val="FFFFFF"/>
                </a:solidFill>
                <a:latin typeface="Calibri" pitchFamily="34" charset="0"/>
                <a:ea typeface="Calibri" pitchFamily="34" charset="-122"/>
                <a:cs typeface="Calibri" pitchFamily="34" charset="-120"/>
              </a:rPr>
              <a:t>Rusel R. Portes</a:t>
            </a:r>
            <a:endParaRPr lang="en-US" sz="1150" dirty="0"/>
          </a:p>
        </p:txBody>
      </p:sp>
      <p:sp>
        <p:nvSpPr>
          <p:cNvPr id="10" name="Text 8"/>
          <p:cNvSpPr txBox="1"/>
          <p:nvPr/>
        </p:nvSpPr>
        <p:spPr>
          <a:xfrm>
            <a:off x="3383280" y="4846320"/>
            <a:ext cx="3108960" cy="274320"/>
          </a:xfrm>
          <a:prstGeom prst="rect">
            <a:avLst/>
          </a:prstGeom>
          <a:noFill/>
          <a:ln/>
        </p:spPr>
        <p:txBody>
          <a:bodyPr wrap="square" lIns="0" tIns="0" rIns="0" bIns="0" rtlCol="0" anchor="t"/>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Lead Developer / Programmer</a:t>
            </a:r>
            <a:endParaRPr lang="en-US" sz="1150" dirty="0"/>
          </a:p>
        </p:txBody>
      </p:sp>
      <p:sp>
        <p:nvSpPr>
          <p:cNvPr id="11" name="Text 9"/>
          <p:cNvSpPr txBox="1"/>
          <p:nvPr/>
        </p:nvSpPr>
        <p:spPr>
          <a:xfrm>
            <a:off x="822960" y="5212080"/>
            <a:ext cx="2468880" cy="274320"/>
          </a:xfrm>
          <a:prstGeom prst="rect">
            <a:avLst/>
          </a:prstGeom>
          <a:noFill/>
          <a:ln/>
        </p:spPr>
        <p:txBody>
          <a:bodyPr wrap="square" lIns="0" tIns="0" rIns="0" bIns="0" rtlCol="0" anchor="t"/>
          <a:lstStyle/>
          <a:p>
            <a:pPr algn="l" indent="0" marL="0">
              <a:lnSpc>
                <a:spcPct val="108000"/>
              </a:lnSpc>
              <a:buNone/>
            </a:pPr>
            <a:r>
              <a:rPr lang="en-US" sz="1150" dirty="0">
                <a:solidFill>
                  <a:srgbClr val="FFFFFF"/>
                </a:solidFill>
                <a:latin typeface="Calibri" pitchFamily="34" charset="0"/>
                <a:ea typeface="Calibri" pitchFamily="34" charset="-122"/>
                <a:cs typeface="Calibri" pitchFamily="34" charset="-120"/>
              </a:rPr>
              <a:t>Efren S. Cabudbud Jr.</a:t>
            </a:r>
            <a:endParaRPr lang="en-US" sz="1150" dirty="0"/>
          </a:p>
        </p:txBody>
      </p:sp>
      <p:sp>
        <p:nvSpPr>
          <p:cNvPr id="12" name="Text 10"/>
          <p:cNvSpPr txBox="1"/>
          <p:nvPr/>
        </p:nvSpPr>
        <p:spPr>
          <a:xfrm>
            <a:off x="3383280" y="5212080"/>
            <a:ext cx="3108960" cy="274320"/>
          </a:xfrm>
          <a:prstGeom prst="rect">
            <a:avLst/>
          </a:prstGeom>
          <a:noFill/>
          <a:ln/>
        </p:spPr>
        <p:txBody>
          <a:bodyPr wrap="square" lIns="0" tIns="0" rIns="0" bIns="0" rtlCol="0" anchor="t"/>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Database and QA Lead</a:t>
            </a:r>
            <a:endParaRPr lang="en-US" sz="1150" dirty="0"/>
          </a:p>
        </p:txBody>
      </p:sp>
      <p:sp>
        <p:nvSpPr>
          <p:cNvPr id="13" name="Text 11"/>
          <p:cNvSpPr txBox="1"/>
          <p:nvPr/>
        </p:nvSpPr>
        <p:spPr>
          <a:xfrm>
            <a:off x="822960" y="5577840"/>
            <a:ext cx="2468880" cy="274320"/>
          </a:xfrm>
          <a:prstGeom prst="rect">
            <a:avLst/>
          </a:prstGeom>
          <a:noFill/>
          <a:ln/>
        </p:spPr>
        <p:txBody>
          <a:bodyPr wrap="square" lIns="0" tIns="0" rIns="0" bIns="0" rtlCol="0" anchor="t"/>
          <a:lstStyle/>
          <a:p>
            <a:pPr algn="l" indent="0" marL="0">
              <a:lnSpc>
                <a:spcPct val="108000"/>
              </a:lnSpc>
              <a:buNone/>
            </a:pPr>
            <a:r>
              <a:rPr lang="en-US" sz="1150" dirty="0">
                <a:solidFill>
                  <a:srgbClr val="FFFFFF"/>
                </a:solidFill>
                <a:latin typeface="Calibri" pitchFamily="34" charset="0"/>
                <a:ea typeface="Calibri" pitchFamily="34" charset="-122"/>
                <a:cs typeface="Calibri" pitchFamily="34" charset="-120"/>
              </a:rPr>
              <a:t>CarlVey Sente</a:t>
            </a:r>
            <a:endParaRPr lang="en-US" sz="1150" dirty="0"/>
          </a:p>
        </p:txBody>
      </p:sp>
      <p:sp>
        <p:nvSpPr>
          <p:cNvPr id="14" name="Text 12"/>
          <p:cNvSpPr txBox="1"/>
          <p:nvPr/>
        </p:nvSpPr>
        <p:spPr>
          <a:xfrm>
            <a:off x="3383280" y="5577840"/>
            <a:ext cx="3108960" cy="274320"/>
          </a:xfrm>
          <a:prstGeom prst="rect">
            <a:avLst/>
          </a:prstGeom>
          <a:noFill/>
          <a:ln/>
        </p:spPr>
        <p:txBody>
          <a:bodyPr wrap="square" lIns="0" tIns="0" rIns="0" bIns="0" rtlCol="0" anchor="t"/>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UI/UX Designer</a:t>
            </a:r>
            <a:endParaRPr lang="en-US" sz="1150" dirty="0"/>
          </a:p>
        </p:txBody>
      </p:sp>
      <p:sp>
        <p:nvSpPr>
          <p:cNvPr id="15" name="Text 13"/>
          <p:cNvSpPr txBox="1"/>
          <p:nvPr/>
        </p:nvSpPr>
        <p:spPr>
          <a:xfrm>
            <a:off x="822960" y="5943600"/>
            <a:ext cx="2468880" cy="274320"/>
          </a:xfrm>
          <a:prstGeom prst="rect">
            <a:avLst/>
          </a:prstGeom>
          <a:noFill/>
          <a:ln/>
        </p:spPr>
        <p:txBody>
          <a:bodyPr wrap="square" lIns="0" tIns="0" rIns="0" bIns="0" rtlCol="0" anchor="t"/>
          <a:lstStyle/>
          <a:p>
            <a:pPr algn="l" indent="0" marL="0">
              <a:lnSpc>
                <a:spcPct val="108000"/>
              </a:lnSpc>
              <a:buNone/>
            </a:pPr>
            <a:r>
              <a:rPr lang="en-US" sz="1150" dirty="0">
                <a:solidFill>
                  <a:srgbClr val="FFFFFF"/>
                </a:solidFill>
                <a:latin typeface="Calibri" pitchFamily="34" charset="0"/>
                <a:ea typeface="Calibri" pitchFamily="34" charset="-122"/>
                <a:cs typeface="Calibri" pitchFamily="34" charset="-120"/>
              </a:rPr>
              <a:t>Rayla G. Lanaza</a:t>
            </a:r>
            <a:endParaRPr lang="en-US" sz="1150" dirty="0"/>
          </a:p>
        </p:txBody>
      </p:sp>
      <p:sp>
        <p:nvSpPr>
          <p:cNvPr id="16" name="Text 14"/>
          <p:cNvSpPr txBox="1"/>
          <p:nvPr/>
        </p:nvSpPr>
        <p:spPr>
          <a:xfrm>
            <a:off x="3383280" y="5943600"/>
            <a:ext cx="3108960" cy="274320"/>
          </a:xfrm>
          <a:prstGeom prst="rect">
            <a:avLst/>
          </a:prstGeom>
          <a:noFill/>
          <a:ln/>
        </p:spPr>
        <p:txBody>
          <a:bodyPr wrap="square" lIns="0" tIns="0" rIns="0" bIns="0" rtlCol="0" anchor="t"/>
          <a:lstStyle/>
          <a:p>
            <a:pPr algn="l" indent="0" marL="0">
              <a:lnSpc>
                <a:spcPct val="108000"/>
              </a:lnSpc>
              <a:buNone/>
            </a:pPr>
            <a:r>
              <a:rPr lang="en-US" sz="1150" dirty="0">
                <a:solidFill>
                  <a:srgbClr val="8A949D"/>
                </a:solidFill>
                <a:latin typeface="Calibri" pitchFamily="34" charset="0"/>
                <a:ea typeface="Calibri" pitchFamily="34" charset="-122"/>
                <a:cs typeface="Calibri" pitchFamily="34" charset="-120"/>
              </a:rPr>
              <a:t>Documentation Lead</a:t>
            </a:r>
            <a:endParaRPr lang="en-US" sz="1150" dirty="0"/>
          </a:p>
        </p:txBody>
      </p:sp>
      <p:sp>
        <p:nvSpPr>
          <p:cNvPr id="17" name="Shape 15"/>
          <p:cNvSpPr/>
          <p:nvPr/>
        </p:nvSpPr>
        <p:spPr>
          <a:xfrm>
            <a:off x="7772400" y="1965960"/>
            <a:ext cx="3840480" cy="2926080"/>
          </a:xfrm>
          <a:prstGeom prst="roundRect">
            <a:avLst>
              <a:gd name="adj" fmla="val 2188"/>
            </a:avLst>
          </a:prstGeom>
          <a:solidFill>
            <a:srgbClr val="2A3138"/>
          </a:solidFill>
          <a:ln/>
        </p:spPr>
      </p:sp>
      <p:sp>
        <p:nvSpPr>
          <p:cNvPr id="18" name="Text 16"/>
          <p:cNvSpPr txBox="1"/>
          <p:nvPr/>
        </p:nvSpPr>
        <p:spPr>
          <a:xfrm>
            <a:off x="8065008" y="2267712"/>
            <a:ext cx="3291840" cy="219456"/>
          </a:xfrm>
          <a:prstGeom prst="rect">
            <a:avLst/>
          </a:prstGeom>
          <a:noFill/>
          <a:ln/>
        </p:spPr>
        <p:txBody>
          <a:bodyPr wrap="square" lIns="0" tIns="0" rIns="0" bIns="0" rtlCol="0" anchor="ctr"/>
          <a:lstStyle/>
          <a:p>
            <a:pPr indent="0" marL="0">
              <a:buNone/>
            </a:pPr>
            <a:r>
              <a:rPr lang="en-US" sz="1050" b="1" spc="120" kern="0" dirty="0">
                <a:solidFill>
                  <a:srgbClr val="F2A413"/>
                </a:solidFill>
                <a:latin typeface="Calibri" pitchFamily="34" charset="0"/>
                <a:ea typeface="Calibri" pitchFamily="34" charset="-122"/>
                <a:cs typeface="Calibri" pitchFamily="34" charset="-120"/>
              </a:rPr>
              <a:t>SUPPORTING DOCUMENTS</a:t>
            </a:r>
            <a:endParaRPr lang="en-US" sz="1050" dirty="0"/>
          </a:p>
        </p:txBody>
      </p:sp>
      <p:sp>
        <p:nvSpPr>
          <p:cNvPr id="19" name="Text 17"/>
          <p:cNvSpPr txBox="1"/>
          <p:nvPr/>
        </p:nvSpPr>
        <p:spPr>
          <a:xfrm>
            <a:off x="8065008" y="2578608"/>
            <a:ext cx="3255264" cy="2103120"/>
          </a:xfrm>
          <a:prstGeom prst="rect">
            <a:avLst/>
          </a:prstGeom>
          <a:noFill/>
          <a:ln/>
        </p:spPr>
        <p:txBody>
          <a:bodyPr wrap="square" lIns="0" tIns="0" rIns="0" bIns="0" rtlCol="0" anchor="ctr"/>
          <a:lstStyle/>
          <a:p>
            <a:pPr marL="342900" indent="-342900">
              <a:lnSpc>
                <a:spcPct val="105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Software Project Management Plan</a:t>
            </a:r>
            <a:endParaRPr lang="en-US" sz="1150" dirty="0"/>
          </a:p>
          <a:p>
            <a:pPr marL="342900" indent="-342900">
              <a:lnSpc>
                <a:spcPct val="105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Software Requirements Specification</a:t>
            </a:r>
            <a:endParaRPr lang="en-US" sz="1150" dirty="0"/>
          </a:p>
          <a:p>
            <a:pPr marL="342900" indent="-342900">
              <a:lnSpc>
                <a:spcPct val="105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Software Design Description</a:t>
            </a:r>
            <a:endParaRPr lang="en-US" sz="1150" dirty="0"/>
          </a:p>
          <a:p>
            <a:pPr marL="342900" indent="-342900">
              <a:lnSpc>
                <a:spcPct val="105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Software Test Document</a:t>
            </a:r>
            <a:endParaRPr lang="en-US" sz="1150" dirty="0"/>
          </a:p>
          <a:p>
            <a:pPr marL="342900" indent="-342900">
              <a:lnSpc>
                <a:spcPct val="105000"/>
              </a:lnSpc>
              <a:spcAft>
                <a:spcPts val="900"/>
              </a:spcAft>
              <a:buSzPct val="100000"/>
              <a:buChar char="▪"/>
            </a:pPr>
            <a:r>
              <a:rPr lang="en-US" sz="1150" dirty="0">
                <a:solidFill>
                  <a:srgbClr val="FFFFFF"/>
                </a:solidFill>
                <a:latin typeface="Calibri" pitchFamily="34" charset="0"/>
                <a:ea typeface="Calibri" pitchFamily="34" charset="-122"/>
                <a:cs typeface="Calibri" pitchFamily="34" charset="-120"/>
              </a:rPr>
              <a:t>Entity-Relationship Diagram</a:t>
            </a:r>
            <a:endParaRPr lang="en-US" sz="1150" dirty="0"/>
          </a:p>
        </p:txBody>
      </p:sp>
      <p:sp>
        <p:nvSpPr>
          <p:cNvPr id="20" name="Text 18"/>
          <p:cNvSpPr txBox="1"/>
          <p:nvPr/>
        </p:nvSpPr>
        <p:spPr>
          <a:xfrm>
            <a:off x="7772400" y="5120640"/>
            <a:ext cx="3840480" cy="274320"/>
          </a:xfrm>
          <a:prstGeom prst="rect">
            <a:avLst/>
          </a:prstGeom>
          <a:noFill/>
          <a:ln/>
        </p:spPr>
        <p:txBody>
          <a:bodyPr wrap="square" lIns="0" tIns="0" rIns="0" bIns="0" rtlCol="0" anchor="t"/>
          <a:lstStyle/>
          <a:p>
            <a:pPr algn="l" indent="0" marL="0">
              <a:lnSpc>
                <a:spcPct val="108000"/>
              </a:lnSpc>
              <a:buNone/>
            </a:pPr>
            <a:r>
              <a:rPr lang="en-US" sz="1050" dirty="0">
                <a:solidFill>
                  <a:srgbClr val="8A949D"/>
                </a:solidFill>
                <a:latin typeface="Calibri" pitchFamily="34" charset="0"/>
                <a:ea typeface="Calibri" pitchFamily="34" charset="-122"/>
                <a:cs typeface="Calibri" pitchFamily="34" charset="-120"/>
              </a:rPr>
              <a:t>Title Reviewer: Engr. Clark Kevin V. Villamor</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Arcenas Development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HRIS Proposal Hearing</dc:title>
  <dc:subject>PptxGenJS Presentation</dc:subject>
  <dc:creator>Arcenas HRIS Capstone Team</dc:creator>
  <cp:lastModifiedBy>Arcenas HRIS Capstone Team</cp:lastModifiedBy>
  <cp:revision>1</cp:revision>
  <dcterms:created xsi:type="dcterms:W3CDTF">2026-09-13T04:43:13Z</dcterms:created>
  <dcterms:modified xsi:type="dcterms:W3CDTF">2026-09-13T04:43:13Z</dcterms:modified>
</cp:coreProperties>
</file>